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b091b29-6689-9e38-408b-8e602a5720e9}">
          <p14:sldIdLst>
            <p14:sldId id="256"/>
            <p14:sldId id="257"/>
          </p14:sldIdLst>
        </p14:section>
        <p14:section name="The hackathon" id="{f23b3de2-c864-fc16-f2ab-73ba7c01aeb6}">
          <p14:sldIdLst>
            <p14:sldId id="258"/>
            <p14:sldId id="259"/>
            <p14:sldId id="260"/>
          </p14:sldIdLst>
        </p14:section>
        <p14:section name="The prompt" id="{5332667c-c898-389e-b9f8-86a06597b723}">
          <p14:sldIdLst>
            <p14:sldId id="261"/>
            <p14:sldId id="262"/>
            <p14:sldId id="263"/>
            <p14:sldId id="264"/>
            <p14:sldId id="265"/>
          </p14:sldIdLst>
        </p14:section>
        <p14:section name="How the method was decided" id="{d807b1f4-1061-b8b7-5eb7-23f1e6978ff7}">
          <p14:sldIdLst>
            <p14:sldId id="266"/>
            <p14:sldId id="267"/>
            <p14:sldId id="268"/>
            <p14:sldId id="269"/>
            <p14:sldId id="270"/>
            <p14:sldId id="271"/>
          </p14:sldIdLst>
        </p14:section>
        <p14:section name="The method, step by step" id="{bc58a972-5817-8aed-41c7-be4e97088f7a}">
          <p14:sldIdLst>
            <p14:sldId id="272"/>
            <p14:sldId id="273"/>
            <p14:sldId id="274"/>
            <p14:sldId id="275"/>
            <p14:sldId id="276"/>
            <p14:sldId id="277"/>
            <p14:sldId id="278"/>
            <p14:sldId id="279"/>
            <p14:sldId id="280"/>
            <p14:sldId id="281"/>
          </p14:sldIdLst>
        </p14:section>
        <p14:section name="The hypotheses, one by one" id="{9c2c06c6-aa5e-97bf-02c6-8a804148a3ed}">
          <p14:sldIdLst>
            <p14:sldId id="282"/>
            <p14:sldId id="283"/>
            <p14:sldId id="284"/>
            <p14:sldId id="285"/>
            <p14:sldId id="286"/>
            <p14:sldId id="287"/>
            <p14:sldId id="288"/>
            <p14:sldId id="289"/>
            <p14:sldId id="290"/>
            <p14:sldId id="291"/>
          </p14:sldIdLst>
        </p14:section>
        <p14:section name="Results and take-home messages" id="{666edb43-2b1f-83fd-c187-8c400b123294}">
          <p14:sldIdLst>
            <p14:sldId id="292"/>
            <p14:sldId id="293"/>
            <p14:sldId id="294"/>
            <p14:sldId id="295"/>
            <p14:sldId id="296"/>
          </p14:sldIdLst>
        </p14:section>
        <p14:section name="Decision making and the future" id="{96c70265-1377-8554-0e15-96ef72deaac8}">
          <p14:sldIdLst>
            <p14:sldId id="297"/>
            <p14:sldId id="298"/>
            <p14:sldId id="299"/>
            <p14:sldId id="300"/>
            <p14:sldId id="301"/>
            <p14:sldId id="30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B3C49"/>
                </a:solidFill>
                <a:latin typeface="+mj-lt"/>
              </a:defRPr>
            </a:pPr>
            <a:r>
              <a:rPr sz="1600" b="0" i="0" u="none" strike="noStrike">
                <a:solidFill>
                  <a:srgbClr val="0B3C49"/>
                </a:solidFill>
                <a:latin typeface="+mj-lt"/>
              </a:rPr>
              <a:t>Same orthologs, three alignments</a:t>
            </a:r>
          </a:p>
        </c:rich>
      </c:tx>
      <c:layout/>
      <c:overlay val="0"/>
    </c:title>
    <c:autoTitleDeleted val="0"/>
    <c:plotArea>
      <c:layout/>
      <c:barChart>
        <c:barDir val="col"/>
        <c:grouping val="clustered"/>
        <c:varyColors val="0"/>
        <c:ser>
          <c:idx val="0"/>
          <c:order val="0"/>
          <c:tx>
            <c:strRef>
              <c:f>Sheet1!$B$1</c:f>
              <c:strCache>
                <c:ptCount val="1"/>
                <c:pt idx="0">
                  <c:v>median core AA p-distance, human–mouse orthologs</c:v>
                </c:pt>
              </c:strCache>
            </c:strRef>
          </c:tx>
          <c:spPr>
            <a:solidFill>
              <a:srgbClr val="E76F51"/>
            </a:solidFill>
            <a:effectLst/>
          </c:spPr>
          <c:invertIfNegative val="0"/>
          <c:dLbls>
            <c:numFmt formatCode="0.000" sourceLinked="0"/>
            <c:txPr>
              <a:bodyPr/>
              <a:lstStyle/>
              <a:p>
                <a:pPr>
                  <a:defRPr b="0" i="0" strike="noStrike" sz="1400" u="none">
                    <a:solidFill>
                      <a:srgbClr val="1B262C"/>
                    </a:solidFill>
                    <a:latin typeface="+mn-lt"/>
                  </a:defRPr>
                </a:pPr>
              </a:p>
            </c:txPr>
            <c:showLegendKey val="0"/>
            <c:showVal val="1"/>
            <c:showCatName val="0"/>
            <c:showSerName val="0"/>
            <c:showPercent val="0"/>
            <c:showBubbleSize val="0"/>
            <c:showLeaderLines val="0"/>
          </c:dLbls>
          <c:dPt>
            <c:idx val="0"/>
            <c:invertIfNegative val="0"/>
            <c:bubble3D val="0"/>
            <c:spPr>
              <a:solidFill>
                <a:srgbClr val="E76F51"/>
              </a:solidFill>
              <a:effectLst/>
            </c:spPr>
          </c:dPt>
          <c:dPt>
            <c:idx val="1"/>
            <c:invertIfNegative val="0"/>
            <c:bubble3D val="0"/>
            <c:spPr>
              <a:solidFill>
                <a:srgbClr val="1B998B"/>
              </a:solidFill>
              <a:effectLst/>
            </c:spPr>
          </c:dPt>
          <c:dPt>
            <c:idx val="2"/>
            <c:invertIfNegative val="0"/>
            <c:bubble3D val="0"/>
            <c:spPr>
              <a:solidFill>
                <a:srgbClr val="1B998B"/>
              </a:solidFill>
              <a:effectLst/>
            </c:spPr>
          </c:dPt>
          <c:cat>
            <c:multiLvlStrRef>
              <c:f>Sheet1!$A$2:$A$4</c:f>
              <c:multiLvlStrCache>
                <c:ptCount val="3"/>
                <c:lvl>
                  <c:pt idx="0">
                    <c:v>TM-align</c:v>
                  </c:pt>
                  <c:pt idx="1">
                    <c:v>Sequence-only</c:v>
                  </c:pt>
                  <c:pt idx="2">
                    <c:v>3Di+AA</c:v>
                  </c:pt>
                </c:lvl>
              </c:multiLvlStrCache>
            </c:multiLvlStrRef>
          </c:cat>
          <c:val>
            <c:numRef>
              <c:f>Sheet1!$B$2:$B$4</c:f>
              <c:numCache>
                <c:formatCode>General</c:formatCode>
                <c:ptCount val="3"/>
                <c:pt idx="0">
                  <c:v>0.091</c:v>
                </c:pt>
                <c:pt idx="1">
                  <c:v>0.064</c:v>
                </c:pt>
                <c:pt idx="2">
                  <c:v>0.064</c:v>
                </c:pt>
              </c:numCache>
            </c:numRef>
          </c:val>
        </c:ser>
        <c:dLbls>
          <c:numFmt formatCode="0.000" sourceLinked="0"/>
          <c:txPr>
            <a:bodyPr/>
            <a:lstStyle/>
            <a:p>
              <a:pPr>
                <a:defRPr b="0" i="0" strike="noStrike" sz="1400" u="none">
                  <a:solidFill>
                    <a:srgbClr val="1B262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B262C"/>
                </a:solidFill>
                <a:latin typeface="+mn-lt"/>
              </a:defRPr>
            </a:pPr>
            <a:endParaRPr lang="en-US"/>
          </a:p>
        </c:txPr>
        <c:crossAx val="2094734552"/>
        <c:crosses val="autoZero"/>
        <c:auto val="1"/>
        <c:lblAlgn val="ctr"/>
        <c:noMultiLvlLbl val="1"/>
      </c:catAx>
      <c:valAx>
        <c:axId val="2094734552"/>
        <c:scaling>
          <c:orientation val="minMax"/>
          <c:max val="0.1"/>
          <c:min val="0"/>
        </c:scaling>
        <c:delete val="0"/>
        <c:axPos val="l"/>
        <c:majorGridlines>
          <c:spPr>
            <a:ln w="6350"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D99A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Fill in presenter and date. The project was run end-to-end by Claude Opus 5.5 acting as PI, delegating to Opus/Sonnet subagents.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Human-written disclosure required by the hackathon. Keep on screen briefly.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hackathon README: run by the Beltrao (ETH Zurich), Ryan (UCD), Goncalves (IST) and Dessimoz (UNIL) labs. Claude ran each project with minimal human intervention; humans verify afterwards. Blanks: dates, participants, compute details beyond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attached project-flow diagram. Phase 1 built tools (blue); Phase 2 built models and datasets (green); Phase 3 discovery (orange). This project is a Phase 2 discovery project on structural evolution; it consumed the Phase-1 orthology tool Ancestra and public AFDB-cluster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generic instructions shared by all hackathon projects. Right: what is specific to this project. The project ideas in the prompt were explicitly 'human priors, not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1 is the confirmatory core (pre-registered endpoints E1–E5). Goal 2 is open-ended; the duplication test E6 doubles as a positive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 1 (10.9 h): scouting, design, panel, Ancestra, pair metrics, tuning part 1. Node 2 (~12 h): tuning part 2, dry run, single confirmation run, verification, post-hoc review, report. Total compute ~23 h of the 48 h 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Roughly 40 subagent tasks across scouting, building, reviewing, verifying, analysing and writing. The PI read written summaries only, keeping its own context 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was written only after four scouting reports. Each changed the design: time had never been the axis; in-cluster pairs are biased; TimeTree is eukaryote-centric; Ancestra orthologs are reliable but duplication timing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1: external PI, molecular evolution, statistics, algorithms/compute, AI failure modes. Round 2: external PI, statistics, molecular evolution. Round 3: consistency check that produced the executable ANALYSIS_PLAN.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full pipeline on a 20-species test set, before any endpoint, showed that TM-align (the planned primary alignment) mis-aligns residues of close relatives and gives non-zero distance to identical sequences. Decision D22: switch to Foldseek 3Di+AA alignment; keep TM-align as sensitivity.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confirmation script refuses to run unless plan, tuning file and family split match their checksums in the results ledger, the git tree is clean and an explicit flag is set. Every change to the plan is logged with reason and effect (34 entries).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links to DEVIATIONS.md / RESEARCH_TREE.md.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Species panel → AlphaFold structures → orthology (Ancestra) → family sampling and split → three alignments per pair → amino-acid, 3Di and 3D distances → noise floors → two estimation engines → six pre-registered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selected for AlphaFold v4 coverage (≥80% identical sequences), BUSCO completeness, TimeTree dating, and an even spread of split ages; 100 prokaryotes for case studies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Orthologs: separated by speciation (same gene in two species). Paralogs: separated by duplication. A HOG gathers all descendants of one ancestral gene. Only orthologs have a split time we can read from the species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Foldseek turns each residue's local 3D contact geometry into one of 20 letters (3Di). Proteins become two strings of equal alphabet size, so structure and sequence change can be counted with the same machinery.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percent difference saturates because sites change more than once. A maximum-likelihood (ML) distance with a substitution model (LG for amino acids, Q.3Di.AF for 3Di) estimates substitutions per site; beyond ~2 it becomes unreliable, so families were restricted to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TM-score: global fold match. LDDT: fraction of local inter-residue distances preserved. 3Di distance: substitutions in the structural alphabet. All are measured only over confidently predicted residues.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Pairwise engine: fit structure distance = floor + a·(sequence distance)^c; c = 1 means proportional, c &lt; 1 saturating. Branch engine: place each family's distances on the dated species tree, giving an AA length and a 3Di length for every branch; ratios of sums give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Clock: change accumulates in proportion to time. Neutral structural null (N0): structure changes only as a passive by-product of sequence change, one constant ratio per family across lineages and ages. A good fit would show 'proportional', not prove 'neutral'.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Commonalities: all relate structural to sequence divergence. Differences: this project selects pairs by orthology only, uses a real time axis, matched 20-state alphabets, and pre-registration at AFDB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E1/E2. The pre-registered estimator assumed a fixed noise floor. A per-protein offset (~0.01–0.017) biases it toward concavity (synthetic truth c=1 → 0.75–0.78).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E3. The plain-language reading: for every 4–5 amino-acid substitutions per site, about one residue's local 3D-contact letter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E4. The slope tracks the size of the tip correction almost linearly and vanishes near 0.036; internal branches give −0.047, 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E5. Margins were not widened after seeing the low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X4. Bias is a roughly constant offset, not growing with divergence. A model vs its own crystal structure differs more (0.24) than two ortholog models (0.17).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X7 / P-clu. The plateau tracks representative pLDDT and length rather than evolutionary saturation.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E6. Direction of the published result replicates; biological size uncertain.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X5. Length ratio dominates (log-odds 4.06 per SD); domain architecture adds nothing once length is in. Cluster ages agree exactly with orthology ages in only 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X6 / X8. Tyrosine-kinase origin shows a weak, consistent excess (88–91st percentile); not a burst.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Pre-registered decisions are reported unchanged. Post-hoc readings were checked by an independent agent that tried to refute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AlphaFold model carries a small protein-specific structural offset (~0.01–0.017 3Di substitutions per site, larger at low confidence). Pre-registered floors from identical sequences missed it. It sits on terminal branches: young branches look structurally 'fast', which bends curves and creates an age trend.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 confirmed prior claims. Amber: refined. Coral: new observations from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to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Amber callouts mark where a step changed the plan: pilot (D22), synthetic tests (D31/D32), dry run (missing sensitivities), and the post-hoc refutation (per-model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milestone retrospectives and LESSONS.md.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distilled from this project's LESSONS.md.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two-sided message: the AI-led process was fast, transparent and self-correcting, but its conclusions still need human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these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C4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749040"/>
            <a:ext cx="10698480" cy="146304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B3C4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103120" y="2468880"/>
            <a:ext cx="932688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2103120" y="3657600"/>
            <a:ext cx="932688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457200" y="6446520"/>
            <a:ext cx="5486400" cy="274320"/>
          </a:xfrm>
          <a:prstGeom prst="rect">
            <a:avLst/>
          </a:prstGeom>
          <a:noFill/>
          <a:ln/>
        </p:spPr>
        <p:txBody>
          <a:bodyPr wrap="square" rtlCol="0" anchor="ctr"/>
          <a:lstStyle/>
          <a:p>
            <a:pPr indent="0" marL="0">
              <a:buNone/>
            </a:pPr>
            <a:r>
              <a:rPr lang="en-US" sz="1000" dirty="0">
                <a:solidFill>
                  <a:schemeClr val="accent4"/>
                </a:solidFill>
              </a:rPr>
              <a:t>AI hackathon · Phase 2 · structural divergence</a:t>
            </a:r>
            <a:endParaRPr lang="en-US" sz="10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4.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nchor="b"/>
          <a:lstStyle/>
          <a:p>
            <a:pPr algn="l" indent="0" marL="0">
              <a:buNone/>
            </a:pPr>
            <a:r>
              <a:rPr lang="en-US" sz="4400" b="1" dirty="0">
                <a:solidFill>
                  <a:schemeClr val="bg1"/>
                </a:solidFill>
              </a:rPr>
              <a:t>Is protein structure a molecular clock?</a:t>
            </a:r>
            <a:endParaRPr lang="en-US" sz="4400" dirty="0"/>
          </a:p>
        </p:txBody>
      </p:sp>
      <p:sp>
        <p:nvSpPr>
          <p:cNvPr id="3" name="Text 0"/>
          <p:cNvSpPr/>
          <p:nvPr>
            <p:ph idx="101" type="body" hasCustomPrompt="1"/>
          </p:nvPr>
        </p:nvSpPr>
        <p:spPr>
          <a:xfrm>
            <a:off x="731520" y="3749040"/>
            <a:ext cx="10698480" cy="1463040"/>
          </a:xfrm>
          <a:prstGeom prst="rect">
            <a:avLst/>
          </a:prstGeom>
          <a:noFill/>
          <a:ln/>
        </p:spPr>
        <p:txBody>
          <a:bodyPr wrap="square" rtlCol="0" anchor="t"/>
          <a:lstStyle/>
          <a:p>
            <a:pPr indent="0" marL="0">
              <a:buNone/>
            </a:pPr>
            <a:r>
              <a:rPr lang="en-US" sz="2000" dirty="0">
                <a:solidFill>
                  <a:schemeClr val="bg2"/>
                </a:solidFill>
              </a:rPr>
              <a:t>Revisiting structural divergence with AlphaFold, orthology and divergence times</a:t>
            </a:r>
            <a:endParaRPr lang="en-US" sz="2000" dirty="0"/>
          </a:p>
          <a:p>
            <a:pPr indent="0" marL="0">
              <a:buNone/>
            </a:pPr>
            <a:r>
              <a:rPr lang="en-US" sz="1600" dirty="0">
                <a:solidFill>
                  <a:schemeClr val="accent2"/>
                </a:solidFill>
              </a:rPr>
              <a:t>An AI-led Phase 2 project of the Beltrao-lab agentic AI hackathon · [presenter] · [date]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Disclosure: every result here was produced by AI</a:t>
            </a:r>
            <a:endParaRPr lang="en-US" sz="3200" dirty="0"/>
          </a:p>
        </p:txBody>
      </p:sp>
      <p:sp>
        <p:nvSpPr>
          <p:cNvPr id="4" name="Shape 1"/>
          <p:cNvSpPr/>
          <p:nvPr/>
        </p:nvSpPr>
        <p:spPr>
          <a:xfrm>
            <a:off x="822960" y="1463040"/>
            <a:ext cx="10515600" cy="2651760"/>
          </a:xfrm>
          <a:prstGeom prst="roundRect">
            <a:avLst>
              <a:gd name="adj" fmla="val 5172"/>
            </a:avLst>
          </a:prstGeom>
          <a:solidFill>
            <a:schemeClr val="bg2"/>
          </a:solidFill>
          <a:ln w="12700">
            <a:solidFill>
              <a:schemeClr val="bg2"/>
            </a:solidFill>
            <a:prstDash val="solid"/>
          </a:ln>
        </p:spPr>
      </p:sp>
      <p:sp>
        <p:nvSpPr>
          <p:cNvPr id="5" name="Shape 2"/>
          <p:cNvSpPr/>
          <p:nvPr/>
        </p:nvSpPr>
        <p:spPr>
          <a:xfrm>
            <a:off x="1188720" y="1828800"/>
            <a:ext cx="731520" cy="731520"/>
          </a:xfrm>
          <a:prstGeom prst="ellipse">
            <a:avLst/>
          </a:prstGeom>
          <a:solidFill>
            <a:schemeClr val="accent3"/>
          </a:solidFill>
          <a:ln w="12700">
            <a:solidFill>
              <a:schemeClr val="accent3"/>
            </a:solidFill>
            <a:prstDash val="solid"/>
          </a:ln>
        </p:spPr>
      </p:sp>
      <p:sp>
        <p:nvSpPr>
          <p:cNvPr id="6" name="Text 3"/>
          <p:cNvSpPr txBox="1"/>
          <p:nvPr/>
        </p:nvSpPr>
        <p:spPr>
          <a:xfrm>
            <a:off x="1188720" y="1828800"/>
            <a:ext cx="731520" cy="73152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7" name="Text 4"/>
          <p:cNvSpPr txBox="1"/>
          <p:nvPr/>
        </p:nvSpPr>
        <p:spPr>
          <a:xfrm>
            <a:off x="2194560" y="1737360"/>
            <a:ext cx="8778240" cy="2743200"/>
          </a:xfrm>
          <a:prstGeom prst="rect">
            <a:avLst/>
          </a:prstGeom>
          <a:noFill/>
          <a:ln/>
        </p:spPr>
        <p:txBody>
          <a:bodyPr wrap="square" rtlCol="0" anchor="t"/>
          <a:lstStyle/>
          <a:p>
            <a:pPr indent="0" marL="0">
              <a:spcAft>
                <a:spcPts val="1000"/>
              </a:spcAft>
              <a:buNone/>
            </a:pPr>
            <a:r>
              <a:rPr lang="en-US" sz="1800" dirty="0">
                <a:solidFill>
                  <a:schemeClr val="tx1"/>
                </a:solidFill>
              </a:rPr>
              <a:t>Exercise in assessing the bioinformatics capabilities of agentic AI (Beltrao-lab hackathon, github.com/evocellnet/ai-hackathon).</a:t>
            </a:r>
            <a:endParaRPr lang="en-US" sz="1800" dirty="0"/>
          </a:p>
          <a:p>
            <a:pPr indent="0" marL="0">
              <a:spcAft>
                <a:spcPts val="1000"/>
              </a:spcAft>
              <a:buNone/>
            </a:pPr>
            <a:r>
              <a:rPr lang="en-US" sz="1800" dirty="0">
                <a:solidFill>
                  <a:schemeClr val="tx1"/>
                </a:solidFill>
              </a:rPr>
              <a:t>Executed by Claude Opus 5.5 with Opus/Sonnet 5.5 subagents, within a 48 h compute cap (48 CPUs, 500 GB RAM, 1 A100).</a:t>
            </a:r>
            <a:endParaRPr lang="en-US" sz="1800" dirty="0"/>
          </a:p>
          <a:p>
            <a:pPr indent="0" marL="0">
              <a:spcAft>
                <a:spcPts val="1000"/>
              </a:spcAft>
              <a:buNone/>
            </a:pPr>
            <a:r>
              <a:rPr lang="en-US" sz="1800" b="1" dirty="0">
                <a:solidFill>
                  <a:schemeClr val="tx1"/>
                </a:solidFill>
              </a:rPr>
              <a:t>Results have not yet been verified by a human. This is not a traditional publication.</a:t>
            </a:r>
            <a:endParaRPr lang="en-US" sz="1800" dirty="0"/>
          </a:p>
        </p:txBody>
      </p:sp>
      <p:sp>
        <p:nvSpPr>
          <p:cNvPr id="8" name="Text 5"/>
          <p:cNvSpPr txBox="1"/>
          <p:nvPr/>
        </p:nvSpPr>
        <p:spPr>
          <a:xfrm>
            <a:off x="822960" y="4389120"/>
            <a:ext cx="10515600" cy="457200"/>
          </a:xfrm>
          <a:prstGeom prst="rect">
            <a:avLst/>
          </a:prstGeom>
          <a:noFill/>
          <a:ln/>
        </p:spPr>
        <p:txBody>
          <a:bodyPr wrap="square" rtlCol="0" anchor="ctr"/>
          <a:lstStyle/>
          <a:p>
            <a:pPr indent="0" marL="0">
              <a:buNone/>
            </a:pPr>
            <a:r>
              <a:rPr lang="en-US" sz="1400" dirty="0">
                <a:solidFill>
                  <a:schemeClr val="accent4"/>
                </a:solidFill>
              </a:rPr>
              <a:t>Repository: [link to project repository]  ·  Report: technical report/report.md</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822960" y="2514600"/>
            <a:ext cx="1051560" cy="1051560"/>
          </a:xfrm>
          <a:prstGeom prst="ellipse">
            <a:avLst/>
          </a:prstGeom>
          <a:solidFill>
            <a:schemeClr val="accent2"/>
          </a:solidFill>
          <a:ln w="12700">
            <a:solidFill>
              <a:schemeClr val="accent2"/>
            </a:solidFill>
            <a:prstDash val="solid"/>
          </a:ln>
        </p:spPr>
      </p:sp>
      <p:sp>
        <p:nvSpPr>
          <p:cNvPr id="3" name="Text 1"/>
          <p:cNvSpPr txBox="1"/>
          <p:nvPr/>
        </p:nvSpPr>
        <p:spPr>
          <a:xfrm>
            <a:off x="822960" y="2514600"/>
            <a:ext cx="1051560" cy="1051560"/>
          </a:xfrm>
          <a:prstGeom prst="rect">
            <a:avLst/>
          </a:prstGeom>
          <a:noFill/>
          <a:ln/>
        </p:spPr>
        <p:txBody>
          <a:bodyPr wrap="square" rtlCol="0" anchor="ctr"/>
          <a:lstStyle/>
          <a:p>
            <a:pPr algn="ctr" indent="0" marL="0">
              <a:buNone/>
            </a:pPr>
            <a:r>
              <a:rPr lang="en-US" sz="3600" b="1" dirty="0">
                <a:solidFill>
                  <a:schemeClr val="tx2"/>
                </a:solidFill>
                <a:latin typeface="Cambria" pitchFamily="34" charset="0"/>
                <a:ea typeface="Cambria" pitchFamily="34" charset="-122"/>
                <a:cs typeface="Cambria" pitchFamily="34" charset="-120"/>
              </a:rPr>
              <a:t>1</a:t>
            </a:r>
            <a:endParaRPr lang="en-US" sz="3600" dirty="0"/>
          </a:p>
        </p:txBody>
      </p:sp>
      <p:sp>
        <p:nvSpPr>
          <p:cNvPr id="4" name="Text 0"/>
          <p:cNvSpPr/>
          <p:nvPr>
            <p:ph idx="100" type="title" hasCustomPrompt="1"/>
          </p:nvPr>
        </p:nvSpPr>
        <p:spPr>
          <a:xfrm>
            <a:off x="2103120" y="2468880"/>
            <a:ext cx="9326880" cy="1188720"/>
          </a:xfrm>
          <a:prstGeom prst="rect">
            <a:avLst/>
          </a:prstGeom>
          <a:noFill/>
          <a:ln/>
        </p:spPr>
        <p:txBody>
          <a:bodyPr wrap="square" rtlCol="0" anchor="ctr"/>
          <a:lstStyle/>
          <a:p>
            <a:pPr algn="l" indent="0" marL="0">
              <a:buNone/>
            </a:pPr>
            <a:r>
              <a:rPr lang="en-US" sz="4000" b="1" dirty="0">
                <a:solidFill>
                  <a:schemeClr val="bg1"/>
                </a:solidFill>
              </a:rPr>
              <a:t>The hackathon</a:t>
            </a:r>
            <a:endParaRPr lang="en-US" sz="4000" dirty="0"/>
          </a:p>
        </p:txBody>
      </p:sp>
      <p:sp>
        <p:nvSpPr>
          <p:cNvPr id="5" name="Text 0"/>
          <p:cNvSpPr/>
          <p:nvPr>
            <p:ph idx="101" type="body" hasCustomPrompt="1"/>
          </p:nvPr>
        </p:nvSpPr>
        <p:spPr>
          <a:xfrm>
            <a:off x="2103120" y="3657600"/>
            <a:ext cx="9326880" cy="1097280"/>
          </a:xfrm>
          <a:prstGeom prst="rect">
            <a:avLst/>
          </a:prstGeom>
          <a:noFill/>
          <a:ln/>
        </p:spPr>
        <p:txBody>
          <a:bodyPr wrap="square" rtlCol="0" anchor="t"/>
          <a:lstStyle/>
          <a:p>
            <a:pPr indent="0" marL="0">
              <a:buNone/>
            </a:pPr>
            <a:r>
              <a:rPr lang="en-US" sz="1800" dirty="0">
                <a:solidFill>
                  <a:schemeClr val="bg2"/>
                </a:solidFill>
              </a:rPr>
              <a:t>Can an AI agent run a bioinformatics project from prompt to paper?</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A week-long test of agentic AI in bioinformatics</a:t>
            </a:r>
            <a:endParaRPr lang="en-US" sz="3200" dirty="0"/>
          </a:p>
        </p:txBody>
      </p:sp>
      <p:sp>
        <p:nvSpPr>
          <p:cNvPr id="4" name="Shape 1"/>
          <p:cNvSpPr/>
          <p:nvPr/>
        </p:nvSpPr>
        <p:spPr>
          <a:xfrm>
            <a:off x="548640" y="1325880"/>
            <a:ext cx="4206240" cy="1005840"/>
          </a:xfrm>
          <a:prstGeom prst="roundRect">
            <a:avLst>
              <a:gd name="adj" fmla="val 10909"/>
            </a:avLst>
          </a:prstGeom>
          <a:solidFill>
            <a:schemeClr val="bg2"/>
          </a:solidFill>
          <a:ln w="12700">
            <a:solidFill>
              <a:schemeClr val="bg2"/>
            </a:solidFill>
            <a:prstDash val="solid"/>
          </a:ln>
        </p:spPr>
      </p:sp>
      <p:sp>
        <p:nvSpPr>
          <p:cNvPr id="5" name="Text 2"/>
          <p:cNvSpPr txBox="1"/>
          <p:nvPr/>
        </p:nvSpPr>
        <p:spPr>
          <a:xfrm>
            <a:off x="731520" y="1435608"/>
            <a:ext cx="3840480" cy="411480"/>
          </a:xfrm>
          <a:prstGeom prst="rect">
            <a:avLst/>
          </a:prstGeom>
          <a:noFill/>
          <a:ln/>
        </p:spPr>
        <p:txBody>
          <a:bodyPr wrap="square" lIns="0" tIns="0" rIns="0" bIns="0" rtlCol="0" anchor="t"/>
          <a:lstStyle/>
          <a:p>
            <a:pPr indent="0" marL="0">
              <a:buNone/>
            </a:pPr>
            <a:r>
              <a:rPr lang="en-US" sz="1800" b="1" dirty="0">
                <a:solidFill>
                  <a:schemeClr val="tx2"/>
                </a:solidFill>
              </a:rPr>
              <a:t>Beltrao lab</a:t>
            </a:r>
            <a:endParaRPr lang="en-US" sz="1800" dirty="0"/>
          </a:p>
        </p:txBody>
      </p:sp>
      <p:sp>
        <p:nvSpPr>
          <p:cNvPr id="6" name="Text 3"/>
          <p:cNvSpPr txBox="1"/>
          <p:nvPr/>
        </p:nvSpPr>
        <p:spPr>
          <a:xfrm>
            <a:off x="731520" y="1892808"/>
            <a:ext cx="3840480" cy="3200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ETH Zürich</a:t>
            </a:r>
            <a:endParaRPr lang="en-US" sz="1400" dirty="0"/>
          </a:p>
        </p:txBody>
      </p:sp>
      <p:sp>
        <p:nvSpPr>
          <p:cNvPr id="7" name="Shape 4"/>
          <p:cNvSpPr/>
          <p:nvPr/>
        </p:nvSpPr>
        <p:spPr>
          <a:xfrm>
            <a:off x="548640" y="2514600"/>
            <a:ext cx="4206240" cy="1005840"/>
          </a:xfrm>
          <a:prstGeom prst="roundRect">
            <a:avLst>
              <a:gd name="adj" fmla="val 10909"/>
            </a:avLst>
          </a:prstGeom>
          <a:solidFill>
            <a:schemeClr val="bg2"/>
          </a:solidFill>
          <a:ln w="12700">
            <a:solidFill>
              <a:schemeClr val="bg2"/>
            </a:solidFill>
            <a:prstDash val="solid"/>
          </a:ln>
        </p:spPr>
      </p:sp>
      <p:sp>
        <p:nvSpPr>
          <p:cNvPr id="8" name="Text 5"/>
          <p:cNvSpPr txBox="1"/>
          <p:nvPr/>
        </p:nvSpPr>
        <p:spPr>
          <a:xfrm>
            <a:off x="731520" y="2624328"/>
            <a:ext cx="3840480" cy="411480"/>
          </a:xfrm>
          <a:prstGeom prst="rect">
            <a:avLst/>
          </a:prstGeom>
          <a:noFill/>
          <a:ln/>
        </p:spPr>
        <p:txBody>
          <a:bodyPr wrap="square" lIns="0" tIns="0" rIns="0" bIns="0" rtlCol="0" anchor="t"/>
          <a:lstStyle/>
          <a:p>
            <a:pPr indent="0" marL="0">
              <a:buNone/>
            </a:pPr>
            <a:r>
              <a:rPr lang="en-US" sz="1800" b="1" dirty="0">
                <a:solidFill>
                  <a:schemeClr val="tx2"/>
                </a:solidFill>
              </a:rPr>
              <a:t>Colm Ryan lab</a:t>
            </a:r>
            <a:endParaRPr lang="en-US" sz="1800" dirty="0"/>
          </a:p>
        </p:txBody>
      </p:sp>
      <p:sp>
        <p:nvSpPr>
          <p:cNvPr id="9" name="Text 6"/>
          <p:cNvSpPr txBox="1"/>
          <p:nvPr/>
        </p:nvSpPr>
        <p:spPr>
          <a:xfrm>
            <a:off x="731520" y="3081528"/>
            <a:ext cx="3840480" cy="3200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UCD</a:t>
            </a:r>
            <a:endParaRPr lang="en-US" sz="1400" dirty="0"/>
          </a:p>
        </p:txBody>
      </p:sp>
      <p:sp>
        <p:nvSpPr>
          <p:cNvPr id="10" name="Shape 7"/>
          <p:cNvSpPr/>
          <p:nvPr/>
        </p:nvSpPr>
        <p:spPr>
          <a:xfrm>
            <a:off x="548640" y="3703320"/>
            <a:ext cx="4206240" cy="1005840"/>
          </a:xfrm>
          <a:prstGeom prst="roundRect">
            <a:avLst>
              <a:gd name="adj" fmla="val 10909"/>
            </a:avLst>
          </a:prstGeom>
          <a:solidFill>
            <a:schemeClr val="bg2"/>
          </a:solidFill>
          <a:ln w="12700">
            <a:solidFill>
              <a:schemeClr val="bg2"/>
            </a:solidFill>
            <a:prstDash val="solid"/>
          </a:ln>
        </p:spPr>
      </p:sp>
      <p:sp>
        <p:nvSpPr>
          <p:cNvPr id="11" name="Text 8"/>
          <p:cNvSpPr txBox="1"/>
          <p:nvPr/>
        </p:nvSpPr>
        <p:spPr>
          <a:xfrm>
            <a:off x="731520" y="3813048"/>
            <a:ext cx="3840480" cy="411480"/>
          </a:xfrm>
          <a:prstGeom prst="rect">
            <a:avLst/>
          </a:prstGeom>
          <a:noFill/>
          <a:ln/>
        </p:spPr>
        <p:txBody>
          <a:bodyPr wrap="square" lIns="0" tIns="0" rIns="0" bIns="0" rtlCol="0" anchor="t"/>
          <a:lstStyle/>
          <a:p>
            <a:pPr indent="0" marL="0">
              <a:buNone/>
            </a:pPr>
            <a:r>
              <a:rPr lang="en-US" sz="1800" b="1" dirty="0">
                <a:solidFill>
                  <a:schemeClr val="tx2"/>
                </a:solidFill>
              </a:rPr>
              <a:t>Emanuel Gonçalves lab</a:t>
            </a:r>
            <a:endParaRPr lang="en-US" sz="1800" dirty="0"/>
          </a:p>
        </p:txBody>
      </p:sp>
      <p:sp>
        <p:nvSpPr>
          <p:cNvPr id="12" name="Text 9"/>
          <p:cNvSpPr txBox="1"/>
          <p:nvPr/>
        </p:nvSpPr>
        <p:spPr>
          <a:xfrm>
            <a:off x="731520" y="4270248"/>
            <a:ext cx="3840480" cy="3200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IST</a:t>
            </a:r>
            <a:endParaRPr lang="en-US" sz="1400" dirty="0"/>
          </a:p>
        </p:txBody>
      </p:sp>
      <p:sp>
        <p:nvSpPr>
          <p:cNvPr id="13" name="Shape 10"/>
          <p:cNvSpPr/>
          <p:nvPr/>
        </p:nvSpPr>
        <p:spPr>
          <a:xfrm>
            <a:off x="548640" y="4892040"/>
            <a:ext cx="4206240" cy="1005840"/>
          </a:xfrm>
          <a:prstGeom prst="roundRect">
            <a:avLst>
              <a:gd name="adj" fmla="val 10909"/>
            </a:avLst>
          </a:prstGeom>
          <a:solidFill>
            <a:schemeClr val="bg2"/>
          </a:solidFill>
          <a:ln w="12700">
            <a:solidFill>
              <a:schemeClr val="bg2"/>
            </a:solidFill>
            <a:prstDash val="solid"/>
          </a:ln>
        </p:spPr>
      </p:sp>
      <p:sp>
        <p:nvSpPr>
          <p:cNvPr id="14" name="Text 11"/>
          <p:cNvSpPr txBox="1"/>
          <p:nvPr/>
        </p:nvSpPr>
        <p:spPr>
          <a:xfrm>
            <a:off x="731520" y="5001768"/>
            <a:ext cx="3840480" cy="411480"/>
          </a:xfrm>
          <a:prstGeom prst="rect">
            <a:avLst/>
          </a:prstGeom>
          <a:noFill/>
          <a:ln/>
        </p:spPr>
        <p:txBody>
          <a:bodyPr wrap="square" lIns="0" tIns="0" rIns="0" bIns="0" rtlCol="0" anchor="t"/>
          <a:lstStyle/>
          <a:p>
            <a:pPr indent="0" marL="0">
              <a:buNone/>
            </a:pPr>
            <a:r>
              <a:rPr lang="en-US" sz="1800" b="1" dirty="0">
                <a:solidFill>
                  <a:schemeClr val="tx2"/>
                </a:solidFill>
              </a:rPr>
              <a:t>Christophe Dessimoz lab</a:t>
            </a:r>
            <a:endParaRPr lang="en-US" sz="1800" dirty="0"/>
          </a:p>
        </p:txBody>
      </p:sp>
      <p:sp>
        <p:nvSpPr>
          <p:cNvPr id="15" name="Text 12"/>
          <p:cNvSpPr txBox="1"/>
          <p:nvPr/>
        </p:nvSpPr>
        <p:spPr>
          <a:xfrm>
            <a:off x="731520" y="5458968"/>
            <a:ext cx="3840480" cy="3200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UNIL</a:t>
            </a:r>
            <a:endParaRPr lang="en-US" sz="1400" dirty="0"/>
          </a:p>
        </p:txBody>
      </p:sp>
      <p:sp>
        <p:nvSpPr>
          <p:cNvPr id="16" name="Text 13"/>
          <p:cNvSpPr txBox="1"/>
          <p:nvPr/>
        </p:nvSpPr>
        <p:spPr>
          <a:xfrm>
            <a:off x="5303520" y="1371600"/>
            <a:ext cx="292608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2 phases</a:t>
            </a:r>
            <a:endParaRPr lang="en-US" sz="4400" dirty="0"/>
          </a:p>
        </p:txBody>
      </p:sp>
      <p:sp>
        <p:nvSpPr>
          <p:cNvPr id="17" name="Text 14"/>
          <p:cNvSpPr txBox="1"/>
          <p:nvPr/>
        </p:nvSpPr>
        <p:spPr>
          <a:xfrm>
            <a:off x="5303520" y="2194560"/>
            <a:ext cx="2926080" cy="640080"/>
          </a:xfrm>
          <a:prstGeom prst="rect">
            <a:avLst/>
          </a:prstGeom>
          <a:noFill/>
          <a:ln/>
        </p:spPr>
        <p:txBody>
          <a:bodyPr wrap="square" lIns="0" tIns="0" rIns="0" bIns="0" rtlCol="0" anchor="t"/>
          <a:lstStyle/>
          <a:p>
            <a:pPr indent="0" marL="0">
              <a:buNone/>
            </a:pPr>
            <a:r>
              <a:rPr lang="en-US" sz="1400" dirty="0">
                <a:solidFill>
                  <a:schemeClr val="tx1"/>
                </a:solidFill>
              </a:rPr>
              <a:t>Phase 1: 'predict X' tools</a:t>
            </a:r>
            <a:endParaRPr lang="en-US" sz="1400" dirty="0"/>
          </a:p>
          <a:p>
            <a:pPr indent="0" marL="0">
              <a:buNone/>
            </a:pPr>
            <a:r>
              <a:rPr lang="en-US" sz="1400" dirty="0">
                <a:solidFill>
                  <a:schemeClr val="tx1"/>
                </a:solidFill>
              </a:rPr>
              <a:t>Phase 2: open discovery</a:t>
            </a:r>
            <a:endParaRPr lang="en-US" sz="1400" dirty="0"/>
          </a:p>
        </p:txBody>
      </p:sp>
      <p:sp>
        <p:nvSpPr>
          <p:cNvPr id="18" name="Text 15"/>
          <p:cNvSpPr txBox="1"/>
          <p:nvPr/>
        </p:nvSpPr>
        <p:spPr>
          <a:xfrm>
            <a:off x="8503920" y="1371600"/>
            <a:ext cx="310896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15</a:t>
            </a:r>
            <a:endParaRPr lang="en-US" sz="4400" dirty="0"/>
          </a:p>
        </p:txBody>
      </p:sp>
      <p:sp>
        <p:nvSpPr>
          <p:cNvPr id="19" name="Text 16"/>
          <p:cNvSpPr txBox="1"/>
          <p:nvPr/>
        </p:nvSpPr>
        <p:spPr>
          <a:xfrm>
            <a:off x="8503920" y="2194560"/>
            <a:ext cx="3108960" cy="640080"/>
          </a:xfrm>
          <a:prstGeom prst="rect">
            <a:avLst/>
          </a:prstGeom>
          <a:noFill/>
          <a:ln/>
        </p:spPr>
        <p:txBody>
          <a:bodyPr wrap="square" lIns="0" tIns="0" rIns="0" bIns="0" rtlCol="0" anchor="t"/>
          <a:lstStyle/>
          <a:p>
            <a:pPr indent="0" marL="0">
              <a:buNone/>
            </a:pPr>
            <a:r>
              <a:rPr lang="en-US" sz="1400" dirty="0">
                <a:solidFill>
                  <a:schemeClr val="tx1"/>
                </a:solidFill>
              </a:rPr>
              <a:t>Phase-1 tools listed (pockets, docking, orthology, kinases, MS…)</a:t>
            </a:r>
            <a:endParaRPr lang="en-US" sz="1400" dirty="0"/>
          </a:p>
        </p:txBody>
      </p:sp>
      <p:sp>
        <p:nvSpPr>
          <p:cNvPr id="20" name="Text 17"/>
          <p:cNvSpPr txBox="1"/>
          <p:nvPr/>
        </p:nvSpPr>
        <p:spPr>
          <a:xfrm>
            <a:off x="5303520" y="3200400"/>
            <a:ext cx="2926080" cy="82296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Claude</a:t>
            </a:r>
            <a:endParaRPr lang="en-US" sz="4400" dirty="0"/>
          </a:p>
        </p:txBody>
      </p:sp>
      <p:sp>
        <p:nvSpPr>
          <p:cNvPr id="21" name="Text 18"/>
          <p:cNvSpPr txBox="1"/>
          <p:nvPr/>
        </p:nvSpPr>
        <p:spPr>
          <a:xfrm>
            <a:off x="5303520" y="4023360"/>
            <a:ext cx="2926080" cy="640080"/>
          </a:xfrm>
          <a:prstGeom prst="rect">
            <a:avLst/>
          </a:prstGeom>
          <a:noFill/>
          <a:ln/>
        </p:spPr>
        <p:txBody>
          <a:bodyPr wrap="square" lIns="0" tIns="0" rIns="0" bIns="0" rtlCol="0" anchor="t"/>
          <a:lstStyle/>
          <a:p>
            <a:pPr indent="0" marL="0">
              <a:buNone/>
            </a:pPr>
            <a:r>
              <a:rPr lang="en-US" sz="1400" dirty="0">
                <a:solidFill>
                  <a:schemeClr val="tx1"/>
                </a:solidFill>
              </a:rPr>
              <a:t>Opus 5.5 as PI agent, delegating to Opus/Sonnet subagents</a:t>
            </a:r>
            <a:endParaRPr lang="en-US" sz="1400" dirty="0"/>
          </a:p>
        </p:txBody>
      </p:sp>
      <p:sp>
        <p:nvSpPr>
          <p:cNvPr id="22" name="Text 19"/>
          <p:cNvSpPr txBox="1"/>
          <p:nvPr/>
        </p:nvSpPr>
        <p:spPr>
          <a:xfrm>
            <a:off x="8503920" y="3200400"/>
            <a:ext cx="3108960" cy="822960"/>
          </a:xfrm>
          <a:prstGeom prst="rect">
            <a:avLst/>
          </a:prstGeom>
          <a:noFill/>
          <a:ln/>
        </p:spPr>
        <p:txBody>
          <a:bodyPr wrap="square" lIns="0" tIns="0" rIns="0" bIns="0" rtlCol="0" anchor="ctr"/>
          <a:lstStyle/>
          <a:p>
            <a:pPr indent="0" marL="0">
              <a:buNone/>
            </a:pPr>
            <a:r>
              <a:rPr lang="en-US" sz="4400" b="1" dirty="0">
                <a:solidFill>
                  <a:schemeClr val="accent4"/>
                </a:solidFill>
                <a:latin typeface="Cambria" pitchFamily="34" charset="0"/>
                <a:ea typeface="Cambria" pitchFamily="34" charset="-122"/>
                <a:cs typeface="Cambria" pitchFamily="34" charset="-120"/>
              </a:rPr>
              <a:t>[__]</a:t>
            </a:r>
            <a:endParaRPr lang="en-US" sz="4400" dirty="0"/>
          </a:p>
        </p:txBody>
      </p:sp>
      <p:sp>
        <p:nvSpPr>
          <p:cNvPr id="23" name="Text 20"/>
          <p:cNvSpPr txBox="1"/>
          <p:nvPr/>
        </p:nvSpPr>
        <p:spPr>
          <a:xfrm>
            <a:off x="8503920" y="4023360"/>
            <a:ext cx="3108960" cy="640080"/>
          </a:xfrm>
          <a:prstGeom prst="rect">
            <a:avLst/>
          </a:prstGeom>
          <a:noFill/>
          <a:ln/>
        </p:spPr>
        <p:txBody>
          <a:bodyPr wrap="square" lIns="0" tIns="0" rIns="0" bIns="0" rtlCol="0" anchor="t"/>
          <a:lstStyle/>
          <a:p>
            <a:pPr indent="0" marL="0">
              <a:buNone/>
            </a:pPr>
            <a:r>
              <a:rPr lang="en-US" sz="1400" dirty="0">
                <a:solidFill>
                  <a:schemeClr val="tx1"/>
                </a:solidFill>
              </a:rPr>
              <a:t>participants · [dates] · [Euler cluster details]</a:t>
            </a:r>
            <a:endParaRPr lang="en-US" sz="1400" dirty="0"/>
          </a:p>
        </p:txBody>
      </p:sp>
      <p:sp>
        <p:nvSpPr>
          <p:cNvPr id="24" name="Text 21"/>
          <p:cNvSpPr txBox="1"/>
          <p:nvPr/>
        </p:nvSpPr>
        <p:spPr>
          <a:xfrm>
            <a:off x="5303520" y="5120640"/>
            <a:ext cx="6309360" cy="822960"/>
          </a:xfrm>
          <a:prstGeom prst="rect">
            <a:avLst/>
          </a:prstGeom>
          <a:noFill/>
          <a:ln/>
        </p:spPr>
        <p:txBody>
          <a:bodyPr wrap="square" rtlCol="0" anchor="ctr"/>
          <a:lstStyle/>
          <a:p>
            <a:pPr indent="0" marL="0">
              <a:buNone/>
            </a:pPr>
            <a:r>
              <a:rPr lang="en-US" sz="1400" i="1" dirty="0">
                <a:solidFill>
                  <a:schemeClr val="tx2"/>
                </a:solidFill>
              </a:rPr>
              <a:t>Humans verify methodology and benchmarking afterwards; each repository opens with a human-written disclosure.</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From prediction tools to discovery projects</a:t>
            </a:r>
            <a:endParaRPr lang="en-US" sz="3200" dirty="0"/>
          </a:p>
        </p:txBody>
      </p:sp>
      <p:pic>
        <p:nvPicPr>
          <p:cNvPr id="4" name="Image 0" descr="Hackathon project flow diagram">    </p:cNvPr>
          <p:cNvPicPr>
            <a:picLocks noChangeAspect="1"/>
          </p:cNvPicPr>
          <p:nvPr/>
        </p:nvPicPr>
        <p:blipFill>
          <a:blip r:embed="rId1"/>
          <a:stretch>
            <a:fillRect/>
          </a:stretch>
        </p:blipFill>
        <p:spPr>
          <a:xfrm>
            <a:off x="457200" y="1456006"/>
            <a:ext cx="7863840" cy="4586068"/>
          </a:xfrm>
          <a:prstGeom prst="rect">
            <a:avLst/>
          </a:prstGeom>
        </p:spPr>
      </p:pic>
      <p:sp>
        <p:nvSpPr>
          <p:cNvPr id="5" name="Shape 1"/>
          <p:cNvSpPr/>
          <p:nvPr/>
        </p:nvSpPr>
        <p:spPr>
          <a:xfrm>
            <a:off x="8595360" y="1280160"/>
            <a:ext cx="3108960" cy="2194560"/>
          </a:xfrm>
          <a:prstGeom prst="roundRect">
            <a:avLst>
              <a:gd name="adj" fmla="val 5000"/>
            </a:avLst>
          </a:prstGeom>
          <a:solidFill>
            <a:schemeClr val="accent2"/>
          </a:solidFill>
          <a:ln w="12700">
            <a:solidFill>
              <a:schemeClr val="accent2"/>
            </a:solidFill>
            <a:prstDash val="solid"/>
          </a:ln>
        </p:spPr>
      </p:sp>
      <p:sp>
        <p:nvSpPr>
          <p:cNvPr id="6" name="Text 2"/>
          <p:cNvSpPr txBox="1"/>
          <p:nvPr/>
        </p:nvSpPr>
        <p:spPr>
          <a:xfrm>
            <a:off x="8778240" y="1389888"/>
            <a:ext cx="2743200" cy="411480"/>
          </a:xfrm>
          <a:prstGeom prst="rect">
            <a:avLst/>
          </a:prstGeom>
          <a:noFill/>
          <a:ln/>
        </p:spPr>
        <p:txBody>
          <a:bodyPr wrap="square" lIns="0" tIns="0" rIns="0" bIns="0" rtlCol="0" anchor="t"/>
          <a:lstStyle/>
          <a:p>
            <a:pPr indent="0" marL="0">
              <a:buNone/>
            </a:pPr>
            <a:r>
              <a:rPr lang="en-US" sz="1800" b="1" dirty="0">
                <a:solidFill>
                  <a:schemeClr val="tx2"/>
                </a:solidFill>
              </a:rPr>
              <a:t>This project</a:t>
            </a:r>
            <a:endParaRPr lang="en-US" sz="1800" dirty="0"/>
          </a:p>
        </p:txBody>
      </p:sp>
      <p:sp>
        <p:nvSpPr>
          <p:cNvPr id="7" name="Text 3"/>
          <p:cNvSpPr txBox="1"/>
          <p:nvPr/>
        </p:nvSpPr>
        <p:spPr>
          <a:xfrm>
            <a:off x="8778240" y="1847088"/>
            <a:ext cx="2743200" cy="15087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Phase 2 discovery: does protein 3D structure evolve like a clock?</a:t>
            </a:r>
            <a:endParaRPr lang="en-US" sz="1400" dirty="0"/>
          </a:p>
        </p:txBody>
      </p:sp>
      <p:sp>
        <p:nvSpPr>
          <p:cNvPr id="8" name="Shape 4"/>
          <p:cNvSpPr/>
          <p:nvPr/>
        </p:nvSpPr>
        <p:spPr>
          <a:xfrm>
            <a:off x="8595360" y="3657600"/>
            <a:ext cx="3108960" cy="2377440"/>
          </a:xfrm>
          <a:prstGeom prst="roundRect">
            <a:avLst>
              <a:gd name="adj" fmla="val 4615"/>
            </a:avLst>
          </a:prstGeom>
          <a:solidFill>
            <a:schemeClr val="bg2"/>
          </a:solidFill>
          <a:ln w="12700">
            <a:solidFill>
              <a:schemeClr val="bg2"/>
            </a:solidFill>
            <a:prstDash val="solid"/>
          </a:ln>
        </p:spPr>
      </p:sp>
      <p:sp>
        <p:nvSpPr>
          <p:cNvPr id="9" name="Text 5"/>
          <p:cNvSpPr txBox="1"/>
          <p:nvPr/>
        </p:nvSpPr>
        <p:spPr>
          <a:xfrm>
            <a:off x="8778240" y="3767328"/>
            <a:ext cx="2743200" cy="411480"/>
          </a:xfrm>
          <a:prstGeom prst="rect">
            <a:avLst/>
          </a:prstGeom>
          <a:noFill/>
          <a:ln/>
        </p:spPr>
        <p:txBody>
          <a:bodyPr wrap="square" lIns="0" tIns="0" rIns="0" bIns="0" rtlCol="0" anchor="t"/>
          <a:lstStyle/>
          <a:p>
            <a:pPr indent="0" marL="0">
              <a:buNone/>
            </a:pPr>
            <a:r>
              <a:rPr lang="en-US" sz="1800" b="1" dirty="0">
                <a:solidFill>
                  <a:schemeClr val="tx2"/>
                </a:solidFill>
              </a:rPr>
              <a:t>Built on</a:t>
            </a:r>
            <a:endParaRPr lang="en-US" sz="1800" dirty="0"/>
          </a:p>
        </p:txBody>
      </p:sp>
      <p:sp>
        <p:nvSpPr>
          <p:cNvPr id="10" name="Text 6"/>
          <p:cNvSpPr txBox="1"/>
          <p:nvPr/>
        </p:nvSpPr>
        <p:spPr>
          <a:xfrm>
            <a:off x="8778240" y="4224528"/>
            <a:ext cx="2743200" cy="16916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Ancestra (Phase-1 orthology tool) + AlphaFold DB clusters (Foldseek) + TimeTree</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822960" y="2514600"/>
            <a:ext cx="1051560" cy="1051560"/>
          </a:xfrm>
          <a:prstGeom prst="ellipse">
            <a:avLst/>
          </a:prstGeom>
          <a:solidFill>
            <a:schemeClr val="accent2"/>
          </a:solidFill>
          <a:ln w="12700">
            <a:solidFill>
              <a:schemeClr val="accent2"/>
            </a:solidFill>
            <a:prstDash val="solid"/>
          </a:ln>
        </p:spPr>
      </p:sp>
      <p:sp>
        <p:nvSpPr>
          <p:cNvPr id="3" name="Text 1"/>
          <p:cNvSpPr txBox="1"/>
          <p:nvPr/>
        </p:nvSpPr>
        <p:spPr>
          <a:xfrm>
            <a:off x="822960" y="2514600"/>
            <a:ext cx="1051560" cy="1051560"/>
          </a:xfrm>
          <a:prstGeom prst="rect">
            <a:avLst/>
          </a:prstGeom>
          <a:noFill/>
          <a:ln/>
        </p:spPr>
        <p:txBody>
          <a:bodyPr wrap="square" rtlCol="0" anchor="ctr"/>
          <a:lstStyle/>
          <a:p>
            <a:pPr algn="ctr" indent="0" marL="0">
              <a:buNone/>
            </a:pPr>
            <a:r>
              <a:rPr lang="en-US" sz="3600" b="1" dirty="0">
                <a:solidFill>
                  <a:schemeClr val="tx2"/>
                </a:solidFill>
                <a:latin typeface="Cambria" pitchFamily="34" charset="0"/>
                <a:ea typeface="Cambria" pitchFamily="34" charset="-122"/>
                <a:cs typeface="Cambria" pitchFamily="34" charset="-120"/>
              </a:rPr>
              <a:t>2</a:t>
            </a:r>
            <a:endParaRPr lang="en-US" sz="3600" dirty="0"/>
          </a:p>
        </p:txBody>
      </p:sp>
      <p:sp>
        <p:nvSpPr>
          <p:cNvPr id="4" name="Text 0"/>
          <p:cNvSpPr/>
          <p:nvPr>
            <p:ph idx="100" type="title" hasCustomPrompt="1"/>
          </p:nvPr>
        </p:nvSpPr>
        <p:spPr>
          <a:xfrm>
            <a:off x="2103120" y="2468880"/>
            <a:ext cx="9326880" cy="1188720"/>
          </a:xfrm>
          <a:prstGeom prst="rect">
            <a:avLst/>
          </a:prstGeom>
          <a:noFill/>
          <a:ln/>
        </p:spPr>
        <p:txBody>
          <a:bodyPr wrap="square" rtlCol="0" anchor="ctr"/>
          <a:lstStyle/>
          <a:p>
            <a:pPr algn="l" indent="0" marL="0">
              <a:buNone/>
            </a:pPr>
            <a:r>
              <a:rPr lang="en-US" sz="4000" b="1" dirty="0">
                <a:solidFill>
                  <a:schemeClr val="bg1"/>
                </a:solidFill>
              </a:rPr>
              <a:t>The prompt</a:t>
            </a:r>
            <a:endParaRPr lang="en-US" sz="4000" dirty="0"/>
          </a:p>
        </p:txBody>
      </p:sp>
      <p:sp>
        <p:nvSpPr>
          <p:cNvPr id="5" name="Text 0"/>
          <p:cNvSpPr/>
          <p:nvPr>
            <p:ph idx="101" type="body" hasCustomPrompt="1"/>
          </p:nvPr>
        </p:nvSpPr>
        <p:spPr>
          <a:xfrm>
            <a:off x="2103120" y="3657600"/>
            <a:ext cx="9326880" cy="1097280"/>
          </a:xfrm>
          <a:prstGeom prst="rect">
            <a:avLst/>
          </a:prstGeom>
          <a:noFill/>
          <a:ln/>
        </p:spPr>
        <p:txBody>
          <a:bodyPr wrap="square" rtlCol="0" anchor="t"/>
          <a:lstStyle/>
          <a:p>
            <a:pPr indent="0" marL="0">
              <a:buNone/>
            </a:pPr>
            <a:r>
              <a:rPr lang="en-US" sz="1800" dirty="0">
                <a:solidFill>
                  <a:schemeClr val="bg2"/>
                </a:solidFill>
              </a:rPr>
              <a:t>One generic research scaffold + one project-specific question</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The prompt has two layers</a:t>
            </a:r>
            <a:endParaRPr lang="en-US" sz="3200" dirty="0"/>
          </a:p>
        </p:txBody>
      </p:sp>
      <p:sp>
        <p:nvSpPr>
          <p:cNvPr id="4" name="Text 1"/>
          <p:cNvSpPr txBox="1"/>
          <p:nvPr/>
        </p:nvSpPr>
        <p:spPr>
          <a:xfrm>
            <a:off x="548640" y="1234440"/>
            <a:ext cx="5486400" cy="457200"/>
          </a:xfrm>
          <a:prstGeom prst="rect">
            <a:avLst/>
          </a:prstGeom>
          <a:noFill/>
          <a:ln/>
        </p:spPr>
        <p:txBody>
          <a:bodyPr wrap="square" lIns="0" tIns="0" rIns="0" bIns="0" rtlCol="0" anchor="ctr"/>
          <a:lstStyle/>
          <a:p>
            <a:pPr indent="0" marL="0">
              <a:buNone/>
            </a:pPr>
            <a:r>
              <a:rPr lang="en-US" sz="2000" b="1" dirty="0">
                <a:solidFill>
                  <a:schemeClr val="accent1"/>
                </a:solidFill>
              </a:rPr>
              <a:t>Shared by all projects</a:t>
            </a:r>
            <a:endParaRPr lang="en-US" sz="2000" dirty="0"/>
          </a:p>
        </p:txBody>
      </p:sp>
      <p:sp>
        <p:nvSpPr>
          <p:cNvPr id="5" name="Text 2"/>
          <p:cNvSpPr txBox="1"/>
          <p:nvPr/>
        </p:nvSpPr>
        <p:spPr>
          <a:xfrm>
            <a:off x="6309360" y="1234440"/>
            <a:ext cx="5486400" cy="457200"/>
          </a:xfrm>
          <a:prstGeom prst="rect">
            <a:avLst/>
          </a:prstGeom>
          <a:noFill/>
          <a:ln/>
        </p:spPr>
        <p:txBody>
          <a:bodyPr wrap="square" lIns="0" tIns="0" rIns="0" bIns="0" rtlCol="0" anchor="ctr"/>
          <a:lstStyle/>
          <a:p>
            <a:pPr indent="0" marL="0">
              <a:buNone/>
            </a:pPr>
            <a:r>
              <a:rPr lang="en-US" sz="2000" b="1" dirty="0">
                <a:solidFill>
                  <a:schemeClr val="accent2"/>
                </a:solidFill>
              </a:rPr>
              <a:t>Specific to this project</a:t>
            </a:r>
            <a:endParaRPr lang="en-US" sz="2000" dirty="0"/>
          </a:p>
        </p:txBody>
      </p:sp>
      <p:sp>
        <p:nvSpPr>
          <p:cNvPr id="6" name="Shape 3"/>
          <p:cNvSpPr/>
          <p:nvPr/>
        </p:nvSpPr>
        <p:spPr>
          <a:xfrm>
            <a:off x="548640" y="1783080"/>
            <a:ext cx="2651760" cy="1325880"/>
          </a:xfrm>
          <a:prstGeom prst="roundRect">
            <a:avLst>
              <a:gd name="adj" fmla="val 8276"/>
            </a:avLst>
          </a:prstGeom>
          <a:solidFill>
            <a:schemeClr val="bg2"/>
          </a:solidFill>
          <a:ln w="12700">
            <a:solidFill>
              <a:schemeClr val="bg2"/>
            </a:solidFill>
            <a:prstDash val="solid"/>
          </a:ln>
        </p:spPr>
      </p:sp>
      <p:sp>
        <p:nvSpPr>
          <p:cNvPr id="7" name="Text 4"/>
          <p:cNvSpPr txBox="1"/>
          <p:nvPr/>
        </p:nvSpPr>
        <p:spPr>
          <a:xfrm>
            <a:off x="731520" y="1892808"/>
            <a:ext cx="2286000" cy="411480"/>
          </a:xfrm>
          <a:prstGeom prst="rect">
            <a:avLst/>
          </a:prstGeom>
          <a:noFill/>
          <a:ln/>
        </p:spPr>
        <p:txBody>
          <a:bodyPr wrap="square" lIns="0" tIns="0" rIns="0" bIns="0" rtlCol="0" anchor="t"/>
          <a:lstStyle/>
          <a:p>
            <a:pPr indent="0" marL="0">
              <a:buNone/>
            </a:pPr>
            <a:r>
              <a:rPr lang="en-US" sz="1600" b="1" dirty="0">
                <a:solidFill>
                  <a:schemeClr val="tx2"/>
                </a:solidFill>
              </a:rPr>
              <a:t>PI role</a:t>
            </a:r>
            <a:endParaRPr lang="en-US" sz="1600" dirty="0"/>
          </a:p>
        </p:txBody>
      </p:sp>
      <p:sp>
        <p:nvSpPr>
          <p:cNvPr id="8" name="Text 5"/>
          <p:cNvSpPr txBox="1"/>
          <p:nvPr/>
        </p:nvSpPr>
        <p:spPr>
          <a:xfrm>
            <a:off x="731520" y="2350008"/>
            <a:ext cx="2286000" cy="64008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plan, delegate, review, decide</a:t>
            </a:r>
            <a:endParaRPr lang="en-US" sz="1300" dirty="0"/>
          </a:p>
        </p:txBody>
      </p:sp>
      <p:sp>
        <p:nvSpPr>
          <p:cNvPr id="9" name="Shape 6"/>
          <p:cNvSpPr/>
          <p:nvPr/>
        </p:nvSpPr>
        <p:spPr>
          <a:xfrm>
            <a:off x="3337560" y="1783080"/>
            <a:ext cx="2651760" cy="1325880"/>
          </a:xfrm>
          <a:prstGeom prst="roundRect">
            <a:avLst>
              <a:gd name="adj" fmla="val 8276"/>
            </a:avLst>
          </a:prstGeom>
          <a:solidFill>
            <a:schemeClr val="bg2"/>
          </a:solidFill>
          <a:ln w="12700">
            <a:solidFill>
              <a:schemeClr val="bg2"/>
            </a:solidFill>
            <a:prstDash val="solid"/>
          </a:ln>
        </p:spPr>
      </p:sp>
      <p:sp>
        <p:nvSpPr>
          <p:cNvPr id="10" name="Text 7"/>
          <p:cNvSpPr txBox="1"/>
          <p:nvPr/>
        </p:nvSpPr>
        <p:spPr>
          <a:xfrm>
            <a:off x="3520440" y="1892808"/>
            <a:ext cx="2286000" cy="411480"/>
          </a:xfrm>
          <a:prstGeom prst="rect">
            <a:avLst/>
          </a:prstGeom>
          <a:noFill/>
          <a:ln/>
        </p:spPr>
        <p:txBody>
          <a:bodyPr wrap="square" lIns="0" tIns="0" rIns="0" bIns="0" rtlCol="0" anchor="t"/>
          <a:lstStyle/>
          <a:p>
            <a:pPr indent="0" marL="0">
              <a:buNone/>
            </a:pPr>
            <a:r>
              <a:rPr lang="en-US" sz="1600" b="1" dirty="0">
                <a:solidFill>
                  <a:schemeClr val="tx2"/>
                </a:solidFill>
              </a:rPr>
              <a:t>Design by critique</a:t>
            </a:r>
            <a:endParaRPr lang="en-US" sz="1600" dirty="0"/>
          </a:p>
        </p:txBody>
      </p:sp>
      <p:sp>
        <p:nvSpPr>
          <p:cNvPr id="11" name="Text 8"/>
          <p:cNvSpPr txBox="1"/>
          <p:nvPr/>
        </p:nvSpPr>
        <p:spPr>
          <a:xfrm>
            <a:off x="3520440" y="2350008"/>
            <a:ext cx="2286000" cy="64008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literature → design → ≤3 review rounds</a:t>
            </a:r>
            <a:endParaRPr lang="en-US" sz="1300" dirty="0"/>
          </a:p>
        </p:txBody>
      </p:sp>
      <p:sp>
        <p:nvSpPr>
          <p:cNvPr id="12" name="Shape 9"/>
          <p:cNvSpPr/>
          <p:nvPr/>
        </p:nvSpPr>
        <p:spPr>
          <a:xfrm>
            <a:off x="548640" y="3246120"/>
            <a:ext cx="2651760" cy="1325880"/>
          </a:xfrm>
          <a:prstGeom prst="roundRect">
            <a:avLst>
              <a:gd name="adj" fmla="val 8276"/>
            </a:avLst>
          </a:prstGeom>
          <a:solidFill>
            <a:schemeClr val="bg2"/>
          </a:solidFill>
          <a:ln w="12700">
            <a:solidFill>
              <a:schemeClr val="bg2"/>
            </a:solidFill>
            <a:prstDash val="solid"/>
          </a:ln>
        </p:spPr>
      </p:sp>
      <p:sp>
        <p:nvSpPr>
          <p:cNvPr id="13" name="Text 10"/>
          <p:cNvSpPr txBox="1"/>
          <p:nvPr/>
        </p:nvSpPr>
        <p:spPr>
          <a:xfrm>
            <a:off x="731520" y="3355848"/>
            <a:ext cx="2286000" cy="411480"/>
          </a:xfrm>
          <a:prstGeom prst="rect">
            <a:avLst/>
          </a:prstGeom>
          <a:noFill/>
          <a:ln/>
        </p:spPr>
        <p:txBody>
          <a:bodyPr wrap="square" lIns="0" tIns="0" rIns="0" bIns="0" rtlCol="0" anchor="t"/>
          <a:lstStyle/>
          <a:p>
            <a:pPr indent="0" marL="0">
              <a:buNone/>
            </a:pPr>
            <a:r>
              <a:rPr lang="en-US" sz="1600" b="1" dirty="0">
                <a:solidFill>
                  <a:schemeClr val="tx2"/>
                </a:solidFill>
              </a:rPr>
              <a:t>Reproducibility</a:t>
            </a:r>
            <a:endParaRPr lang="en-US" sz="1600" dirty="0"/>
          </a:p>
        </p:txBody>
      </p:sp>
      <p:sp>
        <p:nvSpPr>
          <p:cNvPr id="14" name="Text 11"/>
          <p:cNvSpPr txBox="1"/>
          <p:nvPr/>
        </p:nvSpPr>
        <p:spPr>
          <a:xfrm>
            <a:off x="731520" y="3813048"/>
            <a:ext cx="2286000" cy="64008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seeds, DATA.md, git, no hard-coding</a:t>
            </a:r>
            <a:endParaRPr lang="en-US" sz="1300" dirty="0"/>
          </a:p>
        </p:txBody>
      </p:sp>
      <p:sp>
        <p:nvSpPr>
          <p:cNvPr id="15" name="Shape 12"/>
          <p:cNvSpPr/>
          <p:nvPr/>
        </p:nvSpPr>
        <p:spPr>
          <a:xfrm>
            <a:off x="3337560" y="3246120"/>
            <a:ext cx="2651760" cy="1325880"/>
          </a:xfrm>
          <a:prstGeom prst="roundRect">
            <a:avLst>
              <a:gd name="adj" fmla="val 8276"/>
            </a:avLst>
          </a:prstGeom>
          <a:solidFill>
            <a:schemeClr val="bg2"/>
          </a:solidFill>
          <a:ln w="12700">
            <a:solidFill>
              <a:schemeClr val="bg2"/>
            </a:solidFill>
            <a:prstDash val="solid"/>
          </a:ln>
        </p:spPr>
      </p:sp>
      <p:sp>
        <p:nvSpPr>
          <p:cNvPr id="16" name="Text 13"/>
          <p:cNvSpPr txBox="1"/>
          <p:nvPr/>
        </p:nvSpPr>
        <p:spPr>
          <a:xfrm>
            <a:off x="3520440" y="3355848"/>
            <a:ext cx="2286000" cy="411480"/>
          </a:xfrm>
          <a:prstGeom prst="rect">
            <a:avLst/>
          </a:prstGeom>
          <a:noFill/>
          <a:ln/>
        </p:spPr>
        <p:txBody>
          <a:bodyPr wrap="square" lIns="0" tIns="0" rIns="0" bIns="0" rtlCol="0" anchor="t"/>
          <a:lstStyle/>
          <a:p>
            <a:pPr indent="0" marL="0">
              <a:buNone/>
            </a:pPr>
            <a:r>
              <a:rPr lang="en-US" sz="1600" b="1" dirty="0">
                <a:solidFill>
                  <a:schemeClr val="tx2"/>
                </a:solidFill>
              </a:rPr>
              <a:t>Memory</a:t>
            </a:r>
            <a:endParaRPr lang="en-US" sz="1600" dirty="0"/>
          </a:p>
        </p:txBody>
      </p:sp>
      <p:sp>
        <p:nvSpPr>
          <p:cNvPr id="17" name="Text 14"/>
          <p:cNvSpPr txBox="1"/>
          <p:nvPr/>
        </p:nvSpPr>
        <p:spPr>
          <a:xfrm>
            <a:off x="3520440" y="3813048"/>
            <a:ext cx="2286000" cy="64008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research tree + lessons file</a:t>
            </a:r>
            <a:endParaRPr lang="en-US" sz="1300" dirty="0"/>
          </a:p>
        </p:txBody>
      </p:sp>
      <p:sp>
        <p:nvSpPr>
          <p:cNvPr id="18" name="Shape 15"/>
          <p:cNvSpPr/>
          <p:nvPr/>
        </p:nvSpPr>
        <p:spPr>
          <a:xfrm>
            <a:off x="548640" y="4709160"/>
            <a:ext cx="2651760" cy="1325880"/>
          </a:xfrm>
          <a:prstGeom prst="roundRect">
            <a:avLst>
              <a:gd name="adj" fmla="val 8276"/>
            </a:avLst>
          </a:prstGeom>
          <a:solidFill>
            <a:schemeClr val="bg2"/>
          </a:solidFill>
          <a:ln w="12700">
            <a:solidFill>
              <a:schemeClr val="bg2"/>
            </a:solidFill>
            <a:prstDash val="solid"/>
          </a:ln>
        </p:spPr>
      </p:sp>
      <p:sp>
        <p:nvSpPr>
          <p:cNvPr id="19" name="Text 16"/>
          <p:cNvSpPr txBox="1"/>
          <p:nvPr/>
        </p:nvSpPr>
        <p:spPr>
          <a:xfrm>
            <a:off x="731520" y="4818888"/>
            <a:ext cx="2286000" cy="411480"/>
          </a:xfrm>
          <a:prstGeom prst="rect">
            <a:avLst/>
          </a:prstGeom>
          <a:noFill/>
          <a:ln/>
        </p:spPr>
        <p:txBody>
          <a:bodyPr wrap="square" lIns="0" tIns="0" rIns="0" bIns="0" rtlCol="0" anchor="t"/>
          <a:lstStyle/>
          <a:p>
            <a:pPr indent="0" marL="0">
              <a:buNone/>
            </a:pPr>
            <a:r>
              <a:rPr lang="en-US" sz="1600" b="1" dirty="0">
                <a:solidFill>
                  <a:schemeClr val="tx2"/>
                </a:solidFill>
              </a:rPr>
              <a:t>Verification</a:t>
            </a:r>
            <a:endParaRPr lang="en-US" sz="1600" dirty="0"/>
          </a:p>
        </p:txBody>
      </p:sp>
      <p:sp>
        <p:nvSpPr>
          <p:cNvPr id="20" name="Text 17"/>
          <p:cNvSpPr txBox="1"/>
          <p:nvPr/>
        </p:nvSpPr>
        <p:spPr>
          <a:xfrm>
            <a:off x="731520" y="5276088"/>
            <a:ext cx="2286000" cy="64008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toy data, controls, non-author review</a:t>
            </a:r>
            <a:endParaRPr lang="en-US" sz="1300" dirty="0"/>
          </a:p>
        </p:txBody>
      </p:sp>
      <p:sp>
        <p:nvSpPr>
          <p:cNvPr id="21" name="Shape 18"/>
          <p:cNvSpPr/>
          <p:nvPr/>
        </p:nvSpPr>
        <p:spPr>
          <a:xfrm>
            <a:off x="3337560" y="4709160"/>
            <a:ext cx="2651760" cy="1325880"/>
          </a:xfrm>
          <a:prstGeom prst="roundRect">
            <a:avLst>
              <a:gd name="adj" fmla="val 8276"/>
            </a:avLst>
          </a:prstGeom>
          <a:solidFill>
            <a:schemeClr val="bg2"/>
          </a:solidFill>
          <a:ln w="12700">
            <a:solidFill>
              <a:schemeClr val="bg2"/>
            </a:solidFill>
            <a:prstDash val="solid"/>
          </a:ln>
        </p:spPr>
      </p:sp>
      <p:sp>
        <p:nvSpPr>
          <p:cNvPr id="22" name="Text 19"/>
          <p:cNvSpPr txBox="1"/>
          <p:nvPr/>
        </p:nvSpPr>
        <p:spPr>
          <a:xfrm>
            <a:off x="3520440" y="4818888"/>
            <a:ext cx="2286000" cy="411480"/>
          </a:xfrm>
          <a:prstGeom prst="rect">
            <a:avLst/>
          </a:prstGeom>
          <a:noFill/>
          <a:ln/>
        </p:spPr>
        <p:txBody>
          <a:bodyPr wrap="square" lIns="0" tIns="0" rIns="0" bIns="0" rtlCol="0" anchor="t"/>
          <a:lstStyle/>
          <a:p>
            <a:pPr indent="0" marL="0">
              <a:buNone/>
            </a:pPr>
            <a:r>
              <a:rPr lang="en-US" sz="1600" b="1" dirty="0">
                <a:solidFill>
                  <a:schemeClr val="tx2"/>
                </a:solidFill>
              </a:rPr>
              <a:t>Report</a:t>
            </a:r>
            <a:endParaRPr lang="en-US" sz="1600" dirty="0"/>
          </a:p>
        </p:txBody>
      </p:sp>
      <p:sp>
        <p:nvSpPr>
          <p:cNvPr id="23" name="Text 20"/>
          <p:cNvSpPr txBox="1"/>
          <p:nvPr/>
        </p:nvSpPr>
        <p:spPr>
          <a:xfrm>
            <a:off x="3520440" y="5276088"/>
            <a:ext cx="2286000" cy="64008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paper-style, disclaimer, figures</a:t>
            </a:r>
            <a:endParaRPr lang="en-US" sz="1300" dirty="0"/>
          </a:p>
        </p:txBody>
      </p:sp>
      <p:sp>
        <p:nvSpPr>
          <p:cNvPr id="24" name="Shape 21"/>
          <p:cNvSpPr/>
          <p:nvPr/>
        </p:nvSpPr>
        <p:spPr>
          <a:xfrm>
            <a:off x="6309360" y="1783080"/>
            <a:ext cx="2651760" cy="1325880"/>
          </a:xfrm>
          <a:prstGeom prst="roundRect">
            <a:avLst>
              <a:gd name="adj" fmla="val 8276"/>
            </a:avLst>
          </a:prstGeom>
          <a:solidFill>
            <a:srgbClr val="FDEBD9"/>
          </a:solidFill>
          <a:ln w="12700">
            <a:solidFill>
              <a:srgbClr val="FDEBD9"/>
            </a:solidFill>
            <a:prstDash val="solid"/>
          </a:ln>
        </p:spPr>
      </p:sp>
      <p:sp>
        <p:nvSpPr>
          <p:cNvPr id="25" name="Text 22"/>
          <p:cNvSpPr txBox="1"/>
          <p:nvPr/>
        </p:nvSpPr>
        <p:spPr>
          <a:xfrm>
            <a:off x="6492240" y="1892808"/>
            <a:ext cx="2286000" cy="411480"/>
          </a:xfrm>
          <a:prstGeom prst="rect">
            <a:avLst/>
          </a:prstGeom>
          <a:noFill/>
          <a:ln/>
        </p:spPr>
        <p:txBody>
          <a:bodyPr wrap="square" lIns="0" tIns="0" rIns="0" bIns="0" rtlCol="0" anchor="t"/>
          <a:lstStyle/>
          <a:p>
            <a:pPr indent="0" marL="0">
              <a:buNone/>
            </a:pPr>
            <a:r>
              <a:rPr lang="en-US" sz="1600" b="1" dirty="0">
                <a:solidFill>
                  <a:schemeClr val="tx2"/>
                </a:solidFill>
              </a:rPr>
              <a:t>Revisit Elofsson 2009</a:t>
            </a:r>
            <a:endParaRPr lang="en-US" sz="1600" dirty="0"/>
          </a:p>
        </p:txBody>
      </p:sp>
      <p:sp>
        <p:nvSpPr>
          <p:cNvPr id="26" name="Text 23"/>
          <p:cNvSpPr txBox="1"/>
          <p:nvPr/>
        </p:nvSpPr>
        <p:spPr>
          <a:xfrm>
            <a:off x="6492240" y="2350008"/>
            <a:ext cx="2286000" cy="64008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linear, 3–10× more conserved?</a:t>
            </a:r>
            <a:endParaRPr lang="en-US" sz="1300" dirty="0"/>
          </a:p>
        </p:txBody>
      </p:sp>
      <p:sp>
        <p:nvSpPr>
          <p:cNvPr id="27" name="Shape 24"/>
          <p:cNvSpPr/>
          <p:nvPr/>
        </p:nvSpPr>
        <p:spPr>
          <a:xfrm>
            <a:off x="9098280" y="1783080"/>
            <a:ext cx="2651760" cy="1325880"/>
          </a:xfrm>
          <a:prstGeom prst="roundRect">
            <a:avLst>
              <a:gd name="adj" fmla="val 8276"/>
            </a:avLst>
          </a:prstGeom>
          <a:solidFill>
            <a:srgbClr val="FDEBD9"/>
          </a:solidFill>
          <a:ln w="12700">
            <a:solidFill>
              <a:srgbClr val="FDEBD9"/>
            </a:solidFill>
            <a:prstDash val="solid"/>
          </a:ln>
        </p:spPr>
      </p:sp>
      <p:sp>
        <p:nvSpPr>
          <p:cNvPr id="28" name="Text 25"/>
          <p:cNvSpPr txBox="1"/>
          <p:nvPr/>
        </p:nvSpPr>
        <p:spPr>
          <a:xfrm>
            <a:off x="9281160" y="1892808"/>
            <a:ext cx="2286000" cy="411480"/>
          </a:xfrm>
          <a:prstGeom prst="rect">
            <a:avLst/>
          </a:prstGeom>
          <a:noFill/>
          <a:ln/>
        </p:spPr>
        <p:txBody>
          <a:bodyPr wrap="square" lIns="0" tIns="0" rIns="0" bIns="0" rtlCol="0" anchor="t"/>
          <a:lstStyle/>
          <a:p>
            <a:pPr indent="0" marL="0">
              <a:buNone/>
            </a:pPr>
            <a:r>
              <a:rPr lang="en-US" sz="1600" b="1" dirty="0">
                <a:solidFill>
                  <a:schemeClr val="tx2"/>
                </a:solidFill>
              </a:rPr>
              <a:t>AFDB clusters 2023</a:t>
            </a:r>
            <a:endParaRPr lang="en-US" sz="1600" dirty="0"/>
          </a:p>
        </p:txBody>
      </p:sp>
      <p:sp>
        <p:nvSpPr>
          <p:cNvPr id="29" name="Text 26"/>
          <p:cNvSpPr txBox="1"/>
          <p:nvPr/>
        </p:nvSpPr>
        <p:spPr>
          <a:xfrm>
            <a:off x="9281160" y="2350008"/>
            <a:ext cx="2286000" cy="64008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evolution never analysed</a:t>
            </a:r>
            <a:endParaRPr lang="en-US" sz="1300" dirty="0"/>
          </a:p>
        </p:txBody>
      </p:sp>
      <p:sp>
        <p:nvSpPr>
          <p:cNvPr id="30" name="Shape 27"/>
          <p:cNvSpPr/>
          <p:nvPr/>
        </p:nvSpPr>
        <p:spPr>
          <a:xfrm>
            <a:off x="6309360" y="3246120"/>
            <a:ext cx="2651760" cy="1325880"/>
          </a:xfrm>
          <a:prstGeom prst="roundRect">
            <a:avLst>
              <a:gd name="adj" fmla="val 8276"/>
            </a:avLst>
          </a:prstGeom>
          <a:solidFill>
            <a:srgbClr val="FDEBD9"/>
          </a:solidFill>
          <a:ln w="12700">
            <a:solidFill>
              <a:srgbClr val="FDEBD9"/>
            </a:solidFill>
            <a:prstDash val="solid"/>
          </a:ln>
        </p:spPr>
      </p:sp>
      <p:sp>
        <p:nvSpPr>
          <p:cNvPr id="31" name="Text 28"/>
          <p:cNvSpPr txBox="1"/>
          <p:nvPr/>
        </p:nvSpPr>
        <p:spPr>
          <a:xfrm>
            <a:off x="6492240" y="3355848"/>
            <a:ext cx="2286000" cy="411480"/>
          </a:xfrm>
          <a:prstGeom prst="rect">
            <a:avLst/>
          </a:prstGeom>
          <a:noFill/>
          <a:ln/>
        </p:spPr>
        <p:txBody>
          <a:bodyPr wrap="square" lIns="0" tIns="0" rIns="0" bIns="0" rtlCol="0" anchor="t"/>
          <a:lstStyle/>
          <a:p>
            <a:pPr indent="0" marL="0">
              <a:buNone/>
            </a:pPr>
            <a:r>
              <a:rPr lang="en-US" sz="1600" b="1" dirty="0">
                <a:solidFill>
                  <a:schemeClr val="tx2"/>
                </a:solidFill>
              </a:rPr>
              <a:t>Use Ancestra</a:t>
            </a:r>
            <a:endParaRPr lang="en-US" sz="1600" dirty="0"/>
          </a:p>
        </p:txBody>
      </p:sp>
      <p:sp>
        <p:nvSpPr>
          <p:cNvPr id="32" name="Text 29"/>
          <p:cNvSpPr txBox="1"/>
          <p:nvPr/>
        </p:nvSpPr>
        <p:spPr>
          <a:xfrm>
            <a:off x="6492240" y="3813048"/>
            <a:ext cx="2286000" cy="64008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orthologs vs paralogs</a:t>
            </a:r>
            <a:endParaRPr lang="en-US" sz="1300" dirty="0"/>
          </a:p>
        </p:txBody>
      </p:sp>
      <p:sp>
        <p:nvSpPr>
          <p:cNvPr id="33" name="Shape 30"/>
          <p:cNvSpPr/>
          <p:nvPr/>
        </p:nvSpPr>
        <p:spPr>
          <a:xfrm>
            <a:off x="9098280" y="3246120"/>
            <a:ext cx="2651760" cy="1325880"/>
          </a:xfrm>
          <a:prstGeom prst="roundRect">
            <a:avLst>
              <a:gd name="adj" fmla="val 8276"/>
            </a:avLst>
          </a:prstGeom>
          <a:solidFill>
            <a:srgbClr val="FDEBD9"/>
          </a:solidFill>
          <a:ln w="12700">
            <a:solidFill>
              <a:srgbClr val="FDEBD9"/>
            </a:solidFill>
            <a:prstDash val="solid"/>
          </a:ln>
        </p:spPr>
      </p:sp>
      <p:sp>
        <p:nvSpPr>
          <p:cNvPr id="34" name="Text 31"/>
          <p:cNvSpPr txBox="1"/>
          <p:nvPr/>
        </p:nvSpPr>
        <p:spPr>
          <a:xfrm>
            <a:off x="9281160" y="3355848"/>
            <a:ext cx="2286000" cy="411480"/>
          </a:xfrm>
          <a:prstGeom prst="rect">
            <a:avLst/>
          </a:prstGeom>
          <a:noFill/>
          <a:ln/>
        </p:spPr>
        <p:txBody>
          <a:bodyPr wrap="square" lIns="0" tIns="0" rIns="0" bIns="0" rtlCol="0" anchor="t"/>
          <a:lstStyle/>
          <a:p>
            <a:pPr indent="0" marL="0">
              <a:buNone/>
            </a:pPr>
            <a:r>
              <a:rPr lang="en-US" sz="1600" b="1" dirty="0">
                <a:solidFill>
                  <a:schemeClr val="tx2"/>
                </a:solidFill>
              </a:rPr>
              <a:t>Neutral clock?</a:t>
            </a:r>
            <a:endParaRPr lang="en-US" sz="1600" dirty="0"/>
          </a:p>
        </p:txBody>
      </p:sp>
      <p:sp>
        <p:nvSpPr>
          <p:cNvPr id="35" name="Text 32"/>
          <p:cNvSpPr txBox="1"/>
          <p:nvPr/>
        </p:nvSpPr>
        <p:spPr>
          <a:xfrm>
            <a:off x="9281160" y="3813048"/>
            <a:ext cx="2286000" cy="64008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comment on structure</a:t>
            </a:r>
            <a:endParaRPr lang="en-US" sz="1300" dirty="0"/>
          </a:p>
        </p:txBody>
      </p:sp>
      <p:sp>
        <p:nvSpPr>
          <p:cNvPr id="36" name="Shape 33"/>
          <p:cNvSpPr/>
          <p:nvPr/>
        </p:nvSpPr>
        <p:spPr>
          <a:xfrm>
            <a:off x="6309360" y="4709160"/>
            <a:ext cx="2651760" cy="1325880"/>
          </a:xfrm>
          <a:prstGeom prst="roundRect">
            <a:avLst>
              <a:gd name="adj" fmla="val 8276"/>
            </a:avLst>
          </a:prstGeom>
          <a:solidFill>
            <a:srgbClr val="FDEBD9"/>
          </a:solidFill>
          <a:ln w="12700">
            <a:solidFill>
              <a:srgbClr val="FDEBD9"/>
            </a:solidFill>
            <a:prstDash val="solid"/>
          </a:ln>
        </p:spPr>
      </p:sp>
      <p:sp>
        <p:nvSpPr>
          <p:cNvPr id="37" name="Text 34"/>
          <p:cNvSpPr txBox="1"/>
          <p:nvPr/>
        </p:nvSpPr>
        <p:spPr>
          <a:xfrm>
            <a:off x="6492240" y="4818888"/>
            <a:ext cx="2286000" cy="411480"/>
          </a:xfrm>
          <a:prstGeom prst="rect">
            <a:avLst/>
          </a:prstGeom>
          <a:noFill/>
          <a:ln/>
        </p:spPr>
        <p:txBody>
          <a:bodyPr wrap="square" lIns="0" tIns="0" rIns="0" bIns="0" rtlCol="0" anchor="t"/>
          <a:lstStyle/>
          <a:p>
            <a:pPr indent="0" marL="0">
              <a:buNone/>
            </a:pPr>
            <a:r>
              <a:rPr lang="en-US" sz="1600" b="1" dirty="0">
                <a:solidFill>
                  <a:schemeClr val="tx2"/>
                </a:solidFill>
              </a:rPr>
              <a:t>Ideas (priors)</a:t>
            </a:r>
            <a:endParaRPr lang="en-US" sz="1600" dirty="0"/>
          </a:p>
        </p:txBody>
      </p:sp>
      <p:sp>
        <p:nvSpPr>
          <p:cNvPr id="38" name="Text 35"/>
          <p:cNvSpPr txBox="1"/>
          <p:nvPr/>
        </p:nvSpPr>
        <p:spPr>
          <a:xfrm>
            <a:off x="6492240" y="5276088"/>
            <a:ext cx="2286000" cy="64008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LDO, kinases, cytoskeleton</a:t>
            </a:r>
            <a:endParaRPr lang="en-US" sz="1300" dirty="0"/>
          </a:p>
        </p:txBody>
      </p:sp>
      <p:sp>
        <p:nvSpPr>
          <p:cNvPr id="39" name="Shape 36"/>
          <p:cNvSpPr/>
          <p:nvPr/>
        </p:nvSpPr>
        <p:spPr>
          <a:xfrm>
            <a:off x="9098280" y="4709160"/>
            <a:ext cx="2651760" cy="1325880"/>
          </a:xfrm>
          <a:prstGeom prst="roundRect">
            <a:avLst>
              <a:gd name="adj" fmla="val 8276"/>
            </a:avLst>
          </a:prstGeom>
          <a:solidFill>
            <a:srgbClr val="FDEBD9"/>
          </a:solidFill>
          <a:ln w="12700">
            <a:solidFill>
              <a:srgbClr val="FDEBD9"/>
            </a:solidFill>
            <a:prstDash val="solid"/>
          </a:ln>
        </p:spPr>
      </p:sp>
      <p:sp>
        <p:nvSpPr>
          <p:cNvPr id="40" name="Text 37"/>
          <p:cNvSpPr txBox="1"/>
          <p:nvPr/>
        </p:nvSpPr>
        <p:spPr>
          <a:xfrm>
            <a:off x="9281160" y="4818888"/>
            <a:ext cx="2286000" cy="411480"/>
          </a:xfrm>
          <a:prstGeom prst="rect">
            <a:avLst/>
          </a:prstGeom>
          <a:noFill/>
          <a:ln/>
        </p:spPr>
        <p:txBody>
          <a:bodyPr wrap="square" lIns="0" tIns="0" rIns="0" bIns="0" rtlCol="0" anchor="t"/>
          <a:lstStyle/>
          <a:p>
            <a:pPr indent="0" marL="0">
              <a:buNone/>
            </a:pPr>
            <a:r>
              <a:rPr lang="en-US" sz="1600" b="1" dirty="0">
                <a:solidFill>
                  <a:schemeClr val="tx2"/>
                </a:solidFill>
              </a:rPr>
              <a:t>Budget</a:t>
            </a:r>
            <a:endParaRPr lang="en-US" sz="1600" dirty="0"/>
          </a:p>
        </p:txBody>
      </p:sp>
      <p:sp>
        <p:nvSpPr>
          <p:cNvPr id="41" name="Text 38"/>
          <p:cNvSpPr txBox="1"/>
          <p:nvPr/>
        </p:nvSpPr>
        <p:spPr>
          <a:xfrm>
            <a:off x="9281160" y="5276088"/>
            <a:ext cx="2286000" cy="64008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48 h, node move at 12 h</a:t>
            </a:r>
            <a:endParaRPr lang="en-US" sz="13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Two goals, five questions</a:t>
            </a:r>
            <a:endParaRPr lang="en-US" sz="3200" dirty="0"/>
          </a:p>
        </p:txBody>
      </p:sp>
      <p:sp>
        <p:nvSpPr>
          <p:cNvPr id="4" name="Shape 1"/>
          <p:cNvSpPr/>
          <p:nvPr/>
        </p:nvSpPr>
        <p:spPr>
          <a:xfrm>
            <a:off x="548640" y="1280160"/>
            <a:ext cx="5486400" cy="4754880"/>
          </a:xfrm>
          <a:prstGeom prst="roundRect">
            <a:avLst>
              <a:gd name="adj" fmla="val 2308"/>
            </a:avLst>
          </a:prstGeom>
          <a:solidFill>
            <a:schemeClr val="bg2"/>
          </a:solidFill>
          <a:ln w="12700">
            <a:solidFill>
              <a:schemeClr val="bg2"/>
            </a:solidFill>
            <a:prstDash val="solid"/>
          </a:ln>
        </p:spPr>
      </p:sp>
      <p:sp>
        <p:nvSpPr>
          <p:cNvPr id="5" name="Text 2"/>
          <p:cNvSpPr txBox="1"/>
          <p:nvPr/>
        </p:nvSpPr>
        <p:spPr>
          <a:xfrm>
            <a:off x="731520" y="1389888"/>
            <a:ext cx="5120640" cy="411480"/>
          </a:xfrm>
          <a:prstGeom prst="rect">
            <a:avLst/>
          </a:prstGeom>
          <a:noFill/>
          <a:ln/>
        </p:spPr>
        <p:txBody>
          <a:bodyPr wrap="square" lIns="0" tIns="0" rIns="0" bIns="0" rtlCol="0" anchor="t"/>
          <a:lstStyle/>
          <a:p>
            <a:pPr indent="0" marL="0">
              <a:buNone/>
            </a:pPr>
            <a:r>
              <a:rPr lang="en-US" sz="1800" b="1" dirty="0">
                <a:solidFill>
                  <a:schemeClr val="tx2"/>
                </a:solidFill>
              </a:rPr>
              <a:t>Goal 1 · Is structure a molecular clock?</a:t>
            </a:r>
            <a:endParaRPr lang="en-US" sz="1800" dirty="0"/>
          </a:p>
        </p:txBody>
      </p:sp>
      <p:sp>
        <p:nvSpPr>
          <p:cNvPr id="6" name="Shape 3"/>
          <p:cNvSpPr/>
          <p:nvPr/>
        </p:nvSpPr>
        <p:spPr>
          <a:xfrm>
            <a:off x="822960" y="1965960"/>
            <a:ext cx="457200" cy="457200"/>
          </a:xfrm>
          <a:prstGeom prst="ellipse">
            <a:avLst/>
          </a:prstGeom>
          <a:solidFill>
            <a:schemeClr val="accent1"/>
          </a:solidFill>
          <a:ln w="12700">
            <a:solidFill>
              <a:schemeClr val="accent1"/>
            </a:solidFill>
            <a:prstDash val="solid"/>
          </a:ln>
        </p:spPr>
      </p:sp>
      <p:sp>
        <p:nvSpPr>
          <p:cNvPr id="7" name="Text 4"/>
          <p:cNvSpPr txBox="1"/>
          <p:nvPr/>
        </p:nvSpPr>
        <p:spPr>
          <a:xfrm>
            <a:off x="822960" y="1965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463040" y="1938528"/>
            <a:ext cx="4389120" cy="548640"/>
          </a:xfrm>
          <a:prstGeom prst="rect">
            <a:avLst/>
          </a:prstGeom>
          <a:noFill/>
          <a:ln/>
        </p:spPr>
        <p:txBody>
          <a:bodyPr wrap="square" lIns="0" tIns="0" rIns="0" bIns="0" rtlCol="0" anchor="ctr"/>
          <a:lstStyle/>
          <a:p>
            <a:pPr indent="0" marL="0">
              <a:buNone/>
            </a:pPr>
            <a:r>
              <a:rPr lang="en-US" sz="1600" dirty="0">
                <a:solidFill>
                  <a:schemeClr val="tx1"/>
                </a:solidFill>
              </a:rPr>
              <a:t>Shape: linear or saturating vs sequence?</a:t>
            </a:r>
            <a:endParaRPr lang="en-US" sz="1600" dirty="0"/>
          </a:p>
        </p:txBody>
      </p:sp>
      <p:sp>
        <p:nvSpPr>
          <p:cNvPr id="9" name="Shape 6"/>
          <p:cNvSpPr/>
          <p:nvPr/>
        </p:nvSpPr>
        <p:spPr>
          <a:xfrm>
            <a:off x="822960" y="2926080"/>
            <a:ext cx="457200" cy="457200"/>
          </a:xfrm>
          <a:prstGeom prst="ellipse">
            <a:avLst/>
          </a:prstGeom>
          <a:solidFill>
            <a:schemeClr val="accent1"/>
          </a:solidFill>
          <a:ln w="12700">
            <a:solidFill>
              <a:schemeClr val="accent1"/>
            </a:solidFill>
            <a:prstDash val="solid"/>
          </a:ln>
        </p:spPr>
      </p:sp>
      <p:sp>
        <p:nvSpPr>
          <p:cNvPr id="10" name="Text 7"/>
          <p:cNvSpPr txBox="1"/>
          <p:nvPr/>
        </p:nvSpPr>
        <p:spPr>
          <a:xfrm>
            <a:off x="822960" y="2926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1463040" y="2898648"/>
            <a:ext cx="4389120" cy="548640"/>
          </a:xfrm>
          <a:prstGeom prst="rect">
            <a:avLst/>
          </a:prstGeom>
          <a:noFill/>
          <a:ln/>
        </p:spPr>
        <p:txBody>
          <a:bodyPr wrap="square" lIns="0" tIns="0" rIns="0" bIns="0" rtlCol="0" anchor="ctr"/>
          <a:lstStyle/>
          <a:p>
            <a:pPr indent="0" marL="0">
              <a:buNone/>
            </a:pPr>
            <a:r>
              <a:rPr lang="en-US" sz="1600" dirty="0">
                <a:solidFill>
                  <a:schemeClr val="tx1"/>
                </a:solidFill>
              </a:rPr>
              <a:t>Ratio: how much slower than sequence?</a:t>
            </a:r>
            <a:endParaRPr lang="en-US" sz="1600" dirty="0"/>
          </a:p>
        </p:txBody>
      </p:sp>
      <p:sp>
        <p:nvSpPr>
          <p:cNvPr id="12" name="Shape 9"/>
          <p:cNvSpPr/>
          <p:nvPr/>
        </p:nvSpPr>
        <p:spPr>
          <a:xfrm>
            <a:off x="822960" y="3886200"/>
            <a:ext cx="457200" cy="457200"/>
          </a:xfrm>
          <a:prstGeom prst="ellipse">
            <a:avLst/>
          </a:prstGeom>
          <a:solidFill>
            <a:schemeClr val="accent1"/>
          </a:solidFill>
          <a:ln w="12700">
            <a:solidFill>
              <a:schemeClr val="accent1"/>
            </a:solidFill>
            <a:prstDash val="solid"/>
          </a:ln>
        </p:spPr>
      </p:sp>
      <p:sp>
        <p:nvSpPr>
          <p:cNvPr id="13" name="Text 10"/>
          <p:cNvSpPr txBox="1"/>
          <p:nvPr/>
        </p:nvSpPr>
        <p:spPr>
          <a:xfrm>
            <a:off x="822960" y="3886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1"/>
          <p:cNvSpPr txBox="1"/>
          <p:nvPr/>
        </p:nvSpPr>
        <p:spPr>
          <a:xfrm>
            <a:off x="1463040" y="3858768"/>
            <a:ext cx="4389120" cy="548640"/>
          </a:xfrm>
          <a:prstGeom prst="rect">
            <a:avLst/>
          </a:prstGeom>
          <a:noFill/>
          <a:ln/>
        </p:spPr>
        <p:txBody>
          <a:bodyPr wrap="square" lIns="0" tIns="0" rIns="0" bIns="0" rtlCol="0" anchor="ctr"/>
          <a:lstStyle/>
          <a:p>
            <a:pPr indent="0" marL="0">
              <a:buNone/>
            </a:pPr>
            <a:r>
              <a:rPr lang="en-US" sz="1600" dirty="0">
                <a:solidFill>
                  <a:schemeClr val="tx1"/>
                </a:solidFill>
              </a:rPr>
              <a:t>Time: same ratio on young and old branches?</a:t>
            </a:r>
            <a:endParaRPr lang="en-US" sz="1600" dirty="0"/>
          </a:p>
        </p:txBody>
      </p:sp>
      <p:sp>
        <p:nvSpPr>
          <p:cNvPr id="15" name="Shape 12"/>
          <p:cNvSpPr/>
          <p:nvPr/>
        </p:nvSpPr>
        <p:spPr>
          <a:xfrm>
            <a:off x="822960" y="4846320"/>
            <a:ext cx="457200" cy="457200"/>
          </a:xfrm>
          <a:prstGeom prst="ellipse">
            <a:avLst/>
          </a:prstGeom>
          <a:solidFill>
            <a:schemeClr val="accent1"/>
          </a:solidFill>
          <a:ln w="12700">
            <a:solidFill>
              <a:schemeClr val="accent1"/>
            </a:solidFill>
            <a:prstDash val="solid"/>
          </a:ln>
        </p:spPr>
      </p:sp>
      <p:sp>
        <p:nvSpPr>
          <p:cNvPr id="16" name="Text 13"/>
          <p:cNvSpPr txBox="1"/>
          <p:nvPr/>
        </p:nvSpPr>
        <p:spPr>
          <a:xfrm>
            <a:off x="822960" y="4846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 14"/>
          <p:cNvSpPr txBox="1"/>
          <p:nvPr/>
        </p:nvSpPr>
        <p:spPr>
          <a:xfrm>
            <a:off x="1463040" y="4818888"/>
            <a:ext cx="4389120" cy="548640"/>
          </a:xfrm>
          <a:prstGeom prst="rect">
            <a:avLst/>
          </a:prstGeom>
          <a:noFill/>
          <a:ln/>
        </p:spPr>
        <p:txBody>
          <a:bodyPr wrap="square" lIns="0" tIns="0" rIns="0" bIns="0" rtlCol="0" anchor="ctr"/>
          <a:lstStyle/>
          <a:p>
            <a:pPr indent="0" marL="0">
              <a:buNone/>
            </a:pPr>
            <a:r>
              <a:rPr lang="en-US" sz="1600" dirty="0">
                <a:solidFill>
                  <a:schemeClr val="tx1"/>
                </a:solidFill>
              </a:rPr>
              <a:t>Lineages: structure-specific rates?</a:t>
            </a:r>
            <a:endParaRPr lang="en-US" sz="1600" dirty="0"/>
          </a:p>
        </p:txBody>
      </p:sp>
      <p:sp>
        <p:nvSpPr>
          <p:cNvPr id="18" name="Shape 15"/>
          <p:cNvSpPr/>
          <p:nvPr/>
        </p:nvSpPr>
        <p:spPr>
          <a:xfrm>
            <a:off x="6309360" y="1280160"/>
            <a:ext cx="5394960" cy="4754880"/>
          </a:xfrm>
          <a:prstGeom prst="roundRect">
            <a:avLst>
              <a:gd name="adj" fmla="val 2308"/>
            </a:avLst>
          </a:prstGeom>
          <a:solidFill>
            <a:srgbClr val="FDEBD9"/>
          </a:solidFill>
          <a:ln w="12700">
            <a:solidFill>
              <a:srgbClr val="FDEBD9"/>
            </a:solidFill>
            <a:prstDash val="solid"/>
          </a:ln>
        </p:spPr>
      </p:sp>
      <p:sp>
        <p:nvSpPr>
          <p:cNvPr id="19" name="Text 16"/>
          <p:cNvSpPr txBox="1"/>
          <p:nvPr/>
        </p:nvSpPr>
        <p:spPr>
          <a:xfrm>
            <a:off x="6492240" y="1389888"/>
            <a:ext cx="5029200" cy="411480"/>
          </a:xfrm>
          <a:prstGeom prst="rect">
            <a:avLst/>
          </a:prstGeom>
          <a:noFill/>
          <a:ln/>
        </p:spPr>
        <p:txBody>
          <a:bodyPr wrap="square" lIns="0" tIns="0" rIns="0" bIns="0" rtlCol="0" anchor="t"/>
          <a:lstStyle/>
          <a:p>
            <a:pPr indent="0" marL="0">
              <a:buNone/>
            </a:pPr>
            <a:r>
              <a:rPr lang="en-US" sz="1800" b="1" dirty="0">
                <a:solidFill>
                  <a:schemeClr val="tx2"/>
                </a:solidFill>
              </a:rPr>
              <a:t>Goal 2 · AFDB clusters in the light of evolution</a:t>
            </a:r>
            <a:endParaRPr lang="en-US" sz="1800" dirty="0"/>
          </a:p>
        </p:txBody>
      </p:sp>
      <p:sp>
        <p:nvSpPr>
          <p:cNvPr id="20" name="Shape 17"/>
          <p:cNvSpPr/>
          <p:nvPr/>
        </p:nvSpPr>
        <p:spPr>
          <a:xfrm>
            <a:off x="6583680" y="1965960"/>
            <a:ext cx="457200" cy="457200"/>
          </a:xfrm>
          <a:prstGeom prst="ellipse">
            <a:avLst/>
          </a:prstGeom>
          <a:solidFill>
            <a:schemeClr val="accent2"/>
          </a:solidFill>
          <a:ln w="12700">
            <a:solidFill>
              <a:schemeClr val="accent2"/>
            </a:solidFill>
            <a:prstDash val="solid"/>
          </a:ln>
        </p:spPr>
      </p:sp>
      <p:sp>
        <p:nvSpPr>
          <p:cNvPr id="21" name="Text 18"/>
          <p:cNvSpPr txBox="1"/>
          <p:nvPr/>
        </p:nvSpPr>
        <p:spPr>
          <a:xfrm>
            <a:off x="6583680" y="1965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2" name="Text 19"/>
          <p:cNvSpPr txBox="1"/>
          <p:nvPr/>
        </p:nvSpPr>
        <p:spPr>
          <a:xfrm>
            <a:off x="7223760" y="1938528"/>
            <a:ext cx="4297680" cy="548640"/>
          </a:xfrm>
          <a:prstGeom prst="rect">
            <a:avLst/>
          </a:prstGeom>
          <a:noFill/>
          <a:ln/>
        </p:spPr>
        <p:txBody>
          <a:bodyPr wrap="square" lIns="0" tIns="0" rIns="0" bIns="0" rtlCol="0" anchor="ctr"/>
          <a:lstStyle/>
          <a:p>
            <a:pPr indent="0" marL="0">
              <a:buNone/>
            </a:pPr>
            <a:r>
              <a:rPr lang="en-US" sz="1600" dirty="0">
                <a:solidFill>
                  <a:schemeClr val="tx1"/>
                </a:solidFill>
              </a:rPr>
              <a:t>Duplication: do paralogs diverge more in structure?</a:t>
            </a:r>
            <a:endParaRPr lang="en-US" sz="1600" dirty="0"/>
          </a:p>
        </p:txBody>
      </p:sp>
      <p:sp>
        <p:nvSpPr>
          <p:cNvPr id="23" name="Shape 20"/>
          <p:cNvSpPr/>
          <p:nvPr/>
        </p:nvSpPr>
        <p:spPr>
          <a:xfrm>
            <a:off x="6583680" y="2926080"/>
            <a:ext cx="457200" cy="457200"/>
          </a:xfrm>
          <a:prstGeom prst="ellipse">
            <a:avLst/>
          </a:prstGeom>
          <a:solidFill>
            <a:schemeClr val="accent2"/>
          </a:solidFill>
          <a:ln w="12700">
            <a:solidFill>
              <a:schemeClr val="accent2"/>
            </a:solidFill>
            <a:prstDash val="solid"/>
          </a:ln>
        </p:spPr>
      </p:sp>
      <p:sp>
        <p:nvSpPr>
          <p:cNvPr id="24" name="Text 21"/>
          <p:cNvSpPr txBox="1"/>
          <p:nvPr/>
        </p:nvSpPr>
        <p:spPr>
          <a:xfrm>
            <a:off x="6583680" y="2926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5" name="Text 22"/>
          <p:cNvSpPr txBox="1"/>
          <p:nvPr/>
        </p:nvSpPr>
        <p:spPr>
          <a:xfrm>
            <a:off x="7223760" y="2898648"/>
            <a:ext cx="4297680" cy="548640"/>
          </a:xfrm>
          <a:prstGeom prst="rect">
            <a:avLst/>
          </a:prstGeom>
          <a:noFill/>
          <a:ln/>
        </p:spPr>
        <p:txBody>
          <a:bodyPr wrap="square" lIns="0" tIns="0" rIns="0" bIns="0" rtlCol="0" anchor="ctr"/>
          <a:lstStyle/>
          <a:p>
            <a:pPr indent="0" marL="0">
              <a:buNone/>
            </a:pPr>
            <a:r>
              <a:rPr lang="en-US" sz="1600" dirty="0">
                <a:solidFill>
                  <a:schemeClr val="tx1"/>
                </a:solidFill>
              </a:rPr>
              <a:t>Do structural clusters match ortholog groups?</a:t>
            </a:r>
            <a:endParaRPr lang="en-US" sz="1600" dirty="0"/>
          </a:p>
        </p:txBody>
      </p:sp>
      <p:sp>
        <p:nvSpPr>
          <p:cNvPr id="26" name="Shape 23"/>
          <p:cNvSpPr/>
          <p:nvPr/>
        </p:nvSpPr>
        <p:spPr>
          <a:xfrm>
            <a:off x="6583680" y="3886200"/>
            <a:ext cx="457200" cy="457200"/>
          </a:xfrm>
          <a:prstGeom prst="ellipse">
            <a:avLst/>
          </a:prstGeom>
          <a:solidFill>
            <a:schemeClr val="accent2"/>
          </a:solidFill>
          <a:ln w="12700">
            <a:solidFill>
              <a:schemeClr val="accent2"/>
            </a:solidFill>
            <a:prstDash val="solid"/>
          </a:ln>
        </p:spPr>
      </p:sp>
      <p:sp>
        <p:nvSpPr>
          <p:cNvPr id="27" name="Text 24"/>
          <p:cNvSpPr txBox="1"/>
          <p:nvPr/>
        </p:nvSpPr>
        <p:spPr>
          <a:xfrm>
            <a:off x="6583680" y="3886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28" name="Text 25"/>
          <p:cNvSpPr txBox="1"/>
          <p:nvPr/>
        </p:nvSpPr>
        <p:spPr>
          <a:xfrm>
            <a:off x="7223760" y="3858768"/>
            <a:ext cx="4297680" cy="548640"/>
          </a:xfrm>
          <a:prstGeom prst="rect">
            <a:avLst/>
          </a:prstGeom>
          <a:noFill/>
          <a:ln/>
        </p:spPr>
        <p:txBody>
          <a:bodyPr wrap="square" lIns="0" tIns="0" rIns="0" bIns="0" rtlCol="0" anchor="ctr"/>
          <a:lstStyle/>
          <a:p>
            <a:pPr indent="0" marL="0">
              <a:buNone/>
            </a:pPr>
            <a:r>
              <a:rPr lang="en-US" sz="1600" dirty="0">
                <a:solidFill>
                  <a:schemeClr val="tx1"/>
                </a:solidFill>
              </a:rPr>
              <a:t>Case studies: cytoskeleton &amp; kinases</a:t>
            </a:r>
            <a:endParaRPr lang="en-US" sz="16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24 hours of wall clock, two compute nodes</a:t>
            </a:r>
            <a:endParaRPr lang="en-US" sz="3200" dirty="0"/>
          </a:p>
        </p:txBody>
      </p:sp>
      <p:sp>
        <p:nvSpPr>
          <p:cNvPr id="4" name="Shape 1"/>
          <p:cNvSpPr/>
          <p:nvPr/>
        </p:nvSpPr>
        <p:spPr>
          <a:xfrm>
            <a:off x="640080" y="3291840"/>
            <a:ext cx="10881360" cy="0"/>
          </a:xfrm>
          <a:prstGeom prst="line">
            <a:avLst/>
          </a:prstGeom>
          <a:noFill/>
          <a:ln w="25400">
            <a:solidFill>
              <a:schemeClr val="accent4"/>
            </a:solidFill>
            <a:prstDash val="solid"/>
          </a:ln>
        </p:spPr>
      </p:sp>
      <p:sp>
        <p:nvSpPr>
          <p:cNvPr id="5" name="Shape 2"/>
          <p:cNvSpPr/>
          <p:nvPr/>
        </p:nvSpPr>
        <p:spPr>
          <a:xfrm>
            <a:off x="640080" y="3063240"/>
            <a:ext cx="4937760" cy="457200"/>
          </a:xfrm>
          <a:prstGeom prst="roundRect">
            <a:avLst>
              <a:gd name="adj" fmla="val 20000"/>
            </a:avLst>
          </a:prstGeom>
          <a:solidFill>
            <a:schemeClr val="accent1"/>
          </a:solidFill>
          <a:ln w="12700">
            <a:solidFill>
              <a:schemeClr val="accent1"/>
            </a:solidFill>
            <a:prstDash val="solid"/>
          </a:ln>
        </p:spPr>
      </p:sp>
      <p:sp>
        <p:nvSpPr>
          <p:cNvPr id="6" name="Text 3"/>
          <p:cNvSpPr txBox="1"/>
          <p:nvPr/>
        </p:nvSpPr>
        <p:spPr>
          <a:xfrm>
            <a:off x="640080" y="3063240"/>
            <a:ext cx="4937760" cy="457200"/>
          </a:xfrm>
          <a:prstGeom prst="rect">
            <a:avLst/>
          </a:prstGeom>
          <a:noFill/>
          <a:ln/>
        </p:spPr>
        <p:txBody>
          <a:bodyPr wrap="square" lIns="0" tIns="0" rIns="0" bIns="0" rtlCol="0" anchor="ctr"/>
          <a:lstStyle/>
          <a:p>
            <a:pPr algn="ctr" indent="0" marL="0">
              <a:buNone/>
            </a:pPr>
            <a:r>
              <a:rPr lang="en-US" sz="1400" b="1" dirty="0">
                <a:solidFill>
                  <a:schemeClr val="bg1"/>
                </a:solidFill>
              </a:rPr>
              <a:t>Node 1 · 10.9 h</a:t>
            </a:r>
            <a:endParaRPr lang="en-US" sz="1400" dirty="0"/>
          </a:p>
        </p:txBody>
      </p:sp>
      <p:sp>
        <p:nvSpPr>
          <p:cNvPr id="7" name="Shape 4"/>
          <p:cNvSpPr/>
          <p:nvPr/>
        </p:nvSpPr>
        <p:spPr>
          <a:xfrm>
            <a:off x="5943600" y="3063240"/>
            <a:ext cx="5577840" cy="457200"/>
          </a:xfrm>
          <a:prstGeom prst="roundRect">
            <a:avLst>
              <a:gd name="adj" fmla="val 20000"/>
            </a:avLst>
          </a:prstGeom>
          <a:solidFill>
            <a:schemeClr val="tx2"/>
          </a:solidFill>
          <a:ln w="12700">
            <a:solidFill>
              <a:schemeClr val="tx2"/>
            </a:solidFill>
            <a:prstDash val="solid"/>
          </a:ln>
        </p:spPr>
      </p:sp>
      <p:sp>
        <p:nvSpPr>
          <p:cNvPr id="8" name="Text 5"/>
          <p:cNvSpPr txBox="1"/>
          <p:nvPr/>
        </p:nvSpPr>
        <p:spPr>
          <a:xfrm>
            <a:off x="5943600" y="3063240"/>
            <a:ext cx="5577840" cy="457200"/>
          </a:xfrm>
          <a:prstGeom prst="rect">
            <a:avLst/>
          </a:prstGeom>
          <a:noFill/>
          <a:ln/>
        </p:spPr>
        <p:txBody>
          <a:bodyPr wrap="square" lIns="0" tIns="0" rIns="0" bIns="0" rtlCol="0" anchor="ctr"/>
          <a:lstStyle/>
          <a:p>
            <a:pPr algn="ctr" indent="0" marL="0">
              <a:buNone/>
            </a:pPr>
            <a:r>
              <a:rPr lang="en-US" sz="1400" b="1" dirty="0">
                <a:solidFill>
                  <a:schemeClr val="bg1"/>
                </a:solidFill>
              </a:rPr>
              <a:t>Node 2 · ~12 h</a:t>
            </a:r>
            <a:endParaRPr lang="en-US" sz="1400" dirty="0"/>
          </a:p>
        </p:txBody>
      </p:sp>
      <p:sp>
        <p:nvSpPr>
          <p:cNvPr id="9" name="Shape 6"/>
          <p:cNvSpPr/>
          <p:nvPr/>
        </p:nvSpPr>
        <p:spPr>
          <a:xfrm>
            <a:off x="777240" y="2606040"/>
            <a:ext cx="0" cy="457200"/>
          </a:xfrm>
          <a:prstGeom prst="line">
            <a:avLst/>
          </a:prstGeom>
          <a:noFill/>
          <a:ln w="12700">
            <a:solidFill>
              <a:schemeClr val="accent4"/>
            </a:solidFill>
            <a:prstDash val="solid"/>
          </a:ln>
        </p:spPr>
      </p:sp>
      <p:sp>
        <p:nvSpPr>
          <p:cNvPr id="10" name="Text 7"/>
          <p:cNvSpPr txBox="1"/>
          <p:nvPr/>
        </p:nvSpPr>
        <p:spPr>
          <a:xfrm>
            <a:off x="640080" y="1371600"/>
            <a:ext cx="1737360" cy="1188720"/>
          </a:xfrm>
          <a:prstGeom prst="rect">
            <a:avLst/>
          </a:prstGeom>
          <a:noFill/>
          <a:ln/>
        </p:spPr>
        <p:txBody>
          <a:bodyPr wrap="square" lIns="0" tIns="0" rIns="0" bIns="0" rtlCol="0" anchor="b"/>
          <a:lstStyle/>
          <a:p>
            <a:pPr indent="0" marL="0">
              <a:buNone/>
            </a:pPr>
            <a:r>
              <a:rPr lang="en-US" sz="1500" b="1" dirty="0">
                <a:solidFill>
                  <a:schemeClr val="tx2"/>
                </a:solidFill>
              </a:rPr>
              <a:t>Scouting</a:t>
            </a:r>
            <a:endParaRPr lang="en-US" sz="1500" dirty="0"/>
          </a:p>
          <a:p>
            <a:pPr indent="0" marL="0">
              <a:buNone/>
            </a:pPr>
            <a:r>
              <a:rPr lang="en-US" sz="1200" dirty="0">
                <a:solidFill>
                  <a:schemeClr val="tx1"/>
                </a:solidFill>
              </a:rPr>
              <a:t>literature, data, Ancestra, env</a:t>
            </a:r>
            <a:endParaRPr lang="en-US" sz="1500" dirty="0"/>
          </a:p>
        </p:txBody>
      </p:sp>
      <p:sp>
        <p:nvSpPr>
          <p:cNvPr id="11" name="Shape 8"/>
          <p:cNvSpPr/>
          <p:nvPr/>
        </p:nvSpPr>
        <p:spPr>
          <a:xfrm>
            <a:off x="1874520" y="3520440"/>
            <a:ext cx="0" cy="457200"/>
          </a:xfrm>
          <a:prstGeom prst="line">
            <a:avLst/>
          </a:prstGeom>
          <a:noFill/>
          <a:ln w="12700">
            <a:solidFill>
              <a:schemeClr val="accent4"/>
            </a:solidFill>
            <a:prstDash val="solid"/>
          </a:ln>
        </p:spPr>
      </p:sp>
      <p:sp>
        <p:nvSpPr>
          <p:cNvPr id="12" name="Text 9"/>
          <p:cNvSpPr txBox="1"/>
          <p:nvPr/>
        </p:nvSpPr>
        <p:spPr>
          <a:xfrm>
            <a:off x="1737360" y="3840480"/>
            <a:ext cx="1737360" cy="1188720"/>
          </a:xfrm>
          <a:prstGeom prst="rect">
            <a:avLst/>
          </a:prstGeom>
          <a:noFill/>
          <a:ln/>
        </p:spPr>
        <p:txBody>
          <a:bodyPr wrap="square" lIns="0" tIns="0" rIns="0" bIns="0" rtlCol="0" anchor="t"/>
          <a:lstStyle/>
          <a:p>
            <a:pPr indent="0" marL="0">
              <a:buNone/>
            </a:pPr>
            <a:r>
              <a:rPr lang="en-US" sz="1500" b="1" dirty="0">
                <a:solidFill>
                  <a:schemeClr val="tx2"/>
                </a:solidFill>
              </a:rPr>
              <a:t>Design</a:t>
            </a:r>
            <a:endParaRPr lang="en-US" sz="1500" dirty="0"/>
          </a:p>
          <a:p>
            <a:pPr indent="0" marL="0">
              <a:buNone/>
            </a:pPr>
            <a:r>
              <a:rPr lang="en-US" sz="1200" dirty="0">
                <a:solidFill>
                  <a:schemeClr val="tx1"/>
                </a:solidFill>
              </a:rPr>
              <a:t>3 review rounds</a:t>
            </a:r>
            <a:endParaRPr lang="en-US" sz="1500" dirty="0"/>
          </a:p>
        </p:txBody>
      </p:sp>
      <p:sp>
        <p:nvSpPr>
          <p:cNvPr id="13" name="Shape 10"/>
          <p:cNvSpPr/>
          <p:nvPr/>
        </p:nvSpPr>
        <p:spPr>
          <a:xfrm>
            <a:off x="2880360" y="2606040"/>
            <a:ext cx="0" cy="457200"/>
          </a:xfrm>
          <a:prstGeom prst="line">
            <a:avLst/>
          </a:prstGeom>
          <a:noFill/>
          <a:ln w="12700">
            <a:solidFill>
              <a:schemeClr val="accent4"/>
            </a:solidFill>
            <a:prstDash val="solid"/>
          </a:ln>
        </p:spPr>
      </p:sp>
      <p:sp>
        <p:nvSpPr>
          <p:cNvPr id="14" name="Text 11"/>
          <p:cNvSpPr txBox="1"/>
          <p:nvPr/>
        </p:nvSpPr>
        <p:spPr>
          <a:xfrm>
            <a:off x="2743200" y="1371600"/>
            <a:ext cx="1737360" cy="1188720"/>
          </a:xfrm>
          <a:prstGeom prst="rect">
            <a:avLst/>
          </a:prstGeom>
          <a:noFill/>
          <a:ln/>
        </p:spPr>
        <p:txBody>
          <a:bodyPr wrap="square" lIns="0" tIns="0" rIns="0" bIns="0" rtlCol="0" anchor="b"/>
          <a:lstStyle/>
          <a:p>
            <a:pPr indent="0" marL="0">
              <a:buNone/>
            </a:pPr>
            <a:r>
              <a:rPr lang="en-US" sz="1500" b="1" dirty="0">
                <a:solidFill>
                  <a:schemeClr val="tx2"/>
                </a:solidFill>
              </a:rPr>
              <a:t>Ancestra</a:t>
            </a:r>
            <a:endParaRPr lang="en-US" sz="1500" dirty="0"/>
          </a:p>
          <a:p>
            <a:pPr indent="0" marL="0">
              <a:buNone/>
            </a:pPr>
            <a:r>
              <a:rPr lang="en-US" sz="1200" dirty="0">
                <a:solidFill>
                  <a:schemeClr val="tx1"/>
                </a:solidFill>
              </a:rPr>
              <a:t>180 proteomes, 5 h</a:t>
            </a:r>
            <a:endParaRPr lang="en-US" sz="1500" dirty="0"/>
          </a:p>
        </p:txBody>
      </p:sp>
      <p:sp>
        <p:nvSpPr>
          <p:cNvPr id="15" name="Shape 12"/>
          <p:cNvSpPr/>
          <p:nvPr/>
        </p:nvSpPr>
        <p:spPr>
          <a:xfrm>
            <a:off x="4069080" y="3520440"/>
            <a:ext cx="0" cy="457200"/>
          </a:xfrm>
          <a:prstGeom prst="line">
            <a:avLst/>
          </a:prstGeom>
          <a:noFill/>
          <a:ln w="12700">
            <a:solidFill>
              <a:schemeClr val="accent4"/>
            </a:solidFill>
            <a:prstDash val="solid"/>
          </a:ln>
        </p:spPr>
      </p:sp>
      <p:sp>
        <p:nvSpPr>
          <p:cNvPr id="16" name="Text 13"/>
          <p:cNvSpPr txBox="1"/>
          <p:nvPr/>
        </p:nvSpPr>
        <p:spPr>
          <a:xfrm>
            <a:off x="3931920" y="3840480"/>
            <a:ext cx="1737360" cy="1188720"/>
          </a:xfrm>
          <a:prstGeom prst="rect">
            <a:avLst/>
          </a:prstGeom>
          <a:noFill/>
          <a:ln/>
        </p:spPr>
        <p:txBody>
          <a:bodyPr wrap="square" lIns="0" tIns="0" rIns="0" bIns="0" rtlCol="0" anchor="t"/>
          <a:lstStyle/>
          <a:p>
            <a:pPr indent="0" marL="0">
              <a:buNone/>
            </a:pPr>
            <a:r>
              <a:rPr lang="en-US" sz="1500" b="1" dirty="0">
                <a:solidFill>
                  <a:schemeClr val="tx2"/>
                </a:solidFill>
              </a:rPr>
              <a:t>Pairs</a:t>
            </a:r>
            <a:endParaRPr lang="en-US" sz="1500" dirty="0"/>
          </a:p>
          <a:p>
            <a:pPr indent="0" marL="0">
              <a:buNone/>
            </a:pPr>
            <a:r>
              <a:rPr lang="en-US" sz="1200" dirty="0">
                <a:solidFill>
                  <a:schemeClr val="tx1"/>
                </a:solidFill>
              </a:rPr>
              <a:t>1.4 M pairs × 3 alignments</a:t>
            </a:r>
            <a:endParaRPr lang="en-US" sz="1500" dirty="0"/>
          </a:p>
        </p:txBody>
      </p:sp>
      <p:sp>
        <p:nvSpPr>
          <p:cNvPr id="17" name="Shape 14"/>
          <p:cNvSpPr/>
          <p:nvPr/>
        </p:nvSpPr>
        <p:spPr>
          <a:xfrm>
            <a:off x="6080760" y="2606040"/>
            <a:ext cx="0" cy="457200"/>
          </a:xfrm>
          <a:prstGeom prst="line">
            <a:avLst/>
          </a:prstGeom>
          <a:noFill/>
          <a:ln w="12700">
            <a:solidFill>
              <a:schemeClr val="accent4"/>
            </a:solidFill>
            <a:prstDash val="solid"/>
          </a:ln>
        </p:spPr>
      </p:sp>
      <p:sp>
        <p:nvSpPr>
          <p:cNvPr id="18" name="Text 15"/>
          <p:cNvSpPr txBox="1"/>
          <p:nvPr/>
        </p:nvSpPr>
        <p:spPr>
          <a:xfrm>
            <a:off x="5943600" y="1371600"/>
            <a:ext cx="1737360" cy="1188720"/>
          </a:xfrm>
          <a:prstGeom prst="rect">
            <a:avLst/>
          </a:prstGeom>
          <a:noFill/>
          <a:ln/>
        </p:spPr>
        <p:txBody>
          <a:bodyPr wrap="square" lIns="0" tIns="0" rIns="0" bIns="0" rtlCol="0" anchor="b"/>
          <a:lstStyle/>
          <a:p>
            <a:pPr indent="0" marL="0">
              <a:buNone/>
            </a:pPr>
            <a:r>
              <a:rPr lang="en-US" sz="1500" b="1" dirty="0">
                <a:solidFill>
                  <a:schemeClr val="tx2"/>
                </a:solidFill>
              </a:rPr>
              <a:t>Tuning</a:t>
            </a:r>
            <a:endParaRPr lang="en-US" sz="1500" dirty="0"/>
          </a:p>
          <a:p>
            <a:pPr indent="0" marL="0">
              <a:buNone/>
            </a:pPr>
            <a:r>
              <a:rPr lang="en-US" sz="1200" dirty="0">
                <a:solidFill>
                  <a:schemeClr val="tx1"/>
                </a:solidFill>
              </a:rPr>
              <a:t>20% of families</a:t>
            </a:r>
            <a:endParaRPr lang="en-US" sz="1500" dirty="0"/>
          </a:p>
        </p:txBody>
      </p:sp>
      <p:sp>
        <p:nvSpPr>
          <p:cNvPr id="19" name="Shape 16"/>
          <p:cNvSpPr/>
          <p:nvPr/>
        </p:nvSpPr>
        <p:spPr>
          <a:xfrm>
            <a:off x="7360920" y="3520440"/>
            <a:ext cx="0" cy="457200"/>
          </a:xfrm>
          <a:prstGeom prst="line">
            <a:avLst/>
          </a:prstGeom>
          <a:noFill/>
          <a:ln w="12700">
            <a:solidFill>
              <a:schemeClr val="accent4"/>
            </a:solidFill>
            <a:prstDash val="solid"/>
          </a:ln>
        </p:spPr>
      </p:sp>
      <p:sp>
        <p:nvSpPr>
          <p:cNvPr id="20" name="Text 17"/>
          <p:cNvSpPr txBox="1"/>
          <p:nvPr/>
        </p:nvSpPr>
        <p:spPr>
          <a:xfrm>
            <a:off x="7223760" y="3840480"/>
            <a:ext cx="1737360" cy="1188720"/>
          </a:xfrm>
          <a:prstGeom prst="rect">
            <a:avLst/>
          </a:prstGeom>
          <a:noFill/>
          <a:ln/>
        </p:spPr>
        <p:txBody>
          <a:bodyPr wrap="square" lIns="0" tIns="0" rIns="0" bIns="0" rtlCol="0" anchor="t"/>
          <a:lstStyle/>
          <a:p>
            <a:pPr indent="0" marL="0">
              <a:buNone/>
            </a:pPr>
            <a:r>
              <a:rPr lang="en-US" sz="1500" b="1" dirty="0">
                <a:solidFill>
                  <a:schemeClr val="tx2"/>
                </a:solidFill>
              </a:rPr>
              <a:t>Freeze → confirm</a:t>
            </a:r>
            <a:endParaRPr lang="en-US" sz="1500" dirty="0"/>
          </a:p>
          <a:p>
            <a:pPr indent="0" marL="0">
              <a:buNone/>
            </a:pPr>
            <a:r>
              <a:rPr lang="en-US" sz="1200" dirty="0">
                <a:solidFill>
                  <a:schemeClr val="tx1"/>
                </a:solidFill>
              </a:rPr>
              <a:t>once, 80%</a:t>
            </a:r>
            <a:endParaRPr lang="en-US" sz="1500" dirty="0"/>
          </a:p>
        </p:txBody>
      </p:sp>
      <p:sp>
        <p:nvSpPr>
          <p:cNvPr id="21" name="Shape 18"/>
          <p:cNvSpPr/>
          <p:nvPr/>
        </p:nvSpPr>
        <p:spPr>
          <a:xfrm>
            <a:off x="8732520" y="2606040"/>
            <a:ext cx="0" cy="457200"/>
          </a:xfrm>
          <a:prstGeom prst="line">
            <a:avLst/>
          </a:prstGeom>
          <a:noFill/>
          <a:ln w="12700">
            <a:solidFill>
              <a:schemeClr val="accent4"/>
            </a:solidFill>
            <a:prstDash val="solid"/>
          </a:ln>
        </p:spPr>
      </p:sp>
      <p:sp>
        <p:nvSpPr>
          <p:cNvPr id="22" name="Text 19"/>
          <p:cNvSpPr txBox="1"/>
          <p:nvPr/>
        </p:nvSpPr>
        <p:spPr>
          <a:xfrm>
            <a:off x="8595360" y="1371600"/>
            <a:ext cx="1737360" cy="1188720"/>
          </a:xfrm>
          <a:prstGeom prst="rect">
            <a:avLst/>
          </a:prstGeom>
          <a:noFill/>
          <a:ln/>
        </p:spPr>
        <p:txBody>
          <a:bodyPr wrap="square" lIns="0" tIns="0" rIns="0" bIns="0" rtlCol="0" anchor="b"/>
          <a:lstStyle/>
          <a:p>
            <a:pPr indent="0" marL="0">
              <a:buNone/>
            </a:pPr>
            <a:r>
              <a:rPr lang="en-US" sz="1500" b="1" dirty="0">
                <a:solidFill>
                  <a:schemeClr val="tx2"/>
                </a:solidFill>
              </a:rPr>
              <a:t>Verify</a:t>
            </a:r>
            <a:endParaRPr lang="en-US" sz="1500" dirty="0"/>
          </a:p>
          <a:p>
            <a:pPr indent="0" marL="0">
              <a:buNone/>
            </a:pPr>
            <a:r>
              <a:rPr lang="en-US" sz="1200" dirty="0">
                <a:solidFill>
                  <a:schemeClr val="tx1"/>
                </a:solidFill>
              </a:rPr>
              <a:t>re-derive 42/42 · refute</a:t>
            </a:r>
            <a:endParaRPr lang="en-US" sz="1500" dirty="0"/>
          </a:p>
        </p:txBody>
      </p:sp>
      <p:sp>
        <p:nvSpPr>
          <p:cNvPr id="23" name="Shape 20"/>
          <p:cNvSpPr/>
          <p:nvPr/>
        </p:nvSpPr>
        <p:spPr>
          <a:xfrm>
            <a:off x="10195560" y="3520440"/>
            <a:ext cx="0" cy="457200"/>
          </a:xfrm>
          <a:prstGeom prst="line">
            <a:avLst/>
          </a:prstGeom>
          <a:noFill/>
          <a:ln w="12700">
            <a:solidFill>
              <a:schemeClr val="accent4"/>
            </a:solidFill>
            <a:prstDash val="solid"/>
          </a:ln>
        </p:spPr>
      </p:sp>
      <p:sp>
        <p:nvSpPr>
          <p:cNvPr id="24" name="Text 21"/>
          <p:cNvSpPr txBox="1"/>
          <p:nvPr/>
        </p:nvSpPr>
        <p:spPr>
          <a:xfrm>
            <a:off x="10058400" y="3840480"/>
            <a:ext cx="1737360" cy="1188720"/>
          </a:xfrm>
          <a:prstGeom prst="rect">
            <a:avLst/>
          </a:prstGeom>
          <a:noFill/>
          <a:ln/>
        </p:spPr>
        <p:txBody>
          <a:bodyPr wrap="square" lIns="0" tIns="0" rIns="0" bIns="0" rtlCol="0" anchor="t"/>
          <a:lstStyle/>
          <a:p>
            <a:pPr indent="0" marL="0">
              <a:buNone/>
            </a:pPr>
            <a:r>
              <a:rPr lang="en-US" sz="1500" b="1" dirty="0">
                <a:solidFill>
                  <a:schemeClr val="tx2"/>
                </a:solidFill>
              </a:rPr>
              <a:t>Report</a:t>
            </a:r>
            <a:endParaRPr lang="en-US" sz="1500" dirty="0"/>
          </a:p>
          <a:p>
            <a:pPr indent="0" marL="0">
              <a:buNone/>
            </a:pPr>
            <a:r>
              <a:rPr lang="en-US" sz="1200" dirty="0">
                <a:solidFill>
                  <a:schemeClr val="tx1"/>
                </a:solidFill>
              </a:rPr>
              <a:t>+ review</a:t>
            </a:r>
            <a:endParaRPr lang="en-US" sz="1500" dirty="0"/>
          </a:p>
        </p:txBody>
      </p:sp>
      <p:sp>
        <p:nvSpPr>
          <p:cNvPr id="25" name="Text 22"/>
          <p:cNvSpPr txBox="1"/>
          <p:nvPr/>
        </p:nvSpPr>
        <p:spPr>
          <a:xfrm>
            <a:off x="640080" y="5486400"/>
            <a:ext cx="10881360" cy="457200"/>
          </a:xfrm>
          <a:prstGeom prst="rect">
            <a:avLst/>
          </a:prstGeom>
          <a:noFill/>
          <a:ln/>
        </p:spPr>
        <p:txBody>
          <a:bodyPr wrap="square" rtlCol="0" anchor="ctr"/>
          <a:lstStyle/>
          <a:p>
            <a:pPr indent="0" marL="0">
              <a:buNone/>
            </a:pPr>
            <a:r>
              <a:rPr lang="en-US" sz="1400" i="1" dirty="0">
                <a:solidFill>
                  <a:schemeClr val="accent4"/>
                </a:solidFill>
              </a:rPr>
              <a:t>Node move at 20:30 on day 1 (checkpointed); resumed from the research tree on day 2.</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An AI research team: one PI agent, many specialists</a:t>
            </a:r>
            <a:endParaRPr lang="en-US" sz="3200" dirty="0"/>
          </a:p>
        </p:txBody>
      </p:sp>
      <p:pic>
        <p:nvPicPr>
          <p:cNvPr id="4" name="Image 0" descr="Organisation of the agent team">    </p:cNvPr>
          <p:cNvPicPr>
            <a:picLocks noChangeAspect="1"/>
          </p:cNvPicPr>
          <p:nvPr/>
        </p:nvPicPr>
        <p:blipFill>
          <a:blip r:embed="rId1"/>
          <a:stretch>
            <a:fillRect/>
          </a:stretch>
        </p:blipFill>
        <p:spPr>
          <a:xfrm>
            <a:off x="457200" y="1405890"/>
            <a:ext cx="7498080" cy="4686300"/>
          </a:xfrm>
          <a:prstGeom prst="rect">
            <a:avLst/>
          </a:prstGeom>
        </p:spPr>
      </p:pic>
      <p:sp>
        <p:nvSpPr>
          <p:cNvPr id="5" name="Text 1"/>
          <p:cNvSpPr txBox="1"/>
          <p:nvPr/>
        </p:nvSpPr>
        <p:spPr>
          <a:xfrm>
            <a:off x="8412480" y="1371600"/>
            <a:ext cx="329184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≈40</a:t>
            </a:r>
            <a:endParaRPr lang="en-US" sz="4400" dirty="0"/>
          </a:p>
        </p:txBody>
      </p:sp>
      <p:sp>
        <p:nvSpPr>
          <p:cNvPr id="6" name="Text 2"/>
          <p:cNvSpPr txBox="1"/>
          <p:nvPr/>
        </p:nvSpPr>
        <p:spPr>
          <a:xfrm>
            <a:off x="8412480" y="2194560"/>
            <a:ext cx="3291840" cy="640080"/>
          </a:xfrm>
          <a:prstGeom prst="rect">
            <a:avLst/>
          </a:prstGeom>
          <a:noFill/>
          <a:ln/>
        </p:spPr>
        <p:txBody>
          <a:bodyPr wrap="square" lIns="0" tIns="0" rIns="0" bIns="0" rtlCol="0" anchor="t"/>
          <a:lstStyle/>
          <a:p>
            <a:pPr indent="0" marL="0">
              <a:buNone/>
            </a:pPr>
            <a:r>
              <a:rPr lang="en-US" sz="1400" dirty="0">
                <a:solidFill>
                  <a:schemeClr val="tx1"/>
                </a:solidFill>
              </a:rPr>
              <a:t>subagent tasks with written reports</a:t>
            </a:r>
            <a:endParaRPr lang="en-US" sz="1400" dirty="0"/>
          </a:p>
        </p:txBody>
      </p:sp>
      <p:sp>
        <p:nvSpPr>
          <p:cNvPr id="7" name="Text 3"/>
          <p:cNvSpPr txBox="1"/>
          <p:nvPr/>
        </p:nvSpPr>
        <p:spPr>
          <a:xfrm>
            <a:off x="8412480" y="2926080"/>
            <a:ext cx="3291840" cy="82296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13</a:t>
            </a:r>
            <a:endParaRPr lang="en-US" sz="4400" dirty="0"/>
          </a:p>
        </p:txBody>
      </p:sp>
      <p:sp>
        <p:nvSpPr>
          <p:cNvPr id="8" name="Text 4"/>
          <p:cNvSpPr txBox="1"/>
          <p:nvPr/>
        </p:nvSpPr>
        <p:spPr>
          <a:xfrm>
            <a:off x="8412480" y="3749040"/>
            <a:ext cx="3291840" cy="640080"/>
          </a:xfrm>
          <a:prstGeom prst="rect">
            <a:avLst/>
          </a:prstGeom>
          <a:noFill/>
          <a:ln/>
        </p:spPr>
        <p:txBody>
          <a:bodyPr wrap="square" lIns="0" tIns="0" rIns="0" bIns="0" rtlCol="0" anchor="t"/>
          <a:lstStyle/>
          <a:p>
            <a:pPr indent="0" marL="0">
              <a:buNone/>
            </a:pPr>
            <a:r>
              <a:rPr lang="en-US" sz="1400" dirty="0">
                <a:solidFill>
                  <a:schemeClr val="tx1"/>
                </a:solidFill>
              </a:rPr>
              <a:t>independent reviews (design, results, report, retrospective)</a:t>
            </a:r>
            <a:endParaRPr lang="en-US" sz="1400" dirty="0"/>
          </a:p>
        </p:txBody>
      </p:sp>
      <p:sp>
        <p:nvSpPr>
          <p:cNvPr id="9" name="Text 5"/>
          <p:cNvSpPr txBox="1"/>
          <p:nvPr/>
        </p:nvSpPr>
        <p:spPr>
          <a:xfrm>
            <a:off x="8412480" y="4480560"/>
            <a:ext cx="3291840" cy="822960"/>
          </a:xfrm>
          <a:prstGeom prst="rect">
            <a:avLst/>
          </a:prstGeom>
          <a:noFill/>
          <a:ln/>
        </p:spPr>
        <p:txBody>
          <a:bodyPr wrap="square" lIns="0" tIns="0" rIns="0" bIns="0" rtlCol="0" anchor="ctr"/>
          <a:lstStyle/>
          <a:p>
            <a:pPr indent="0" marL="0">
              <a:buNone/>
            </a:pPr>
            <a:r>
              <a:rPr lang="en-US" sz="4400" b="1" dirty="0">
                <a:solidFill>
                  <a:schemeClr val="tx2"/>
                </a:solidFill>
                <a:latin typeface="Cambria" pitchFamily="34" charset="0"/>
                <a:ea typeface="Cambria" pitchFamily="34" charset="-122"/>
                <a:cs typeface="Cambria" pitchFamily="34" charset="-120"/>
              </a:rPr>
              <a:t>85+</a:t>
            </a:r>
            <a:endParaRPr lang="en-US" sz="4400" dirty="0"/>
          </a:p>
        </p:txBody>
      </p:sp>
      <p:sp>
        <p:nvSpPr>
          <p:cNvPr id="10" name="Text 6"/>
          <p:cNvSpPr txBox="1"/>
          <p:nvPr/>
        </p:nvSpPr>
        <p:spPr>
          <a:xfrm>
            <a:off x="8412480" y="5303520"/>
            <a:ext cx="3291840" cy="640080"/>
          </a:xfrm>
          <a:prstGeom prst="rect">
            <a:avLst/>
          </a:prstGeom>
          <a:noFill/>
          <a:ln/>
        </p:spPr>
        <p:txBody>
          <a:bodyPr wrap="square" lIns="0" tIns="0" rIns="0" bIns="0" rtlCol="0" anchor="t"/>
          <a:lstStyle/>
          <a:p>
            <a:pPr indent="0" marL="0">
              <a:buNone/>
            </a:pPr>
            <a:r>
              <a:rPr lang="en-US" sz="1400" dirty="0">
                <a:solidFill>
                  <a:schemeClr val="tx1"/>
                </a:solidFill>
              </a:rPr>
              <a:t>git commits: every decision traceable</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822960" y="2514600"/>
            <a:ext cx="1051560" cy="1051560"/>
          </a:xfrm>
          <a:prstGeom prst="ellipse">
            <a:avLst/>
          </a:prstGeom>
          <a:solidFill>
            <a:schemeClr val="accent2"/>
          </a:solidFill>
          <a:ln w="12700">
            <a:solidFill>
              <a:schemeClr val="accent2"/>
            </a:solidFill>
            <a:prstDash val="solid"/>
          </a:ln>
        </p:spPr>
      </p:sp>
      <p:sp>
        <p:nvSpPr>
          <p:cNvPr id="3" name="Text 1"/>
          <p:cNvSpPr txBox="1"/>
          <p:nvPr/>
        </p:nvSpPr>
        <p:spPr>
          <a:xfrm>
            <a:off x="822960" y="2514600"/>
            <a:ext cx="1051560" cy="1051560"/>
          </a:xfrm>
          <a:prstGeom prst="rect">
            <a:avLst/>
          </a:prstGeom>
          <a:noFill/>
          <a:ln/>
        </p:spPr>
        <p:txBody>
          <a:bodyPr wrap="square" rtlCol="0" anchor="ctr"/>
          <a:lstStyle/>
          <a:p>
            <a:pPr algn="ctr" indent="0" marL="0">
              <a:buNone/>
            </a:pPr>
            <a:r>
              <a:rPr lang="en-US" sz="3600" b="1" dirty="0">
                <a:solidFill>
                  <a:schemeClr val="tx2"/>
                </a:solidFill>
                <a:latin typeface="Cambria" pitchFamily="34" charset="0"/>
                <a:ea typeface="Cambria" pitchFamily="34" charset="-122"/>
                <a:cs typeface="Cambria" pitchFamily="34" charset="-120"/>
              </a:rPr>
              <a:t>3</a:t>
            </a:r>
            <a:endParaRPr lang="en-US" sz="3600" dirty="0"/>
          </a:p>
        </p:txBody>
      </p:sp>
      <p:sp>
        <p:nvSpPr>
          <p:cNvPr id="4" name="Text 0"/>
          <p:cNvSpPr/>
          <p:nvPr>
            <p:ph idx="100" type="title" hasCustomPrompt="1"/>
          </p:nvPr>
        </p:nvSpPr>
        <p:spPr>
          <a:xfrm>
            <a:off x="2103120" y="2468880"/>
            <a:ext cx="9326880" cy="1188720"/>
          </a:xfrm>
          <a:prstGeom prst="rect">
            <a:avLst/>
          </a:prstGeom>
          <a:noFill/>
          <a:ln/>
        </p:spPr>
        <p:txBody>
          <a:bodyPr wrap="square" rtlCol="0" anchor="ctr"/>
          <a:lstStyle/>
          <a:p>
            <a:pPr algn="l" indent="0" marL="0">
              <a:buNone/>
            </a:pPr>
            <a:r>
              <a:rPr lang="en-US" sz="4000" b="1" dirty="0">
                <a:solidFill>
                  <a:schemeClr val="bg1"/>
                </a:solidFill>
              </a:rPr>
              <a:t>How the method was decided</a:t>
            </a:r>
            <a:endParaRPr lang="en-US" sz="4000" dirty="0"/>
          </a:p>
        </p:txBody>
      </p:sp>
      <p:sp>
        <p:nvSpPr>
          <p:cNvPr id="5" name="Text 0"/>
          <p:cNvSpPr/>
          <p:nvPr>
            <p:ph idx="101" type="body" hasCustomPrompt="1"/>
          </p:nvPr>
        </p:nvSpPr>
        <p:spPr>
          <a:xfrm>
            <a:off x="2103120" y="3657600"/>
            <a:ext cx="9326880" cy="1097280"/>
          </a:xfrm>
          <a:prstGeom prst="rect">
            <a:avLst/>
          </a:prstGeom>
          <a:noFill/>
          <a:ln/>
        </p:spPr>
        <p:txBody>
          <a:bodyPr wrap="square" rtlCol="0" anchor="t"/>
          <a:lstStyle/>
          <a:p>
            <a:pPr indent="0" marL="0">
              <a:buNone/>
            </a:pPr>
            <a:r>
              <a:rPr lang="en-US" sz="1800" dirty="0">
                <a:solidFill>
                  <a:schemeClr val="bg2"/>
                </a:solidFill>
              </a:rPr>
              <a:t>Scout → design → independent critique → pilot → freeze</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Scouting first: four agents in parallel</a:t>
            </a:r>
            <a:endParaRPr lang="en-US" sz="3200" dirty="0"/>
          </a:p>
        </p:txBody>
      </p:sp>
      <p:sp>
        <p:nvSpPr>
          <p:cNvPr id="4" name="Shape 1"/>
          <p:cNvSpPr/>
          <p:nvPr/>
        </p:nvSpPr>
        <p:spPr>
          <a:xfrm>
            <a:off x="548640" y="1371600"/>
            <a:ext cx="2651760" cy="2377440"/>
          </a:xfrm>
          <a:prstGeom prst="roundRect">
            <a:avLst>
              <a:gd name="adj" fmla="val 4615"/>
            </a:avLst>
          </a:prstGeom>
          <a:solidFill>
            <a:schemeClr val="bg2"/>
          </a:solidFill>
          <a:ln w="12700">
            <a:solidFill>
              <a:schemeClr val="bg2"/>
            </a:solidFill>
            <a:prstDash val="solid"/>
          </a:ln>
        </p:spPr>
      </p:sp>
      <p:sp>
        <p:nvSpPr>
          <p:cNvPr id="5" name="Text 2"/>
          <p:cNvSpPr txBox="1"/>
          <p:nvPr/>
        </p:nvSpPr>
        <p:spPr>
          <a:xfrm>
            <a:off x="731520" y="1481328"/>
            <a:ext cx="2286000" cy="411480"/>
          </a:xfrm>
          <a:prstGeom prst="rect">
            <a:avLst/>
          </a:prstGeom>
          <a:noFill/>
          <a:ln/>
        </p:spPr>
        <p:txBody>
          <a:bodyPr wrap="square" lIns="0" tIns="0" rIns="0" bIns="0" rtlCol="0" anchor="t"/>
          <a:lstStyle/>
          <a:p>
            <a:pPr indent="0" marL="0">
              <a:buNone/>
            </a:pPr>
            <a:r>
              <a:rPr lang="en-US" sz="1800" b="1" dirty="0">
                <a:solidFill>
                  <a:schemeClr val="tx2"/>
                </a:solidFill>
              </a:rPr>
              <a:t>Literature</a:t>
            </a:r>
            <a:endParaRPr lang="en-US" sz="1800" dirty="0"/>
          </a:p>
        </p:txBody>
      </p:sp>
      <p:sp>
        <p:nvSpPr>
          <p:cNvPr id="6" name="Text 3"/>
          <p:cNvSpPr txBox="1"/>
          <p:nvPr/>
        </p:nvSpPr>
        <p:spPr>
          <a:xfrm>
            <a:off x="731520" y="1938528"/>
            <a:ext cx="2286000" cy="169164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Elofsson 2009 used substitutions, not time → a time test is new</a:t>
            </a:r>
            <a:endParaRPr lang="en-US" sz="1600" dirty="0"/>
          </a:p>
        </p:txBody>
      </p:sp>
      <p:sp>
        <p:nvSpPr>
          <p:cNvPr id="7" name="Shape 4"/>
          <p:cNvSpPr/>
          <p:nvPr/>
        </p:nvSpPr>
        <p:spPr>
          <a:xfrm>
            <a:off x="2606040" y="1463040"/>
            <a:ext cx="457200" cy="457200"/>
          </a:xfrm>
          <a:prstGeom prst="ellipse">
            <a:avLst/>
          </a:prstGeom>
          <a:solidFill>
            <a:schemeClr val="accent2"/>
          </a:solidFill>
          <a:ln w="12700">
            <a:solidFill>
              <a:schemeClr val="accent2"/>
            </a:solidFill>
            <a:prstDash val="solid"/>
          </a:ln>
        </p:spPr>
      </p:sp>
      <p:sp>
        <p:nvSpPr>
          <p:cNvPr id="8" name="Text 5"/>
          <p:cNvSpPr txBox="1"/>
          <p:nvPr/>
        </p:nvSpPr>
        <p:spPr>
          <a:xfrm>
            <a:off x="2606040" y="1463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Shape 6"/>
          <p:cNvSpPr/>
          <p:nvPr/>
        </p:nvSpPr>
        <p:spPr>
          <a:xfrm>
            <a:off x="3383280" y="1371600"/>
            <a:ext cx="2651760" cy="2377440"/>
          </a:xfrm>
          <a:prstGeom prst="roundRect">
            <a:avLst>
              <a:gd name="adj" fmla="val 4615"/>
            </a:avLst>
          </a:prstGeom>
          <a:solidFill>
            <a:schemeClr val="bg2"/>
          </a:solidFill>
          <a:ln w="12700">
            <a:solidFill>
              <a:schemeClr val="bg2"/>
            </a:solidFill>
            <a:prstDash val="solid"/>
          </a:ln>
        </p:spPr>
      </p:sp>
      <p:sp>
        <p:nvSpPr>
          <p:cNvPr id="10" name="Text 7"/>
          <p:cNvSpPr txBox="1"/>
          <p:nvPr/>
        </p:nvSpPr>
        <p:spPr>
          <a:xfrm>
            <a:off x="3566160" y="1481328"/>
            <a:ext cx="2286000" cy="411480"/>
          </a:xfrm>
          <a:prstGeom prst="rect">
            <a:avLst/>
          </a:prstGeom>
          <a:noFill/>
          <a:ln/>
        </p:spPr>
        <p:txBody>
          <a:bodyPr wrap="square" lIns="0" tIns="0" rIns="0" bIns="0" rtlCol="0" anchor="t"/>
          <a:lstStyle/>
          <a:p>
            <a:pPr indent="0" marL="0">
              <a:buNone/>
            </a:pPr>
            <a:r>
              <a:rPr lang="en-US" sz="1800" b="1" dirty="0">
                <a:solidFill>
                  <a:schemeClr val="tx2"/>
                </a:solidFill>
              </a:rPr>
              <a:t>Data</a:t>
            </a:r>
            <a:endParaRPr lang="en-US" sz="1800" dirty="0"/>
          </a:p>
        </p:txBody>
      </p:sp>
      <p:sp>
        <p:nvSpPr>
          <p:cNvPr id="11" name="Text 8"/>
          <p:cNvSpPr txBox="1"/>
          <p:nvPr/>
        </p:nvSpPr>
        <p:spPr>
          <a:xfrm>
            <a:off x="3566160" y="1938528"/>
            <a:ext cx="2286000" cy="169164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Cluster pairs are pre-filtered by structure → biased toward plateau</a:t>
            </a:r>
            <a:endParaRPr lang="en-US" sz="1600" dirty="0"/>
          </a:p>
        </p:txBody>
      </p:sp>
      <p:sp>
        <p:nvSpPr>
          <p:cNvPr id="12" name="Shape 9"/>
          <p:cNvSpPr/>
          <p:nvPr/>
        </p:nvSpPr>
        <p:spPr>
          <a:xfrm>
            <a:off x="5440680" y="1463040"/>
            <a:ext cx="457200" cy="457200"/>
          </a:xfrm>
          <a:prstGeom prst="ellipse">
            <a:avLst/>
          </a:prstGeom>
          <a:solidFill>
            <a:schemeClr val="accent2"/>
          </a:solidFill>
          <a:ln w="12700">
            <a:solidFill>
              <a:schemeClr val="accent2"/>
            </a:solidFill>
            <a:prstDash val="solid"/>
          </a:ln>
        </p:spPr>
      </p:sp>
      <p:sp>
        <p:nvSpPr>
          <p:cNvPr id="13" name="Text 10"/>
          <p:cNvSpPr txBox="1"/>
          <p:nvPr/>
        </p:nvSpPr>
        <p:spPr>
          <a:xfrm>
            <a:off x="5440680" y="1463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Shape 11"/>
          <p:cNvSpPr/>
          <p:nvPr/>
        </p:nvSpPr>
        <p:spPr>
          <a:xfrm>
            <a:off x="6217920" y="1371600"/>
            <a:ext cx="2651760" cy="2377440"/>
          </a:xfrm>
          <a:prstGeom prst="roundRect">
            <a:avLst>
              <a:gd name="adj" fmla="val 4615"/>
            </a:avLst>
          </a:prstGeom>
          <a:solidFill>
            <a:schemeClr val="bg2"/>
          </a:solidFill>
          <a:ln w="12700">
            <a:solidFill>
              <a:schemeClr val="bg2"/>
            </a:solidFill>
            <a:prstDash val="solid"/>
          </a:ln>
        </p:spPr>
      </p:sp>
      <p:sp>
        <p:nvSpPr>
          <p:cNvPr id="15" name="Text 12"/>
          <p:cNvSpPr txBox="1"/>
          <p:nvPr/>
        </p:nvSpPr>
        <p:spPr>
          <a:xfrm>
            <a:off x="6400800" y="1481328"/>
            <a:ext cx="2286000" cy="411480"/>
          </a:xfrm>
          <a:prstGeom prst="rect">
            <a:avLst/>
          </a:prstGeom>
          <a:noFill/>
          <a:ln/>
        </p:spPr>
        <p:txBody>
          <a:bodyPr wrap="square" lIns="0" tIns="0" rIns="0" bIns="0" rtlCol="0" anchor="t"/>
          <a:lstStyle/>
          <a:p>
            <a:pPr indent="0" marL="0">
              <a:buNone/>
            </a:pPr>
            <a:r>
              <a:rPr lang="en-US" sz="1800" b="1" dirty="0">
                <a:solidFill>
                  <a:schemeClr val="tx2"/>
                </a:solidFill>
              </a:rPr>
              <a:t>Orthology</a:t>
            </a:r>
            <a:endParaRPr lang="en-US" sz="1800" dirty="0"/>
          </a:p>
        </p:txBody>
      </p:sp>
      <p:sp>
        <p:nvSpPr>
          <p:cNvPr id="16" name="Text 13"/>
          <p:cNvSpPr txBox="1"/>
          <p:nvPr/>
        </p:nvSpPr>
        <p:spPr>
          <a:xfrm>
            <a:off x="6400800" y="1938528"/>
            <a:ext cx="2286000" cy="169164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Ancestra: 148/149 Ensembl orthologs; duplication timing only 36% right</a:t>
            </a:r>
            <a:endParaRPr lang="en-US" sz="1600" dirty="0"/>
          </a:p>
        </p:txBody>
      </p:sp>
      <p:sp>
        <p:nvSpPr>
          <p:cNvPr id="17" name="Shape 14"/>
          <p:cNvSpPr/>
          <p:nvPr/>
        </p:nvSpPr>
        <p:spPr>
          <a:xfrm>
            <a:off x="8275320" y="1463040"/>
            <a:ext cx="457200" cy="457200"/>
          </a:xfrm>
          <a:prstGeom prst="ellipse">
            <a:avLst/>
          </a:prstGeom>
          <a:solidFill>
            <a:schemeClr val="accent2"/>
          </a:solidFill>
          <a:ln w="12700">
            <a:solidFill>
              <a:schemeClr val="accent2"/>
            </a:solidFill>
            <a:prstDash val="solid"/>
          </a:ln>
        </p:spPr>
      </p:sp>
      <p:sp>
        <p:nvSpPr>
          <p:cNvPr id="18" name="Text 15"/>
          <p:cNvSpPr txBox="1"/>
          <p:nvPr/>
        </p:nvSpPr>
        <p:spPr>
          <a:xfrm>
            <a:off x="8275320" y="1463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Shape 16"/>
          <p:cNvSpPr/>
          <p:nvPr/>
        </p:nvSpPr>
        <p:spPr>
          <a:xfrm>
            <a:off x="9052560" y="1371600"/>
            <a:ext cx="2651760" cy="2377440"/>
          </a:xfrm>
          <a:prstGeom prst="roundRect">
            <a:avLst>
              <a:gd name="adj" fmla="val 4615"/>
            </a:avLst>
          </a:prstGeom>
          <a:solidFill>
            <a:schemeClr val="bg2"/>
          </a:solidFill>
          <a:ln w="12700">
            <a:solidFill>
              <a:schemeClr val="bg2"/>
            </a:solidFill>
            <a:prstDash val="solid"/>
          </a:ln>
        </p:spPr>
      </p:sp>
      <p:sp>
        <p:nvSpPr>
          <p:cNvPr id="20" name="Text 17"/>
          <p:cNvSpPr txBox="1"/>
          <p:nvPr/>
        </p:nvSpPr>
        <p:spPr>
          <a:xfrm>
            <a:off x="9235440" y="1481328"/>
            <a:ext cx="2286000" cy="411480"/>
          </a:xfrm>
          <a:prstGeom prst="rect">
            <a:avLst/>
          </a:prstGeom>
          <a:noFill/>
          <a:ln/>
        </p:spPr>
        <p:txBody>
          <a:bodyPr wrap="square" lIns="0" tIns="0" rIns="0" bIns="0" rtlCol="0" anchor="t"/>
          <a:lstStyle/>
          <a:p>
            <a:pPr indent="0" marL="0">
              <a:buNone/>
            </a:pPr>
            <a:r>
              <a:rPr lang="en-US" sz="1800" b="1" dirty="0">
                <a:solidFill>
                  <a:schemeClr val="tx2"/>
                </a:solidFill>
              </a:rPr>
              <a:t>Compute</a:t>
            </a:r>
            <a:endParaRPr lang="en-US" sz="1800" dirty="0"/>
          </a:p>
        </p:txBody>
      </p:sp>
      <p:sp>
        <p:nvSpPr>
          <p:cNvPr id="21" name="Text 18"/>
          <p:cNvSpPr txBox="1"/>
          <p:nvPr/>
        </p:nvSpPr>
        <p:spPr>
          <a:xfrm>
            <a:off x="9235440" y="1938528"/>
            <a:ext cx="2286000" cy="169164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Foldseek GPU works; dated trees reliable for eukaryotes only</a:t>
            </a:r>
            <a:endParaRPr lang="en-US" sz="1600" dirty="0"/>
          </a:p>
        </p:txBody>
      </p:sp>
      <p:sp>
        <p:nvSpPr>
          <p:cNvPr id="22" name="Shape 19"/>
          <p:cNvSpPr/>
          <p:nvPr/>
        </p:nvSpPr>
        <p:spPr>
          <a:xfrm>
            <a:off x="11109960" y="1463040"/>
            <a:ext cx="457200" cy="457200"/>
          </a:xfrm>
          <a:prstGeom prst="ellipse">
            <a:avLst/>
          </a:prstGeom>
          <a:solidFill>
            <a:schemeClr val="accent2"/>
          </a:solidFill>
          <a:ln w="12700">
            <a:solidFill>
              <a:schemeClr val="accent2"/>
            </a:solidFill>
            <a:prstDash val="solid"/>
          </a:ln>
        </p:spPr>
      </p:sp>
      <p:sp>
        <p:nvSpPr>
          <p:cNvPr id="23" name="Text 20"/>
          <p:cNvSpPr txBox="1"/>
          <p:nvPr/>
        </p:nvSpPr>
        <p:spPr>
          <a:xfrm>
            <a:off x="11109960" y="1463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Text 21"/>
          <p:cNvSpPr txBox="1"/>
          <p:nvPr/>
        </p:nvSpPr>
        <p:spPr>
          <a:xfrm>
            <a:off x="548640" y="4114800"/>
            <a:ext cx="11064240" cy="914400"/>
          </a:xfrm>
          <a:prstGeom prst="rect">
            <a:avLst/>
          </a:prstGeom>
          <a:noFill/>
          <a:ln/>
        </p:spPr>
        <p:txBody>
          <a:bodyPr wrap="square" rtlCol="0" anchor="ctr"/>
          <a:lstStyle/>
          <a:p>
            <a:pPr indent="0" marL="0">
              <a:buNone/>
            </a:pPr>
            <a:r>
              <a:rPr lang="en-US" sz="1800" b="1" dirty="0">
                <a:solidFill>
                  <a:schemeClr val="tx2"/>
                </a:solidFill>
              </a:rPr>
              <a:t>→ Design choices: eukaryote panel with dated tree · orthologs chosen by sequence only · never trust duplication ages · measure the AlphaFold bias</a:t>
            </a:r>
            <a:endParaRPr lang="en-US" sz="18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Design by independent critique: 5 → 3 → 1 reviewers</a:t>
            </a:r>
            <a:endParaRPr lang="en-US" sz="3200" dirty="0"/>
          </a:p>
        </p:txBody>
      </p:sp>
      <p:sp>
        <p:nvSpPr>
          <p:cNvPr id="4" name="Shape 1"/>
          <p:cNvSpPr/>
          <p:nvPr/>
        </p:nvSpPr>
        <p:spPr>
          <a:xfrm>
            <a:off x="731520" y="1463040"/>
            <a:ext cx="329184" cy="329184"/>
          </a:xfrm>
          <a:prstGeom prst="ellipse">
            <a:avLst/>
          </a:prstGeom>
          <a:solidFill>
            <a:schemeClr val="accent1"/>
          </a:solidFill>
          <a:ln w="12700">
            <a:solidFill>
              <a:schemeClr val="bg1"/>
            </a:solidFill>
            <a:prstDash val="solid"/>
          </a:ln>
        </p:spPr>
      </p:sp>
      <p:sp>
        <p:nvSpPr>
          <p:cNvPr id="5" name="Shape 2"/>
          <p:cNvSpPr/>
          <p:nvPr/>
        </p:nvSpPr>
        <p:spPr>
          <a:xfrm>
            <a:off x="1115568" y="1463040"/>
            <a:ext cx="329184" cy="329184"/>
          </a:xfrm>
          <a:prstGeom prst="ellipse">
            <a:avLst/>
          </a:prstGeom>
          <a:solidFill>
            <a:schemeClr val="accent1"/>
          </a:solidFill>
          <a:ln w="12700">
            <a:solidFill>
              <a:schemeClr val="bg1"/>
            </a:solidFill>
            <a:prstDash val="solid"/>
          </a:ln>
        </p:spPr>
      </p:sp>
      <p:sp>
        <p:nvSpPr>
          <p:cNvPr id="6" name="Shape 3"/>
          <p:cNvSpPr/>
          <p:nvPr/>
        </p:nvSpPr>
        <p:spPr>
          <a:xfrm>
            <a:off x="1499616" y="1463040"/>
            <a:ext cx="329184" cy="329184"/>
          </a:xfrm>
          <a:prstGeom prst="ellipse">
            <a:avLst/>
          </a:prstGeom>
          <a:solidFill>
            <a:schemeClr val="accent1"/>
          </a:solidFill>
          <a:ln w="12700">
            <a:solidFill>
              <a:schemeClr val="bg1"/>
            </a:solidFill>
            <a:prstDash val="solid"/>
          </a:ln>
        </p:spPr>
      </p:sp>
      <p:sp>
        <p:nvSpPr>
          <p:cNvPr id="7" name="Shape 4"/>
          <p:cNvSpPr/>
          <p:nvPr/>
        </p:nvSpPr>
        <p:spPr>
          <a:xfrm>
            <a:off x="731520" y="1847088"/>
            <a:ext cx="329184" cy="329184"/>
          </a:xfrm>
          <a:prstGeom prst="ellipse">
            <a:avLst/>
          </a:prstGeom>
          <a:solidFill>
            <a:schemeClr val="accent1"/>
          </a:solidFill>
          <a:ln w="12700">
            <a:solidFill>
              <a:schemeClr val="bg1"/>
            </a:solidFill>
            <a:prstDash val="solid"/>
          </a:ln>
        </p:spPr>
      </p:sp>
      <p:sp>
        <p:nvSpPr>
          <p:cNvPr id="8" name="Shape 5"/>
          <p:cNvSpPr/>
          <p:nvPr/>
        </p:nvSpPr>
        <p:spPr>
          <a:xfrm>
            <a:off x="1115568" y="1847088"/>
            <a:ext cx="329184" cy="329184"/>
          </a:xfrm>
          <a:prstGeom prst="ellipse">
            <a:avLst/>
          </a:prstGeom>
          <a:solidFill>
            <a:schemeClr val="accent1"/>
          </a:solidFill>
          <a:ln w="12700">
            <a:solidFill>
              <a:schemeClr val="bg1"/>
            </a:solidFill>
            <a:prstDash val="solid"/>
          </a:ln>
        </p:spPr>
      </p:sp>
      <p:sp>
        <p:nvSpPr>
          <p:cNvPr id="9" name="Text 6"/>
          <p:cNvSpPr txBox="1"/>
          <p:nvPr/>
        </p:nvSpPr>
        <p:spPr>
          <a:xfrm>
            <a:off x="640080" y="2331720"/>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Round 1</a:t>
            </a:r>
            <a:endParaRPr lang="en-US" sz="1400" dirty="0"/>
          </a:p>
        </p:txBody>
      </p:sp>
      <p:sp>
        <p:nvSpPr>
          <p:cNvPr id="10" name="Shape 7"/>
          <p:cNvSpPr/>
          <p:nvPr/>
        </p:nvSpPr>
        <p:spPr>
          <a:xfrm>
            <a:off x="2194560" y="1463040"/>
            <a:ext cx="329184" cy="329184"/>
          </a:xfrm>
          <a:prstGeom prst="ellipse">
            <a:avLst/>
          </a:prstGeom>
          <a:solidFill>
            <a:schemeClr val="accent5"/>
          </a:solidFill>
          <a:ln w="12700">
            <a:solidFill>
              <a:schemeClr val="bg1"/>
            </a:solidFill>
            <a:prstDash val="solid"/>
          </a:ln>
        </p:spPr>
      </p:sp>
      <p:sp>
        <p:nvSpPr>
          <p:cNvPr id="11" name="Shape 8"/>
          <p:cNvSpPr/>
          <p:nvPr/>
        </p:nvSpPr>
        <p:spPr>
          <a:xfrm>
            <a:off x="2578608" y="1463040"/>
            <a:ext cx="329184" cy="329184"/>
          </a:xfrm>
          <a:prstGeom prst="ellipse">
            <a:avLst/>
          </a:prstGeom>
          <a:solidFill>
            <a:schemeClr val="accent5"/>
          </a:solidFill>
          <a:ln w="12700">
            <a:solidFill>
              <a:schemeClr val="bg1"/>
            </a:solidFill>
            <a:prstDash val="solid"/>
          </a:ln>
        </p:spPr>
      </p:sp>
      <p:sp>
        <p:nvSpPr>
          <p:cNvPr id="12" name="Shape 9"/>
          <p:cNvSpPr/>
          <p:nvPr/>
        </p:nvSpPr>
        <p:spPr>
          <a:xfrm>
            <a:off x="2962656" y="1463040"/>
            <a:ext cx="329184" cy="329184"/>
          </a:xfrm>
          <a:prstGeom prst="ellipse">
            <a:avLst/>
          </a:prstGeom>
          <a:solidFill>
            <a:schemeClr val="accent5"/>
          </a:solidFill>
          <a:ln w="12700">
            <a:solidFill>
              <a:schemeClr val="bg1"/>
            </a:solidFill>
            <a:prstDash val="solid"/>
          </a:ln>
        </p:spPr>
      </p:sp>
      <p:sp>
        <p:nvSpPr>
          <p:cNvPr id="13" name="Text 10"/>
          <p:cNvSpPr txBox="1"/>
          <p:nvPr/>
        </p:nvSpPr>
        <p:spPr>
          <a:xfrm>
            <a:off x="2103120" y="2331720"/>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Round 2</a:t>
            </a:r>
            <a:endParaRPr lang="en-US" sz="1400" dirty="0"/>
          </a:p>
        </p:txBody>
      </p:sp>
      <p:sp>
        <p:nvSpPr>
          <p:cNvPr id="14" name="Shape 11"/>
          <p:cNvSpPr/>
          <p:nvPr/>
        </p:nvSpPr>
        <p:spPr>
          <a:xfrm>
            <a:off x="3657600" y="1463040"/>
            <a:ext cx="329184" cy="329184"/>
          </a:xfrm>
          <a:prstGeom prst="ellipse">
            <a:avLst/>
          </a:prstGeom>
          <a:solidFill>
            <a:schemeClr val="tx2"/>
          </a:solidFill>
          <a:ln w="12700">
            <a:solidFill>
              <a:schemeClr val="bg1"/>
            </a:solidFill>
            <a:prstDash val="solid"/>
          </a:ln>
        </p:spPr>
      </p:sp>
      <p:sp>
        <p:nvSpPr>
          <p:cNvPr id="15" name="Text 12"/>
          <p:cNvSpPr txBox="1"/>
          <p:nvPr/>
        </p:nvSpPr>
        <p:spPr>
          <a:xfrm>
            <a:off x="3566160" y="2331720"/>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Round 3</a:t>
            </a:r>
            <a:endParaRPr lang="en-US" sz="1400" dirty="0"/>
          </a:p>
        </p:txBody>
      </p:sp>
      <p:sp>
        <p:nvSpPr>
          <p:cNvPr id="16" name="Shape 13"/>
          <p:cNvSpPr/>
          <p:nvPr/>
        </p:nvSpPr>
        <p:spPr>
          <a:xfrm>
            <a:off x="5303520" y="1371600"/>
            <a:ext cx="411480" cy="411480"/>
          </a:xfrm>
          <a:prstGeom prst="ellipse">
            <a:avLst/>
          </a:prstGeom>
          <a:solidFill>
            <a:schemeClr val="accent1"/>
          </a:solidFill>
          <a:ln w="12700">
            <a:solidFill>
              <a:schemeClr val="accent1"/>
            </a:solidFill>
            <a:prstDash val="solid"/>
          </a:ln>
        </p:spPr>
      </p:sp>
      <p:sp>
        <p:nvSpPr>
          <p:cNvPr id="17" name="Text 14"/>
          <p:cNvSpPr txBox="1"/>
          <p:nvPr/>
        </p:nvSpPr>
        <p:spPr>
          <a:xfrm>
            <a:off x="5303520" y="13716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8" name="Text 15"/>
          <p:cNvSpPr txBox="1"/>
          <p:nvPr/>
        </p:nvSpPr>
        <p:spPr>
          <a:xfrm>
            <a:off x="5897880" y="1325880"/>
            <a:ext cx="5852160" cy="548640"/>
          </a:xfrm>
          <a:prstGeom prst="rect">
            <a:avLst/>
          </a:prstGeom>
          <a:noFill/>
          <a:ln/>
        </p:spPr>
        <p:txBody>
          <a:bodyPr wrap="square" lIns="0" tIns="0" rIns="0" bIns="0" rtlCol="0" anchor="ctr"/>
          <a:lstStyle/>
          <a:p>
            <a:pPr indent="0" marL="0">
              <a:buNone/>
            </a:pPr>
            <a:r>
              <a:rPr lang="en-US" sz="1600" dirty="0">
                <a:solidFill>
                  <a:schemeClr val="tx1"/>
                </a:solidFill>
              </a:rPr>
              <a:t>Branch lengths on the dated species tree replace pair medians</a:t>
            </a:r>
            <a:endParaRPr lang="en-US" sz="1600" dirty="0"/>
          </a:p>
        </p:txBody>
      </p:sp>
      <p:sp>
        <p:nvSpPr>
          <p:cNvPr id="19" name="Shape 16"/>
          <p:cNvSpPr/>
          <p:nvPr/>
        </p:nvSpPr>
        <p:spPr>
          <a:xfrm>
            <a:off x="5303520" y="2267712"/>
            <a:ext cx="411480" cy="411480"/>
          </a:xfrm>
          <a:prstGeom prst="ellipse">
            <a:avLst/>
          </a:prstGeom>
          <a:solidFill>
            <a:schemeClr val="accent1"/>
          </a:solidFill>
          <a:ln w="12700">
            <a:solidFill>
              <a:schemeClr val="accent1"/>
            </a:solidFill>
            <a:prstDash val="solid"/>
          </a:ln>
        </p:spPr>
      </p:sp>
      <p:sp>
        <p:nvSpPr>
          <p:cNvPr id="20" name="Text 17"/>
          <p:cNvSpPr txBox="1"/>
          <p:nvPr/>
        </p:nvSpPr>
        <p:spPr>
          <a:xfrm>
            <a:off x="5303520" y="2267712"/>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1" name="Text 18"/>
          <p:cNvSpPr txBox="1"/>
          <p:nvPr/>
        </p:nvSpPr>
        <p:spPr>
          <a:xfrm>
            <a:off x="5897880" y="2221992"/>
            <a:ext cx="5852160" cy="548640"/>
          </a:xfrm>
          <a:prstGeom prst="rect">
            <a:avLst/>
          </a:prstGeom>
          <a:noFill/>
          <a:ln/>
        </p:spPr>
        <p:txBody>
          <a:bodyPr wrap="square" lIns="0" tIns="0" rIns="0" bIns="0" rtlCol="0" anchor="ctr"/>
          <a:lstStyle/>
          <a:p>
            <a:pPr indent="0" marL="0">
              <a:buNone/>
            </a:pPr>
            <a:r>
              <a:rPr lang="en-US" sz="1600" dirty="0">
                <a:solidFill>
                  <a:schemeClr val="tx1"/>
                </a:solidFill>
              </a:rPr>
              <a:t>Pre-set decision rules (equivalence margins) replace AIC/BIC</a:t>
            </a:r>
            <a:endParaRPr lang="en-US" sz="1600" dirty="0"/>
          </a:p>
        </p:txBody>
      </p:sp>
      <p:sp>
        <p:nvSpPr>
          <p:cNvPr id="22" name="Shape 19"/>
          <p:cNvSpPr/>
          <p:nvPr/>
        </p:nvSpPr>
        <p:spPr>
          <a:xfrm>
            <a:off x="5303520" y="3163824"/>
            <a:ext cx="411480" cy="411480"/>
          </a:xfrm>
          <a:prstGeom prst="ellipse">
            <a:avLst/>
          </a:prstGeom>
          <a:solidFill>
            <a:schemeClr val="accent1"/>
          </a:solidFill>
          <a:ln w="12700">
            <a:solidFill>
              <a:schemeClr val="accent1"/>
            </a:solidFill>
            <a:prstDash val="solid"/>
          </a:ln>
        </p:spPr>
      </p:sp>
      <p:sp>
        <p:nvSpPr>
          <p:cNvPr id="23" name="Text 20"/>
          <p:cNvSpPr txBox="1"/>
          <p:nvPr/>
        </p:nvSpPr>
        <p:spPr>
          <a:xfrm>
            <a:off x="5303520" y="3163824"/>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4" name="Text 21"/>
          <p:cNvSpPr txBox="1"/>
          <p:nvPr/>
        </p:nvSpPr>
        <p:spPr>
          <a:xfrm>
            <a:off x="5897880" y="3118104"/>
            <a:ext cx="5852160" cy="548640"/>
          </a:xfrm>
          <a:prstGeom prst="rect">
            <a:avLst/>
          </a:prstGeom>
          <a:noFill/>
          <a:ln/>
        </p:spPr>
        <p:txBody>
          <a:bodyPr wrap="square" lIns="0" tIns="0" rIns="0" bIns="0" rtlCol="0" anchor="ctr"/>
          <a:lstStyle/>
          <a:p>
            <a:pPr indent="0" marL="0">
              <a:buNone/>
            </a:pPr>
            <a:r>
              <a:rPr lang="en-US" sz="1600" dirty="0">
                <a:solidFill>
                  <a:schemeClr val="tx1"/>
                </a:solidFill>
              </a:rPr>
              <a:t>Positive control (duplication) + power checks</a:t>
            </a:r>
            <a:endParaRPr lang="en-US" sz="1600" dirty="0"/>
          </a:p>
        </p:txBody>
      </p:sp>
      <p:sp>
        <p:nvSpPr>
          <p:cNvPr id="25" name="Shape 22"/>
          <p:cNvSpPr/>
          <p:nvPr/>
        </p:nvSpPr>
        <p:spPr>
          <a:xfrm>
            <a:off x="5303520" y="4059936"/>
            <a:ext cx="411480" cy="411480"/>
          </a:xfrm>
          <a:prstGeom prst="ellipse">
            <a:avLst/>
          </a:prstGeom>
          <a:solidFill>
            <a:schemeClr val="accent1"/>
          </a:solidFill>
          <a:ln w="12700">
            <a:solidFill>
              <a:schemeClr val="accent1"/>
            </a:solidFill>
            <a:prstDash val="solid"/>
          </a:ln>
        </p:spPr>
      </p:sp>
      <p:sp>
        <p:nvSpPr>
          <p:cNvPr id="26" name="Text 23"/>
          <p:cNvSpPr txBox="1"/>
          <p:nvPr/>
        </p:nvSpPr>
        <p:spPr>
          <a:xfrm>
            <a:off x="5303520" y="4059936"/>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7" name="Text 24"/>
          <p:cNvSpPr txBox="1"/>
          <p:nvPr/>
        </p:nvSpPr>
        <p:spPr>
          <a:xfrm>
            <a:off x="5897880" y="4014216"/>
            <a:ext cx="5852160" cy="548640"/>
          </a:xfrm>
          <a:prstGeom prst="rect">
            <a:avLst/>
          </a:prstGeom>
          <a:noFill/>
          <a:ln/>
        </p:spPr>
        <p:txBody>
          <a:bodyPr wrap="square" lIns="0" tIns="0" rIns="0" bIns="0" rtlCol="0" anchor="ctr"/>
          <a:lstStyle/>
          <a:p>
            <a:pPr indent="0" marL="0">
              <a:buNone/>
            </a:pPr>
            <a:r>
              <a:rPr lang="en-US" sz="1600" dirty="0">
                <a:solidFill>
                  <a:schemeClr val="tx1"/>
                </a:solidFill>
              </a:rPr>
              <a:t>Tune on 20%, confirm once on 80%; Holm correction</a:t>
            </a:r>
            <a:endParaRPr lang="en-US" sz="1600" dirty="0"/>
          </a:p>
        </p:txBody>
      </p:sp>
      <p:sp>
        <p:nvSpPr>
          <p:cNvPr id="28" name="Shape 25"/>
          <p:cNvSpPr/>
          <p:nvPr/>
        </p:nvSpPr>
        <p:spPr>
          <a:xfrm>
            <a:off x="5303520" y="4956048"/>
            <a:ext cx="411480" cy="411480"/>
          </a:xfrm>
          <a:prstGeom prst="ellipse">
            <a:avLst/>
          </a:prstGeom>
          <a:solidFill>
            <a:schemeClr val="accent1"/>
          </a:solidFill>
          <a:ln w="12700">
            <a:solidFill>
              <a:schemeClr val="accent1"/>
            </a:solidFill>
            <a:prstDash val="solid"/>
          </a:ln>
        </p:spPr>
      </p:sp>
      <p:sp>
        <p:nvSpPr>
          <p:cNvPr id="29" name="Text 26"/>
          <p:cNvSpPr txBox="1"/>
          <p:nvPr/>
        </p:nvSpPr>
        <p:spPr>
          <a:xfrm>
            <a:off x="5303520" y="4956048"/>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30" name="Text 27"/>
          <p:cNvSpPr txBox="1"/>
          <p:nvPr/>
        </p:nvSpPr>
        <p:spPr>
          <a:xfrm>
            <a:off x="5897880" y="4910328"/>
            <a:ext cx="5852160" cy="548640"/>
          </a:xfrm>
          <a:prstGeom prst="rect">
            <a:avLst/>
          </a:prstGeom>
          <a:noFill/>
          <a:ln/>
        </p:spPr>
        <p:txBody>
          <a:bodyPr wrap="square" lIns="0" tIns="0" rIns="0" bIns="0" rtlCol="0" anchor="ctr"/>
          <a:lstStyle/>
          <a:p>
            <a:pPr indent="0" marL="0">
              <a:buNone/>
            </a:pPr>
            <a:r>
              <a:rPr lang="en-US" sz="1600" dirty="0">
                <a:solidFill>
                  <a:schemeClr val="tx1"/>
                </a:solidFill>
              </a:rPr>
              <a:t>Noise floors; errors-in-variables correction</a:t>
            </a:r>
            <a:endParaRPr lang="en-US" sz="1600" dirty="0"/>
          </a:p>
        </p:txBody>
      </p:sp>
      <p:sp>
        <p:nvSpPr>
          <p:cNvPr id="31" name="Text 28"/>
          <p:cNvSpPr txBox="1"/>
          <p:nvPr/>
        </p:nvSpPr>
        <p:spPr>
          <a:xfrm>
            <a:off x="548640" y="3108960"/>
            <a:ext cx="4389120" cy="1371600"/>
          </a:xfrm>
          <a:prstGeom prst="rect">
            <a:avLst/>
          </a:prstGeom>
          <a:noFill/>
          <a:ln/>
        </p:spPr>
        <p:txBody>
          <a:bodyPr wrap="square" rtlCol="0" anchor="ctr"/>
          <a:lstStyle/>
          <a:p>
            <a:pPr indent="0" marL="0">
              <a:buNone/>
            </a:pPr>
            <a:r>
              <a:rPr lang="en-US" sz="1500" i="1" dirty="0">
                <a:solidFill>
                  <a:schemeClr val="accent4"/>
                </a:solidFill>
              </a:rPr>
              <a:t>Every reviewer had to propose concrete changes within scope, or say none were needed.</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Pilots on real data caught what reviewers missed</a:t>
            </a:r>
            <a:endParaRPr lang="en-US" sz="3200" dirty="0"/>
          </a:p>
        </p:txBody>
      </p:sp>
      <p:graphicFrame>
        <p:nvGraphicFramePr>
          <p:cNvPr id="4" name="Chart 0" descr=""/>
          <p:cNvGraphicFramePr/>
          <p:nvPr/>
        </p:nvGraphicFramePr>
        <p:xfrm>
          <a:off x="548640" y="1280160"/>
          <a:ext cx="6035040" cy="475488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6949440" y="1371600"/>
            <a:ext cx="4663440" cy="1463040"/>
          </a:xfrm>
          <a:prstGeom prst="roundRect">
            <a:avLst>
              <a:gd name="adj" fmla="val 7500"/>
            </a:avLst>
          </a:prstGeom>
          <a:solidFill>
            <a:srgbClr val="FBE3DC"/>
          </a:solidFill>
          <a:ln w="12700">
            <a:solidFill>
              <a:srgbClr val="FBE3DC"/>
            </a:solidFill>
            <a:prstDash val="solid"/>
          </a:ln>
        </p:spPr>
      </p:sp>
      <p:sp>
        <p:nvSpPr>
          <p:cNvPr id="6" name="Text 2"/>
          <p:cNvSpPr txBox="1"/>
          <p:nvPr/>
        </p:nvSpPr>
        <p:spPr>
          <a:xfrm>
            <a:off x="7132320" y="1481328"/>
            <a:ext cx="4297680" cy="411480"/>
          </a:xfrm>
          <a:prstGeom prst="rect">
            <a:avLst/>
          </a:prstGeom>
          <a:noFill/>
          <a:ln/>
        </p:spPr>
        <p:txBody>
          <a:bodyPr wrap="square" lIns="0" tIns="0" rIns="0" bIns="0" rtlCol="0" anchor="t"/>
          <a:lstStyle/>
          <a:p>
            <a:pPr indent="0" marL="0">
              <a:buNone/>
            </a:pPr>
            <a:r>
              <a:rPr lang="en-US" sz="2800" b="1" dirty="0">
                <a:solidFill>
                  <a:schemeClr val="tx2"/>
                </a:solidFill>
              </a:rPr>
              <a:t>8 / 104</a:t>
            </a:r>
            <a:endParaRPr lang="en-US" sz="2800" dirty="0"/>
          </a:p>
        </p:txBody>
      </p:sp>
      <p:sp>
        <p:nvSpPr>
          <p:cNvPr id="7" name="Text 3"/>
          <p:cNvSpPr txBox="1"/>
          <p:nvPr/>
        </p:nvSpPr>
        <p:spPr>
          <a:xfrm>
            <a:off x="7132320" y="1938528"/>
            <a:ext cx="4297680" cy="7772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identical-sequence pairs got non-zero AA distance under TM-align</a:t>
            </a:r>
            <a:endParaRPr lang="en-US" sz="1400" dirty="0"/>
          </a:p>
        </p:txBody>
      </p:sp>
      <p:sp>
        <p:nvSpPr>
          <p:cNvPr id="8" name="Shape 4"/>
          <p:cNvSpPr/>
          <p:nvPr/>
        </p:nvSpPr>
        <p:spPr>
          <a:xfrm>
            <a:off x="6949440" y="3017520"/>
            <a:ext cx="4663440" cy="1463040"/>
          </a:xfrm>
          <a:prstGeom prst="roundRect">
            <a:avLst>
              <a:gd name="adj" fmla="val 7500"/>
            </a:avLst>
          </a:prstGeom>
          <a:solidFill>
            <a:schemeClr val="bg2"/>
          </a:solidFill>
          <a:ln w="12700">
            <a:solidFill>
              <a:schemeClr val="bg2"/>
            </a:solidFill>
            <a:prstDash val="solid"/>
          </a:ln>
        </p:spPr>
      </p:sp>
      <p:sp>
        <p:nvSpPr>
          <p:cNvPr id="9" name="Text 5"/>
          <p:cNvSpPr txBox="1"/>
          <p:nvPr/>
        </p:nvSpPr>
        <p:spPr>
          <a:xfrm>
            <a:off x="7132320" y="3127248"/>
            <a:ext cx="4297680" cy="411480"/>
          </a:xfrm>
          <a:prstGeom prst="rect">
            <a:avLst/>
          </a:prstGeom>
          <a:noFill/>
          <a:ln/>
        </p:spPr>
        <p:txBody>
          <a:bodyPr wrap="square" lIns="0" tIns="0" rIns="0" bIns="0" rtlCol="0" anchor="t"/>
          <a:lstStyle/>
          <a:p>
            <a:pPr indent="0" marL="0">
              <a:buNone/>
            </a:pPr>
            <a:r>
              <a:rPr lang="en-US" sz="2000" b="1" dirty="0">
                <a:solidFill>
                  <a:schemeClr val="tx2"/>
                </a:solidFill>
              </a:rPr>
              <a:t>Decision D22</a:t>
            </a:r>
            <a:endParaRPr lang="en-US" sz="2000" dirty="0"/>
          </a:p>
        </p:txBody>
      </p:sp>
      <p:sp>
        <p:nvSpPr>
          <p:cNvPr id="10" name="Text 6"/>
          <p:cNvSpPr txBox="1"/>
          <p:nvPr/>
        </p:nvSpPr>
        <p:spPr>
          <a:xfrm>
            <a:off x="7132320" y="3584448"/>
            <a:ext cx="4297680" cy="7772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primary alignment → Foldseek 3Di+AA; TM-align and sequence-only kept as brackets</a:t>
            </a:r>
            <a:endParaRPr lang="en-US" sz="1400" dirty="0"/>
          </a:p>
        </p:txBody>
      </p:sp>
      <p:sp>
        <p:nvSpPr>
          <p:cNvPr id="11" name="Shape 7"/>
          <p:cNvSpPr/>
          <p:nvPr/>
        </p:nvSpPr>
        <p:spPr>
          <a:xfrm>
            <a:off x="6949440" y="4663440"/>
            <a:ext cx="4663440" cy="1280160"/>
          </a:xfrm>
          <a:prstGeom prst="roundRect">
            <a:avLst>
              <a:gd name="adj" fmla="val 8571"/>
            </a:avLst>
          </a:prstGeom>
          <a:solidFill>
            <a:srgbClr val="FDEBD9"/>
          </a:solidFill>
          <a:ln w="12700">
            <a:solidFill>
              <a:srgbClr val="FDEBD9"/>
            </a:solidFill>
            <a:prstDash val="solid"/>
          </a:ln>
        </p:spPr>
      </p:sp>
      <p:sp>
        <p:nvSpPr>
          <p:cNvPr id="12" name="Text 8"/>
          <p:cNvSpPr txBox="1"/>
          <p:nvPr/>
        </p:nvSpPr>
        <p:spPr>
          <a:xfrm>
            <a:off x="7132320" y="4773168"/>
            <a:ext cx="4297680" cy="411480"/>
          </a:xfrm>
          <a:prstGeom prst="rect">
            <a:avLst/>
          </a:prstGeom>
          <a:noFill/>
          <a:ln/>
        </p:spPr>
        <p:txBody>
          <a:bodyPr wrap="square" lIns="0" tIns="0" rIns="0" bIns="0" rtlCol="0" anchor="t"/>
          <a:lstStyle/>
          <a:p>
            <a:pPr indent="0" marL="0">
              <a:buNone/>
            </a:pPr>
            <a:r>
              <a:rPr lang="en-US" sz="2000" b="1" dirty="0">
                <a:solidFill>
                  <a:schemeClr val="tx2"/>
                </a:solidFill>
              </a:rPr>
              <a:t>Lesson</a:t>
            </a:r>
            <a:endParaRPr lang="en-US" sz="2000" dirty="0"/>
          </a:p>
        </p:txBody>
      </p:sp>
      <p:sp>
        <p:nvSpPr>
          <p:cNvPr id="13" name="Text 9"/>
          <p:cNvSpPr txBox="1"/>
          <p:nvPr/>
        </p:nvSpPr>
        <p:spPr>
          <a:xfrm>
            <a:off x="7132320" y="5230368"/>
            <a:ext cx="4297680" cy="5943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no reviewer predicted it; a small real pilot did</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Pre-registration: tune on 20%, confirm once on 80%</a:t>
            </a:r>
            <a:endParaRPr lang="en-US" sz="3200" dirty="0"/>
          </a:p>
        </p:txBody>
      </p:sp>
      <p:pic>
        <p:nvPicPr>
          <p:cNvPr id="4" name="Image 0" descr="Pre-registration workflow">    </p:cNvPr>
          <p:cNvPicPr>
            <a:picLocks noChangeAspect="1"/>
          </p:cNvPicPr>
          <p:nvPr/>
        </p:nvPicPr>
        <p:blipFill>
          <a:blip r:embed="rId1"/>
          <a:stretch>
            <a:fillRect/>
          </a:stretch>
        </p:blipFill>
        <p:spPr>
          <a:xfrm>
            <a:off x="457200" y="1348740"/>
            <a:ext cx="7680960" cy="4800600"/>
          </a:xfrm>
          <a:prstGeom prst="rect">
            <a:avLst/>
          </a:prstGeom>
        </p:spPr>
      </p:pic>
      <p:sp>
        <p:nvSpPr>
          <p:cNvPr id="5" name="Text 1"/>
          <p:cNvSpPr txBox="1"/>
          <p:nvPr/>
        </p:nvSpPr>
        <p:spPr>
          <a:xfrm>
            <a:off x="8503920" y="1371600"/>
            <a:ext cx="320040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10/10</a:t>
            </a:r>
            <a:endParaRPr lang="en-US" sz="4400" dirty="0"/>
          </a:p>
        </p:txBody>
      </p:sp>
      <p:sp>
        <p:nvSpPr>
          <p:cNvPr id="6" name="Text 2"/>
          <p:cNvSpPr txBox="1"/>
          <p:nvPr/>
        </p:nvSpPr>
        <p:spPr>
          <a:xfrm>
            <a:off x="8503920" y="2194560"/>
            <a:ext cx="3200400" cy="640080"/>
          </a:xfrm>
          <a:prstGeom prst="rect">
            <a:avLst/>
          </a:prstGeom>
          <a:noFill/>
          <a:ln/>
        </p:spPr>
        <p:txBody>
          <a:bodyPr wrap="square" lIns="0" tIns="0" rIns="0" bIns="0" rtlCol="0" anchor="t"/>
          <a:lstStyle/>
          <a:p>
            <a:pPr indent="0" marL="0">
              <a:buNone/>
            </a:pPr>
            <a:r>
              <a:rPr lang="en-US" sz="1400" dirty="0">
                <a:solidFill>
                  <a:schemeClr val="tx1"/>
                </a:solidFill>
              </a:rPr>
              <a:t>automated guards passed before the single confirmation run</a:t>
            </a:r>
            <a:endParaRPr lang="en-US" sz="1400" dirty="0"/>
          </a:p>
        </p:txBody>
      </p:sp>
      <p:sp>
        <p:nvSpPr>
          <p:cNvPr id="7" name="Text 3"/>
          <p:cNvSpPr txBox="1"/>
          <p:nvPr/>
        </p:nvSpPr>
        <p:spPr>
          <a:xfrm>
            <a:off x="8503920" y="2926080"/>
            <a:ext cx="3200400" cy="82296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34</a:t>
            </a:r>
            <a:endParaRPr lang="en-US" sz="4400" dirty="0"/>
          </a:p>
        </p:txBody>
      </p:sp>
      <p:sp>
        <p:nvSpPr>
          <p:cNvPr id="8" name="Text 4"/>
          <p:cNvSpPr txBox="1"/>
          <p:nvPr/>
        </p:nvSpPr>
        <p:spPr>
          <a:xfrm>
            <a:off x="8503920" y="3749040"/>
            <a:ext cx="3200400" cy="640080"/>
          </a:xfrm>
          <a:prstGeom prst="rect">
            <a:avLst/>
          </a:prstGeom>
          <a:noFill/>
          <a:ln/>
        </p:spPr>
        <p:txBody>
          <a:bodyPr wrap="square" lIns="0" tIns="0" rIns="0" bIns="0" rtlCol="0" anchor="t"/>
          <a:lstStyle/>
          <a:p>
            <a:pPr indent="0" marL="0">
              <a:buNone/>
            </a:pPr>
            <a:r>
              <a:rPr lang="en-US" sz="1400" dirty="0">
                <a:solidFill>
                  <a:schemeClr val="tx1"/>
                </a:solidFill>
              </a:rPr>
              <a:t>logged deviations (32 before confirmation)</a:t>
            </a:r>
            <a:endParaRPr lang="en-US" sz="1400" dirty="0"/>
          </a:p>
        </p:txBody>
      </p:sp>
      <p:sp>
        <p:nvSpPr>
          <p:cNvPr id="9" name="Text 5"/>
          <p:cNvSpPr txBox="1"/>
          <p:nvPr/>
        </p:nvSpPr>
        <p:spPr>
          <a:xfrm>
            <a:off x="8503920" y="4480560"/>
            <a:ext cx="3200400" cy="822960"/>
          </a:xfrm>
          <a:prstGeom prst="rect">
            <a:avLst/>
          </a:prstGeom>
          <a:noFill/>
          <a:ln/>
        </p:spPr>
        <p:txBody>
          <a:bodyPr wrap="square" lIns="0" tIns="0" rIns="0" bIns="0" rtlCol="0" anchor="ctr"/>
          <a:lstStyle/>
          <a:p>
            <a:pPr indent="0" marL="0">
              <a:buNone/>
            </a:pPr>
            <a:r>
              <a:rPr lang="en-US" sz="4400" b="1" dirty="0">
                <a:solidFill>
                  <a:schemeClr val="tx2"/>
                </a:solidFill>
                <a:latin typeface="Cambria" pitchFamily="34" charset="0"/>
                <a:ea typeface="Cambria" pitchFamily="34" charset="-122"/>
                <a:cs typeface="Cambria" pitchFamily="34" charset="-120"/>
              </a:rPr>
              <a:t>42/42</a:t>
            </a:r>
            <a:endParaRPr lang="en-US" sz="4400" dirty="0"/>
          </a:p>
        </p:txBody>
      </p:sp>
      <p:sp>
        <p:nvSpPr>
          <p:cNvPr id="10" name="Text 6"/>
          <p:cNvSpPr txBox="1"/>
          <p:nvPr/>
        </p:nvSpPr>
        <p:spPr>
          <a:xfrm>
            <a:off x="8503920" y="5303520"/>
            <a:ext cx="3200400" cy="640080"/>
          </a:xfrm>
          <a:prstGeom prst="rect">
            <a:avLst/>
          </a:prstGeom>
          <a:noFill/>
          <a:ln/>
        </p:spPr>
        <p:txBody>
          <a:bodyPr wrap="square" lIns="0" tIns="0" rIns="0" bIns="0" rtlCol="0" anchor="t"/>
          <a:lstStyle/>
          <a:p>
            <a:pPr indent="0" marL="0">
              <a:buNone/>
            </a:pPr>
            <a:r>
              <a:rPr lang="en-US" sz="1400" dirty="0">
                <a:solidFill>
                  <a:schemeClr val="tx1"/>
                </a:solidFill>
              </a:rPr>
              <a:t>numbers re-derived by a non-author agent</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Key decisions and why</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6400800"/>
                <a:gridCol w="4663440"/>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Decision</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C49"/>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Why</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C49"/>
                    </a:solidFill>
                  </a:tcPr>
                </a:tc>
              </a:tr>
              <a:tr h="566928">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Use only proteins whose AlphaFold model sequence = UniProt sequence</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c>
                  <a:txBody>
                    <a:bodyPr/>
                    <a:lstStyle/>
                    <a:p>
                      <a:pPr indent="0" marL="0">
                        <a:buNone/>
                      </a:pPr>
                      <a:r>
                        <a:rPr lang="en-US" sz="1500" dirty="0">
                          <a:solidFill>
                            <a:srgbClr val="3D6B78"/>
                          </a:solidFill>
                          <a:latin typeface="Calibri" pitchFamily="34" charset="0"/>
                          <a:ea typeface="Calibri" pitchFamily="34" charset="-122"/>
                          <a:cs typeface="Calibri" pitchFamily="34" charset="-120"/>
                        </a:rPr>
                        <a:t>sequence and structure must describe the same molecule</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r>
              <a:tr h="566928">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Never use Ancestra's duplication ages</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3D6B78"/>
                          </a:solidFill>
                          <a:latin typeface="Calibri" pitchFamily="34" charset="0"/>
                          <a:ea typeface="Calibri" pitchFamily="34" charset="-122"/>
                          <a:cs typeface="Calibri" pitchFamily="34" charset="-120"/>
                        </a:rPr>
                        <a:t>only 36% agreement with Ensembl</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One Ancestra run on 180 whole proteomes</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c>
                  <a:txBody>
                    <a:bodyPr/>
                    <a:lstStyle/>
                    <a:p>
                      <a:pPr indent="0" marL="0">
                        <a:buNone/>
                      </a:pPr>
                      <a:r>
                        <a:rPr lang="en-US" sz="1500" dirty="0">
                          <a:solidFill>
                            <a:srgbClr val="3D6B78"/>
                          </a:solidFill>
                          <a:latin typeface="Calibri" pitchFamily="34" charset="0"/>
                          <a:ea typeface="Calibri" pitchFamily="34" charset="-122"/>
                          <a:cs typeface="Calibri" pitchFamily="34" charset="-120"/>
                        </a:rPr>
                        <a:t>per-cluster runs would cost thousands of CPU-hours</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r>
              <a:tr h="566928">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3Di+AA alignment as primary (D22)</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3D6B78"/>
                          </a:solidFill>
                          <a:latin typeface="Calibri" pitchFamily="34" charset="0"/>
                          <a:ea typeface="Calibri" pitchFamily="34" charset="-122"/>
                          <a:cs typeface="Calibri" pitchFamily="34" charset="-120"/>
                        </a:rPr>
                        <a:t>TM-align failed the identical-sequence check</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Fix two estimator biases found in simulation (D31, D32)</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c>
                  <a:txBody>
                    <a:bodyPr/>
                    <a:lstStyle/>
                    <a:p>
                      <a:pPr indent="0" marL="0">
                        <a:buNone/>
                      </a:pPr>
                      <a:r>
                        <a:rPr lang="en-US" sz="1500" dirty="0">
                          <a:solidFill>
                            <a:srgbClr val="3D6B78"/>
                          </a:solidFill>
                          <a:latin typeface="Calibri" pitchFamily="34" charset="0"/>
                          <a:ea typeface="Calibri" pitchFamily="34" charset="-122"/>
                          <a:cs typeface="Calibri" pitchFamily="34" charset="-120"/>
                        </a:rPr>
                        <a:t>both would have produced false positives</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r>
              <a:tr h="566928">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Keep pre-set margins even when power was low</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3D6B78"/>
                          </a:solidFill>
                          <a:latin typeface="Calibri" pitchFamily="34" charset="0"/>
                          <a:ea typeface="Calibri" pitchFamily="34" charset="-122"/>
                          <a:cs typeface="Calibri" pitchFamily="34" charset="-120"/>
                        </a:rPr>
                        <a:t>never change tests to make results look better</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Report post-hoc reinterpretation separately, after independent refutation attempt</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c>
                  <a:txBody>
                    <a:bodyPr/>
                    <a:lstStyle/>
                    <a:p>
                      <a:pPr indent="0" marL="0">
                        <a:buNone/>
                      </a:pPr>
                      <a:r>
                        <a:rPr lang="en-US" sz="1500" dirty="0">
                          <a:solidFill>
                            <a:srgbClr val="3D6B78"/>
                          </a:solidFill>
                          <a:latin typeface="Calibri" pitchFamily="34" charset="0"/>
                          <a:ea typeface="Calibri" pitchFamily="34" charset="-122"/>
                          <a:cs typeface="Calibri" pitchFamily="34" charset="-120"/>
                        </a:rPr>
                        <a:t>a fixed noise floor turned out incomplete</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r>
            </a:tbl>
          </a:graphicData>
        </a:graphic>
      </p:graphicFrame>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822960" y="2514600"/>
            <a:ext cx="1051560" cy="1051560"/>
          </a:xfrm>
          <a:prstGeom prst="ellipse">
            <a:avLst/>
          </a:prstGeom>
          <a:solidFill>
            <a:schemeClr val="accent2"/>
          </a:solidFill>
          <a:ln w="12700">
            <a:solidFill>
              <a:schemeClr val="accent2"/>
            </a:solidFill>
            <a:prstDash val="solid"/>
          </a:ln>
        </p:spPr>
      </p:sp>
      <p:sp>
        <p:nvSpPr>
          <p:cNvPr id="3" name="Text 1"/>
          <p:cNvSpPr txBox="1"/>
          <p:nvPr/>
        </p:nvSpPr>
        <p:spPr>
          <a:xfrm>
            <a:off x="822960" y="2514600"/>
            <a:ext cx="1051560" cy="1051560"/>
          </a:xfrm>
          <a:prstGeom prst="rect">
            <a:avLst/>
          </a:prstGeom>
          <a:noFill/>
          <a:ln/>
        </p:spPr>
        <p:txBody>
          <a:bodyPr wrap="square" rtlCol="0" anchor="ctr"/>
          <a:lstStyle/>
          <a:p>
            <a:pPr algn="ctr" indent="0" marL="0">
              <a:buNone/>
            </a:pPr>
            <a:r>
              <a:rPr lang="en-US" sz="3600" b="1" dirty="0">
                <a:solidFill>
                  <a:schemeClr val="tx2"/>
                </a:solidFill>
                <a:latin typeface="Cambria" pitchFamily="34" charset="0"/>
                <a:ea typeface="Cambria" pitchFamily="34" charset="-122"/>
                <a:cs typeface="Cambria" pitchFamily="34" charset="-120"/>
              </a:rPr>
              <a:t>4</a:t>
            </a:r>
            <a:endParaRPr lang="en-US" sz="3600" dirty="0"/>
          </a:p>
        </p:txBody>
      </p:sp>
      <p:sp>
        <p:nvSpPr>
          <p:cNvPr id="4" name="Text 0"/>
          <p:cNvSpPr/>
          <p:nvPr>
            <p:ph idx="100" type="title" hasCustomPrompt="1"/>
          </p:nvPr>
        </p:nvSpPr>
        <p:spPr>
          <a:xfrm>
            <a:off x="2103120" y="2468880"/>
            <a:ext cx="9326880" cy="1188720"/>
          </a:xfrm>
          <a:prstGeom prst="rect">
            <a:avLst/>
          </a:prstGeom>
          <a:noFill/>
          <a:ln/>
        </p:spPr>
        <p:txBody>
          <a:bodyPr wrap="square" rtlCol="0" anchor="ctr"/>
          <a:lstStyle/>
          <a:p>
            <a:pPr algn="l" indent="0" marL="0">
              <a:buNone/>
            </a:pPr>
            <a:r>
              <a:rPr lang="en-US" sz="4000" b="1" dirty="0">
                <a:solidFill>
                  <a:schemeClr val="bg1"/>
                </a:solidFill>
              </a:rPr>
              <a:t>The method, step by step</a:t>
            </a:r>
            <a:endParaRPr lang="en-US" sz="4000" dirty="0"/>
          </a:p>
        </p:txBody>
      </p:sp>
      <p:sp>
        <p:nvSpPr>
          <p:cNvPr id="5" name="Text 0"/>
          <p:cNvSpPr/>
          <p:nvPr>
            <p:ph idx="101" type="body" hasCustomPrompt="1"/>
          </p:nvPr>
        </p:nvSpPr>
        <p:spPr>
          <a:xfrm>
            <a:off x="2103120" y="3657600"/>
            <a:ext cx="9326880" cy="1097280"/>
          </a:xfrm>
          <a:prstGeom prst="rect">
            <a:avLst/>
          </a:prstGeom>
          <a:noFill/>
          <a:ln/>
        </p:spPr>
        <p:txBody>
          <a:bodyPr wrap="square" rtlCol="0" anchor="t"/>
          <a:lstStyle/>
          <a:p>
            <a:pPr indent="0" marL="0">
              <a:buNone/>
            </a:pPr>
            <a:r>
              <a:rPr lang="en-US" sz="1800" dirty="0">
                <a:solidFill>
                  <a:schemeClr val="bg2"/>
                </a:solidFill>
              </a:rPr>
              <a:t>With plain-language explainers for the tricky parts</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Pipeline at a glance</a:t>
            </a:r>
            <a:endParaRPr lang="en-US" sz="3200" dirty="0"/>
          </a:p>
        </p:txBody>
      </p:sp>
      <p:pic>
        <p:nvPicPr>
          <p:cNvPr id="4" name="Image 0" descr="Workflow">    </p:cNvPr>
          <p:cNvPicPr>
            <a:picLocks noChangeAspect="1"/>
          </p:cNvPicPr>
          <p:nvPr/>
        </p:nvPicPr>
        <p:blipFill>
          <a:blip r:embed="rId1"/>
          <a:stretch>
            <a:fillRect/>
          </a:stretch>
        </p:blipFill>
        <p:spPr>
          <a:xfrm>
            <a:off x="1618116" y="1188720"/>
            <a:ext cx="8925289" cy="5120640"/>
          </a:xfrm>
          <a:prstGeom prst="rect">
            <a:avLst/>
          </a:prstGeom>
        </p:spPr>
      </p:pic>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Data: 180 eukaryotes, 3.3 M predicted structures</a:t>
            </a:r>
            <a:endParaRPr lang="en-US" sz="3200" dirty="0"/>
          </a:p>
        </p:txBody>
      </p:sp>
      <p:pic>
        <p:nvPicPr>
          <p:cNvPr id="4" name="Image 0" descr="Species panel overview">    </p:cNvPr>
          <p:cNvPicPr>
            <a:picLocks noChangeAspect="1"/>
          </p:cNvPicPr>
          <p:nvPr/>
        </p:nvPicPr>
        <p:blipFill>
          <a:blip r:embed="rId1"/>
          <a:stretch>
            <a:fillRect/>
          </a:stretch>
        </p:blipFill>
        <p:spPr>
          <a:xfrm>
            <a:off x="500514" y="1188720"/>
            <a:ext cx="7411453" cy="5120640"/>
          </a:xfrm>
          <a:prstGeom prst="rect">
            <a:avLst/>
          </a:prstGeom>
        </p:spPr>
      </p:pic>
      <p:sp>
        <p:nvSpPr>
          <p:cNvPr id="5" name="Text 1"/>
          <p:cNvSpPr txBox="1"/>
          <p:nvPr/>
        </p:nvSpPr>
        <p:spPr>
          <a:xfrm>
            <a:off x="8412480" y="1280160"/>
            <a:ext cx="329184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180</a:t>
            </a:r>
            <a:endParaRPr lang="en-US" sz="4400" dirty="0"/>
          </a:p>
        </p:txBody>
      </p:sp>
      <p:sp>
        <p:nvSpPr>
          <p:cNvPr id="6" name="Text 2"/>
          <p:cNvSpPr txBox="1"/>
          <p:nvPr/>
        </p:nvSpPr>
        <p:spPr>
          <a:xfrm>
            <a:off x="8412480" y="2103120"/>
            <a:ext cx="3291840" cy="640080"/>
          </a:xfrm>
          <a:prstGeom prst="rect">
            <a:avLst/>
          </a:prstGeom>
          <a:noFill/>
          <a:ln/>
        </p:spPr>
        <p:txBody>
          <a:bodyPr wrap="square" lIns="0" tIns="0" rIns="0" bIns="0" rtlCol="0" anchor="t"/>
          <a:lstStyle/>
          <a:p>
            <a:pPr indent="0" marL="0">
              <a:buNone/>
            </a:pPr>
            <a:r>
              <a:rPr lang="en-US" sz="1400" dirty="0">
                <a:solidFill>
                  <a:schemeClr val="tx1"/>
                </a:solidFill>
              </a:rPr>
              <a:t>eukaryotic proteomes (66 animals, 40 fungi, 20 plants, 54 protists…)</a:t>
            </a:r>
            <a:endParaRPr lang="en-US" sz="1400" dirty="0"/>
          </a:p>
        </p:txBody>
      </p:sp>
      <p:sp>
        <p:nvSpPr>
          <p:cNvPr id="7" name="Text 3"/>
          <p:cNvSpPr txBox="1"/>
          <p:nvPr/>
        </p:nvSpPr>
        <p:spPr>
          <a:xfrm>
            <a:off x="8412480" y="2743200"/>
            <a:ext cx="3291840" cy="82296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109,598</a:t>
            </a:r>
            <a:endParaRPr lang="en-US" sz="4400" dirty="0"/>
          </a:p>
        </p:txBody>
      </p:sp>
      <p:sp>
        <p:nvSpPr>
          <p:cNvPr id="8" name="Text 4"/>
          <p:cNvSpPr txBox="1"/>
          <p:nvPr/>
        </p:nvSpPr>
        <p:spPr>
          <a:xfrm>
            <a:off x="8412480" y="3566160"/>
            <a:ext cx="3291840" cy="640080"/>
          </a:xfrm>
          <a:prstGeom prst="rect">
            <a:avLst/>
          </a:prstGeom>
          <a:noFill/>
          <a:ln/>
        </p:spPr>
        <p:txBody>
          <a:bodyPr wrap="square" lIns="0" tIns="0" rIns="0" bIns="0" rtlCol="0" anchor="t"/>
          <a:lstStyle/>
          <a:p>
            <a:pPr indent="0" marL="0">
              <a:buNone/>
            </a:pPr>
            <a:r>
              <a:rPr lang="en-US" sz="1400" dirty="0">
                <a:solidFill>
                  <a:schemeClr val="tx1"/>
                </a:solidFill>
              </a:rPr>
              <a:t>ortholog families (HOGs) from Ancestra</a:t>
            </a:r>
            <a:endParaRPr lang="en-US" sz="1400" dirty="0"/>
          </a:p>
        </p:txBody>
      </p:sp>
      <p:sp>
        <p:nvSpPr>
          <p:cNvPr id="9" name="Text 5"/>
          <p:cNvSpPr txBox="1"/>
          <p:nvPr/>
        </p:nvSpPr>
        <p:spPr>
          <a:xfrm>
            <a:off x="8412480" y="4206240"/>
            <a:ext cx="3291840" cy="822960"/>
          </a:xfrm>
          <a:prstGeom prst="rect">
            <a:avLst/>
          </a:prstGeom>
          <a:noFill/>
          <a:ln/>
        </p:spPr>
        <p:txBody>
          <a:bodyPr wrap="square" lIns="0" tIns="0" rIns="0" bIns="0" rtlCol="0" anchor="ctr"/>
          <a:lstStyle/>
          <a:p>
            <a:pPr indent="0" marL="0">
              <a:buNone/>
            </a:pPr>
            <a:r>
              <a:rPr lang="en-US" sz="4400" b="1" dirty="0">
                <a:solidFill>
                  <a:schemeClr val="tx2"/>
                </a:solidFill>
                <a:latin typeface="Cambria" pitchFamily="34" charset="0"/>
                <a:ea typeface="Cambria" pitchFamily="34" charset="-122"/>
                <a:cs typeface="Cambria" pitchFamily="34" charset="-120"/>
              </a:rPr>
              <a:t>1.4 M</a:t>
            </a:r>
            <a:endParaRPr lang="en-US" sz="4400" dirty="0"/>
          </a:p>
        </p:txBody>
      </p:sp>
      <p:sp>
        <p:nvSpPr>
          <p:cNvPr id="10" name="Text 6"/>
          <p:cNvSpPr txBox="1"/>
          <p:nvPr/>
        </p:nvSpPr>
        <p:spPr>
          <a:xfrm>
            <a:off x="8412480" y="5029200"/>
            <a:ext cx="3291840" cy="640080"/>
          </a:xfrm>
          <a:prstGeom prst="rect">
            <a:avLst/>
          </a:prstGeom>
          <a:noFill/>
          <a:ln/>
        </p:spPr>
        <p:txBody>
          <a:bodyPr wrap="square" lIns="0" tIns="0" rIns="0" bIns="0" rtlCol="0" anchor="t"/>
          <a:lstStyle/>
          <a:p>
            <a:pPr indent="0" marL="0">
              <a:buNone/>
            </a:pPr>
            <a:r>
              <a:rPr lang="en-US" sz="1400" dirty="0">
                <a:solidFill>
                  <a:schemeClr val="tx1"/>
                </a:solidFill>
              </a:rPr>
              <a:t>protein pairs from 7,000 sampled families</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Explainer: orthologs, paralogs and HOGs</a:t>
            </a:r>
            <a:endParaRPr lang="en-US" sz="3200" dirty="0"/>
          </a:p>
        </p:txBody>
      </p:sp>
      <p:pic>
        <p:nvPicPr>
          <p:cNvPr id="4" name="Image 0" descr="Orthologs, paralogs and HOGs">    </p:cNvPr>
          <p:cNvPicPr>
            <a:picLocks noChangeAspect="1"/>
          </p:cNvPicPr>
          <p:nvPr/>
        </p:nvPicPr>
        <p:blipFill>
          <a:blip r:embed="rId1"/>
          <a:stretch>
            <a:fillRect/>
          </a:stretch>
        </p:blipFill>
        <p:spPr>
          <a:xfrm>
            <a:off x="457200" y="1405890"/>
            <a:ext cx="7498080" cy="4686300"/>
          </a:xfrm>
          <a:prstGeom prst="rect">
            <a:avLst/>
          </a:prstGeom>
        </p:spPr>
      </p:pic>
      <p:sp>
        <p:nvSpPr>
          <p:cNvPr id="5" name="Shape 1"/>
          <p:cNvSpPr/>
          <p:nvPr/>
        </p:nvSpPr>
        <p:spPr>
          <a:xfrm>
            <a:off x="8229600" y="1371600"/>
            <a:ext cx="3474720" cy="1463040"/>
          </a:xfrm>
          <a:prstGeom prst="roundRect">
            <a:avLst>
              <a:gd name="adj" fmla="val 7500"/>
            </a:avLst>
          </a:prstGeom>
          <a:solidFill>
            <a:schemeClr val="bg2"/>
          </a:solidFill>
          <a:ln w="12700">
            <a:solidFill>
              <a:schemeClr val="bg2"/>
            </a:solidFill>
            <a:prstDash val="solid"/>
          </a:ln>
        </p:spPr>
      </p:sp>
      <p:sp>
        <p:nvSpPr>
          <p:cNvPr id="6" name="Text 2"/>
          <p:cNvSpPr txBox="1"/>
          <p:nvPr/>
        </p:nvSpPr>
        <p:spPr>
          <a:xfrm>
            <a:off x="8412480" y="1481328"/>
            <a:ext cx="3108960" cy="411480"/>
          </a:xfrm>
          <a:prstGeom prst="rect">
            <a:avLst/>
          </a:prstGeom>
          <a:noFill/>
          <a:ln/>
        </p:spPr>
        <p:txBody>
          <a:bodyPr wrap="square" lIns="0" tIns="0" rIns="0" bIns="0" rtlCol="0" anchor="t"/>
          <a:lstStyle/>
          <a:p>
            <a:pPr indent="0" marL="0">
              <a:buNone/>
            </a:pPr>
            <a:r>
              <a:rPr lang="en-US" sz="1800" b="1" dirty="0">
                <a:solidFill>
                  <a:schemeClr val="tx2"/>
                </a:solidFill>
              </a:rPr>
              <a:t>Ortholog</a:t>
            </a:r>
            <a:endParaRPr lang="en-US" sz="1800" dirty="0"/>
          </a:p>
        </p:txBody>
      </p:sp>
      <p:sp>
        <p:nvSpPr>
          <p:cNvPr id="7" name="Text 3"/>
          <p:cNvSpPr txBox="1"/>
          <p:nvPr/>
        </p:nvSpPr>
        <p:spPr>
          <a:xfrm>
            <a:off x="8412480" y="1938528"/>
            <a:ext cx="3108960" cy="7772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split by speciation → age known from the species tree</a:t>
            </a:r>
            <a:endParaRPr lang="en-US" sz="1400" dirty="0"/>
          </a:p>
        </p:txBody>
      </p:sp>
      <p:sp>
        <p:nvSpPr>
          <p:cNvPr id="8" name="Shape 4"/>
          <p:cNvSpPr/>
          <p:nvPr/>
        </p:nvSpPr>
        <p:spPr>
          <a:xfrm>
            <a:off x="8229600" y="3017520"/>
            <a:ext cx="3474720" cy="1463040"/>
          </a:xfrm>
          <a:prstGeom prst="roundRect">
            <a:avLst>
              <a:gd name="adj" fmla="val 7500"/>
            </a:avLst>
          </a:prstGeom>
          <a:solidFill>
            <a:srgbClr val="FDEBD9"/>
          </a:solidFill>
          <a:ln w="12700">
            <a:solidFill>
              <a:srgbClr val="FDEBD9"/>
            </a:solidFill>
            <a:prstDash val="solid"/>
          </a:ln>
        </p:spPr>
      </p:sp>
      <p:sp>
        <p:nvSpPr>
          <p:cNvPr id="9" name="Text 5"/>
          <p:cNvSpPr txBox="1"/>
          <p:nvPr/>
        </p:nvSpPr>
        <p:spPr>
          <a:xfrm>
            <a:off x="8412480" y="3127248"/>
            <a:ext cx="3108960" cy="411480"/>
          </a:xfrm>
          <a:prstGeom prst="rect">
            <a:avLst/>
          </a:prstGeom>
          <a:noFill/>
          <a:ln/>
        </p:spPr>
        <p:txBody>
          <a:bodyPr wrap="square" lIns="0" tIns="0" rIns="0" bIns="0" rtlCol="0" anchor="t"/>
          <a:lstStyle/>
          <a:p>
            <a:pPr indent="0" marL="0">
              <a:buNone/>
            </a:pPr>
            <a:r>
              <a:rPr lang="en-US" sz="1800" b="1" dirty="0">
                <a:solidFill>
                  <a:schemeClr val="tx2"/>
                </a:solidFill>
              </a:rPr>
              <a:t>Paralog</a:t>
            </a:r>
            <a:endParaRPr lang="en-US" sz="1800" dirty="0"/>
          </a:p>
        </p:txBody>
      </p:sp>
      <p:sp>
        <p:nvSpPr>
          <p:cNvPr id="10" name="Text 6"/>
          <p:cNvSpPr txBox="1"/>
          <p:nvPr/>
        </p:nvSpPr>
        <p:spPr>
          <a:xfrm>
            <a:off x="8412480" y="3584448"/>
            <a:ext cx="3108960" cy="7772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split by duplication → age unknown</a:t>
            </a:r>
            <a:endParaRPr lang="en-US" sz="1400" dirty="0"/>
          </a:p>
        </p:txBody>
      </p:sp>
      <p:sp>
        <p:nvSpPr>
          <p:cNvPr id="11" name="Shape 7"/>
          <p:cNvSpPr/>
          <p:nvPr/>
        </p:nvSpPr>
        <p:spPr>
          <a:xfrm>
            <a:off x="8229600" y="4663440"/>
            <a:ext cx="3474720" cy="1371600"/>
          </a:xfrm>
          <a:prstGeom prst="roundRect">
            <a:avLst>
              <a:gd name="adj" fmla="val 8000"/>
            </a:avLst>
          </a:prstGeom>
          <a:solidFill>
            <a:schemeClr val="bg2"/>
          </a:solidFill>
          <a:ln w="12700">
            <a:solidFill>
              <a:schemeClr val="bg2"/>
            </a:solidFill>
            <a:prstDash val="solid"/>
          </a:ln>
        </p:spPr>
      </p:sp>
      <p:sp>
        <p:nvSpPr>
          <p:cNvPr id="12" name="Text 8"/>
          <p:cNvSpPr txBox="1"/>
          <p:nvPr/>
        </p:nvSpPr>
        <p:spPr>
          <a:xfrm>
            <a:off x="8412480" y="4773168"/>
            <a:ext cx="3108960" cy="411480"/>
          </a:xfrm>
          <a:prstGeom prst="rect">
            <a:avLst/>
          </a:prstGeom>
          <a:noFill/>
          <a:ln/>
        </p:spPr>
        <p:txBody>
          <a:bodyPr wrap="square" lIns="0" tIns="0" rIns="0" bIns="0" rtlCol="0" anchor="t"/>
          <a:lstStyle/>
          <a:p>
            <a:pPr indent="0" marL="0">
              <a:buNone/>
            </a:pPr>
            <a:r>
              <a:rPr lang="en-US" sz="1800" b="1" dirty="0">
                <a:solidFill>
                  <a:schemeClr val="tx2"/>
                </a:solidFill>
              </a:rPr>
              <a:t>Why it matters</a:t>
            </a:r>
            <a:endParaRPr lang="en-US" sz="1800" dirty="0"/>
          </a:p>
        </p:txBody>
      </p:sp>
      <p:sp>
        <p:nvSpPr>
          <p:cNvPr id="13" name="Text 9"/>
          <p:cNvSpPr txBox="1"/>
          <p:nvPr/>
        </p:nvSpPr>
        <p:spPr>
          <a:xfrm>
            <a:off x="8412480" y="5230368"/>
            <a:ext cx="3108960" cy="6858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orthologs give a clean clock test</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Explainer: AlphaFold models and 3Di letters</a:t>
            </a:r>
            <a:endParaRPr lang="en-US" sz="3200" dirty="0"/>
          </a:p>
        </p:txBody>
      </p:sp>
      <p:pic>
        <p:nvPicPr>
          <p:cNvPr id="4" name="Image 0" descr="Amino acids and 3Di letters">    </p:cNvPr>
          <p:cNvPicPr>
            <a:picLocks noChangeAspect="1"/>
          </p:cNvPicPr>
          <p:nvPr/>
        </p:nvPicPr>
        <p:blipFill>
          <a:blip r:embed="rId1"/>
          <a:stretch>
            <a:fillRect/>
          </a:stretch>
        </p:blipFill>
        <p:spPr>
          <a:xfrm>
            <a:off x="457200" y="1405890"/>
            <a:ext cx="7498080" cy="4686300"/>
          </a:xfrm>
          <a:prstGeom prst="rect">
            <a:avLst/>
          </a:prstGeom>
        </p:spPr>
      </p:pic>
      <p:sp>
        <p:nvSpPr>
          <p:cNvPr id="5" name="Shape 1"/>
          <p:cNvSpPr/>
          <p:nvPr/>
        </p:nvSpPr>
        <p:spPr>
          <a:xfrm>
            <a:off x="8229600" y="1371600"/>
            <a:ext cx="3474720" cy="1554480"/>
          </a:xfrm>
          <a:prstGeom prst="roundRect">
            <a:avLst>
              <a:gd name="adj" fmla="val 7059"/>
            </a:avLst>
          </a:prstGeom>
          <a:solidFill>
            <a:schemeClr val="bg2"/>
          </a:solidFill>
          <a:ln w="12700">
            <a:solidFill>
              <a:schemeClr val="bg2"/>
            </a:solidFill>
            <a:prstDash val="solid"/>
          </a:ln>
        </p:spPr>
      </p:sp>
      <p:sp>
        <p:nvSpPr>
          <p:cNvPr id="6" name="Text 2"/>
          <p:cNvSpPr txBox="1"/>
          <p:nvPr/>
        </p:nvSpPr>
        <p:spPr>
          <a:xfrm>
            <a:off x="8412480" y="1481328"/>
            <a:ext cx="3108960" cy="411480"/>
          </a:xfrm>
          <a:prstGeom prst="rect">
            <a:avLst/>
          </a:prstGeom>
          <a:noFill/>
          <a:ln/>
        </p:spPr>
        <p:txBody>
          <a:bodyPr wrap="square" lIns="0" tIns="0" rIns="0" bIns="0" rtlCol="0" anchor="t"/>
          <a:lstStyle/>
          <a:p>
            <a:pPr indent="0" marL="0">
              <a:buNone/>
            </a:pPr>
            <a:r>
              <a:rPr lang="en-US" sz="1800" b="1" dirty="0">
                <a:solidFill>
                  <a:schemeClr val="tx2"/>
                </a:solidFill>
              </a:rPr>
              <a:t>20 vs 20</a:t>
            </a:r>
            <a:endParaRPr lang="en-US" sz="1800" dirty="0"/>
          </a:p>
        </p:txBody>
      </p:sp>
      <p:sp>
        <p:nvSpPr>
          <p:cNvPr id="7" name="Text 3"/>
          <p:cNvSpPr txBox="1"/>
          <p:nvPr/>
        </p:nvSpPr>
        <p:spPr>
          <a:xfrm>
            <a:off x="8412480" y="1938528"/>
            <a:ext cx="3108960" cy="8686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amino acids vs structural letters: a like-for-like comparison</a:t>
            </a:r>
            <a:endParaRPr lang="en-US" sz="1400" dirty="0"/>
          </a:p>
        </p:txBody>
      </p:sp>
      <p:sp>
        <p:nvSpPr>
          <p:cNvPr id="8" name="Shape 4"/>
          <p:cNvSpPr/>
          <p:nvPr/>
        </p:nvSpPr>
        <p:spPr>
          <a:xfrm>
            <a:off x="8229600" y="3108960"/>
            <a:ext cx="3474720" cy="1463040"/>
          </a:xfrm>
          <a:prstGeom prst="roundRect">
            <a:avLst>
              <a:gd name="adj" fmla="val 7500"/>
            </a:avLst>
          </a:prstGeom>
          <a:solidFill>
            <a:srgbClr val="FDEBD9"/>
          </a:solidFill>
          <a:ln w="12700">
            <a:solidFill>
              <a:srgbClr val="FDEBD9"/>
            </a:solidFill>
            <a:prstDash val="solid"/>
          </a:ln>
        </p:spPr>
      </p:sp>
      <p:sp>
        <p:nvSpPr>
          <p:cNvPr id="9" name="Text 5"/>
          <p:cNvSpPr txBox="1"/>
          <p:nvPr/>
        </p:nvSpPr>
        <p:spPr>
          <a:xfrm>
            <a:off x="8412480" y="3218688"/>
            <a:ext cx="3108960" cy="411480"/>
          </a:xfrm>
          <a:prstGeom prst="rect">
            <a:avLst/>
          </a:prstGeom>
          <a:noFill/>
          <a:ln/>
        </p:spPr>
        <p:txBody>
          <a:bodyPr wrap="square" lIns="0" tIns="0" rIns="0" bIns="0" rtlCol="0" anchor="t"/>
          <a:lstStyle/>
          <a:p>
            <a:pPr indent="0" marL="0">
              <a:buNone/>
            </a:pPr>
            <a:r>
              <a:rPr lang="en-US" sz="1800" b="1" dirty="0">
                <a:solidFill>
                  <a:schemeClr val="tx2"/>
                </a:solidFill>
              </a:rPr>
              <a:t>pLDDT ≥ 70</a:t>
            </a:r>
            <a:endParaRPr lang="en-US" sz="1800" dirty="0"/>
          </a:p>
        </p:txBody>
      </p:sp>
      <p:sp>
        <p:nvSpPr>
          <p:cNvPr id="10" name="Text 6"/>
          <p:cNvSpPr txBox="1"/>
          <p:nvPr/>
        </p:nvSpPr>
        <p:spPr>
          <a:xfrm>
            <a:off x="8412480" y="3675888"/>
            <a:ext cx="3108960" cy="7772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only confidently predicted residues used</a:t>
            </a:r>
            <a:endParaRPr lang="en-US" sz="1400" dirty="0"/>
          </a:p>
        </p:txBody>
      </p:sp>
      <p:sp>
        <p:nvSpPr>
          <p:cNvPr id="11" name="Shape 7"/>
          <p:cNvSpPr/>
          <p:nvPr/>
        </p:nvSpPr>
        <p:spPr>
          <a:xfrm>
            <a:off x="8229600" y="4754880"/>
            <a:ext cx="3474720" cy="1280160"/>
          </a:xfrm>
          <a:prstGeom prst="roundRect">
            <a:avLst>
              <a:gd name="adj" fmla="val 8571"/>
            </a:avLst>
          </a:prstGeom>
          <a:solidFill>
            <a:schemeClr val="bg2"/>
          </a:solidFill>
          <a:ln w="12700">
            <a:solidFill>
              <a:schemeClr val="bg2"/>
            </a:solidFill>
            <a:prstDash val="solid"/>
          </a:ln>
        </p:spPr>
      </p:sp>
      <p:sp>
        <p:nvSpPr>
          <p:cNvPr id="12" name="Text 8"/>
          <p:cNvSpPr txBox="1"/>
          <p:nvPr/>
        </p:nvSpPr>
        <p:spPr>
          <a:xfrm>
            <a:off x="8412480" y="4864608"/>
            <a:ext cx="3108960" cy="411480"/>
          </a:xfrm>
          <a:prstGeom prst="rect">
            <a:avLst/>
          </a:prstGeom>
          <a:noFill/>
          <a:ln/>
        </p:spPr>
        <p:txBody>
          <a:bodyPr wrap="square" lIns="0" tIns="0" rIns="0" bIns="0" rtlCol="0" anchor="t"/>
          <a:lstStyle/>
          <a:p>
            <a:pPr indent="0" marL="0">
              <a:buNone/>
            </a:pPr>
            <a:r>
              <a:rPr lang="en-US" sz="1800" b="1" dirty="0">
                <a:solidFill>
                  <a:schemeClr val="tx2"/>
                </a:solidFill>
              </a:rPr>
              <a:t>Illergård 2009</a:t>
            </a:r>
            <a:endParaRPr lang="en-US" sz="1800" dirty="0"/>
          </a:p>
        </p:txBody>
      </p:sp>
      <p:sp>
        <p:nvSpPr>
          <p:cNvPr id="13" name="Text 9"/>
          <p:cNvSpPr txBox="1"/>
          <p:nvPr/>
        </p:nvSpPr>
        <p:spPr>
          <a:xfrm>
            <a:off x="8412480" y="5321808"/>
            <a:ext cx="3108960" cy="5943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had to approximate this by grouping amino acids</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Explainer: counting change when changes overlap</a:t>
            </a:r>
            <a:endParaRPr lang="en-US" sz="3200" dirty="0"/>
          </a:p>
        </p:txBody>
      </p:sp>
      <p:pic>
        <p:nvPicPr>
          <p:cNvPr id="4" name="Image 0" descr="Saturation and ML correction">    </p:cNvPr>
          <p:cNvPicPr>
            <a:picLocks noChangeAspect="1"/>
          </p:cNvPicPr>
          <p:nvPr/>
        </p:nvPicPr>
        <p:blipFill>
          <a:blip r:embed="rId1"/>
          <a:stretch>
            <a:fillRect/>
          </a:stretch>
        </p:blipFill>
        <p:spPr>
          <a:xfrm>
            <a:off x="457200" y="1405890"/>
            <a:ext cx="7498080" cy="4686300"/>
          </a:xfrm>
          <a:prstGeom prst="rect">
            <a:avLst/>
          </a:prstGeom>
        </p:spPr>
      </p:pic>
      <p:sp>
        <p:nvSpPr>
          <p:cNvPr id="5" name="Shape 1"/>
          <p:cNvSpPr/>
          <p:nvPr/>
        </p:nvSpPr>
        <p:spPr>
          <a:xfrm>
            <a:off x="8229600" y="1371600"/>
            <a:ext cx="3474720" cy="2011680"/>
          </a:xfrm>
          <a:prstGeom prst="roundRect">
            <a:avLst>
              <a:gd name="adj" fmla="val 5455"/>
            </a:avLst>
          </a:prstGeom>
          <a:solidFill>
            <a:schemeClr val="bg2"/>
          </a:solidFill>
          <a:ln w="12700">
            <a:solidFill>
              <a:schemeClr val="bg2"/>
            </a:solidFill>
            <a:prstDash val="solid"/>
          </a:ln>
        </p:spPr>
      </p:sp>
      <p:sp>
        <p:nvSpPr>
          <p:cNvPr id="6" name="Text 2"/>
          <p:cNvSpPr txBox="1"/>
          <p:nvPr/>
        </p:nvSpPr>
        <p:spPr>
          <a:xfrm>
            <a:off x="8412480" y="1481328"/>
            <a:ext cx="3108960" cy="411480"/>
          </a:xfrm>
          <a:prstGeom prst="rect">
            <a:avLst/>
          </a:prstGeom>
          <a:noFill/>
          <a:ln/>
        </p:spPr>
        <p:txBody>
          <a:bodyPr wrap="square" lIns="0" tIns="0" rIns="0" bIns="0" rtlCol="0" anchor="t"/>
          <a:lstStyle/>
          <a:p>
            <a:pPr indent="0" marL="0">
              <a:buNone/>
            </a:pPr>
            <a:r>
              <a:rPr lang="en-US" sz="1800" b="1" dirty="0">
                <a:solidFill>
                  <a:schemeClr val="tx2"/>
                </a:solidFill>
              </a:rPr>
              <a:t>ML distance</a:t>
            </a:r>
            <a:endParaRPr lang="en-US" sz="1800" dirty="0"/>
          </a:p>
        </p:txBody>
      </p:sp>
      <p:sp>
        <p:nvSpPr>
          <p:cNvPr id="7" name="Text 3"/>
          <p:cNvSpPr txBox="1"/>
          <p:nvPr/>
        </p:nvSpPr>
        <p:spPr>
          <a:xfrm>
            <a:off x="8412480" y="1938528"/>
            <a:ext cx="3108960" cy="13258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expected substitutions per site, corrected for multiple hits</a:t>
            </a:r>
            <a:endParaRPr lang="en-US" sz="1400" dirty="0"/>
          </a:p>
        </p:txBody>
      </p:sp>
      <p:sp>
        <p:nvSpPr>
          <p:cNvPr id="8" name="Shape 4"/>
          <p:cNvSpPr/>
          <p:nvPr/>
        </p:nvSpPr>
        <p:spPr>
          <a:xfrm>
            <a:off x="8229600" y="3566160"/>
            <a:ext cx="3474720" cy="2194560"/>
          </a:xfrm>
          <a:prstGeom prst="roundRect">
            <a:avLst>
              <a:gd name="adj" fmla="val 5000"/>
            </a:avLst>
          </a:prstGeom>
          <a:solidFill>
            <a:srgbClr val="FDEBD9"/>
          </a:solidFill>
          <a:ln w="12700">
            <a:solidFill>
              <a:srgbClr val="FDEBD9"/>
            </a:solidFill>
            <a:prstDash val="solid"/>
          </a:ln>
        </p:spPr>
      </p:sp>
      <p:sp>
        <p:nvSpPr>
          <p:cNvPr id="9" name="Text 5"/>
          <p:cNvSpPr txBox="1"/>
          <p:nvPr/>
        </p:nvSpPr>
        <p:spPr>
          <a:xfrm>
            <a:off x="8412480" y="3675888"/>
            <a:ext cx="3108960" cy="411480"/>
          </a:xfrm>
          <a:prstGeom prst="rect">
            <a:avLst/>
          </a:prstGeom>
          <a:noFill/>
          <a:ln/>
        </p:spPr>
        <p:txBody>
          <a:bodyPr wrap="square" lIns="0" tIns="0" rIns="0" bIns="0" rtlCol="0" anchor="t"/>
          <a:lstStyle/>
          <a:p>
            <a:pPr indent="0" marL="0">
              <a:buNone/>
            </a:pPr>
            <a:r>
              <a:rPr lang="en-US" sz="1800" b="1" dirty="0">
                <a:solidFill>
                  <a:schemeClr val="tx2"/>
                </a:solidFill>
              </a:rPr>
              <a:t>Validated</a:t>
            </a:r>
            <a:endParaRPr lang="en-US" sz="1800" dirty="0"/>
          </a:p>
        </p:txBody>
      </p:sp>
      <p:sp>
        <p:nvSpPr>
          <p:cNvPr id="10" name="Text 6"/>
          <p:cNvSpPr txBox="1"/>
          <p:nvPr/>
        </p:nvSpPr>
        <p:spPr>
          <a:xfrm>
            <a:off x="8412480" y="4133088"/>
            <a:ext cx="3108960" cy="15087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unbiased within 1.6% on simulated data; matches IQ-TREE within 0.004%</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Explainer: three ways to compare two structures</a:t>
            </a:r>
            <a:endParaRPr lang="en-US" sz="3200" dirty="0"/>
          </a:p>
        </p:txBody>
      </p:sp>
      <p:pic>
        <p:nvPicPr>
          <p:cNvPr id="4" name="Image 0" descr="TM-score, LDDT, pLDDT">    </p:cNvPr>
          <p:cNvPicPr>
            <a:picLocks noChangeAspect="1"/>
          </p:cNvPicPr>
          <p:nvPr/>
        </p:nvPicPr>
        <p:blipFill>
          <a:blip r:embed="rId1"/>
          <a:stretch>
            <a:fillRect/>
          </a:stretch>
        </p:blipFill>
        <p:spPr>
          <a:xfrm>
            <a:off x="457200" y="1405890"/>
            <a:ext cx="7498080" cy="4686300"/>
          </a:xfrm>
          <a:prstGeom prst="rect">
            <a:avLst/>
          </a:prstGeom>
        </p:spPr>
      </p:pic>
      <p:sp>
        <p:nvSpPr>
          <p:cNvPr id="5" name="Text 1"/>
          <p:cNvSpPr txBox="1"/>
          <p:nvPr/>
        </p:nvSpPr>
        <p:spPr>
          <a:xfrm>
            <a:off x="8412480" y="1371600"/>
            <a:ext cx="329184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0.95</a:t>
            </a:r>
            <a:endParaRPr lang="en-US" sz="4400" dirty="0"/>
          </a:p>
        </p:txBody>
      </p:sp>
      <p:sp>
        <p:nvSpPr>
          <p:cNvPr id="6" name="Text 2"/>
          <p:cNvSpPr txBox="1"/>
          <p:nvPr/>
        </p:nvSpPr>
        <p:spPr>
          <a:xfrm>
            <a:off x="8412480" y="2194560"/>
            <a:ext cx="3291840" cy="640080"/>
          </a:xfrm>
          <a:prstGeom prst="rect">
            <a:avLst/>
          </a:prstGeom>
          <a:noFill/>
          <a:ln/>
        </p:spPr>
        <p:txBody>
          <a:bodyPr wrap="square" lIns="0" tIns="0" rIns="0" bIns="0" rtlCol="0" anchor="t"/>
          <a:lstStyle/>
          <a:p>
            <a:pPr indent="0" marL="0">
              <a:buNone/>
            </a:pPr>
            <a:r>
              <a:rPr lang="en-US" sz="1400" dirty="0">
                <a:solidFill>
                  <a:schemeClr val="tx1"/>
                </a:solidFill>
              </a:rPr>
              <a:t>median TM-score between AlphaFold models of identical sequences: predictions are not identical</a:t>
            </a:r>
            <a:endParaRPr lang="en-US" sz="1400" dirty="0"/>
          </a:p>
        </p:txBody>
      </p:sp>
      <p:sp>
        <p:nvSpPr>
          <p:cNvPr id="7" name="Text 3"/>
          <p:cNvSpPr txBox="1"/>
          <p:nvPr/>
        </p:nvSpPr>
        <p:spPr>
          <a:xfrm>
            <a:off x="8412480" y="3291840"/>
            <a:ext cx="3291840" cy="822960"/>
          </a:xfrm>
          <a:prstGeom prst="rect">
            <a:avLst/>
          </a:prstGeom>
          <a:noFill/>
          <a:ln/>
        </p:spPr>
        <p:txBody>
          <a:bodyPr wrap="square" lIns="0" tIns="0" rIns="0" bIns="0" rtlCol="0" anchor="ctr"/>
          <a:lstStyle/>
          <a:p>
            <a:pPr indent="0" marL="0">
              <a:buNone/>
            </a:pPr>
            <a:r>
              <a:rPr lang="en-US" sz="4400" b="1" dirty="0">
                <a:solidFill>
                  <a:schemeClr val="accent3"/>
                </a:solidFill>
                <a:latin typeface="Cambria" pitchFamily="34" charset="0"/>
                <a:ea typeface="Cambria" pitchFamily="34" charset="-122"/>
                <a:cs typeface="Cambria" pitchFamily="34" charset="-120"/>
              </a:rPr>
              <a:t>0.052</a:t>
            </a:r>
            <a:endParaRPr lang="en-US" sz="4400" dirty="0"/>
          </a:p>
        </p:txBody>
      </p:sp>
      <p:sp>
        <p:nvSpPr>
          <p:cNvPr id="8" name="Text 4"/>
          <p:cNvSpPr txBox="1"/>
          <p:nvPr/>
        </p:nvSpPr>
        <p:spPr>
          <a:xfrm>
            <a:off x="8412480" y="4114800"/>
            <a:ext cx="3291840" cy="640080"/>
          </a:xfrm>
          <a:prstGeom prst="rect">
            <a:avLst/>
          </a:prstGeom>
          <a:noFill/>
          <a:ln/>
        </p:spPr>
        <p:txBody>
          <a:bodyPr wrap="square" lIns="0" tIns="0" rIns="0" bIns="0" rtlCol="0" anchor="t"/>
          <a:lstStyle/>
          <a:p>
            <a:pPr indent="0" marL="0">
              <a:buNone/>
            </a:pPr>
            <a:r>
              <a:rPr lang="en-US" sz="1400" dirty="0">
                <a:solidFill>
                  <a:schemeClr val="tx1"/>
                </a:solidFill>
              </a:rPr>
              <a:t>3Di distance at zero sequence change (prediction noise floor)</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Explainer: two estimation engines</a:t>
            </a:r>
            <a:endParaRPr lang="en-US" sz="3200" dirty="0"/>
          </a:p>
        </p:txBody>
      </p:sp>
      <p:pic>
        <p:nvPicPr>
          <p:cNvPr id="4" name="Image 0" descr="Pairwise and branch engines">    </p:cNvPr>
          <p:cNvPicPr>
            <a:picLocks noChangeAspect="1"/>
          </p:cNvPicPr>
          <p:nvPr/>
        </p:nvPicPr>
        <p:blipFill>
          <a:blip r:embed="rId1"/>
          <a:stretch>
            <a:fillRect/>
          </a:stretch>
        </p:blipFill>
        <p:spPr>
          <a:xfrm>
            <a:off x="384048" y="1188720"/>
            <a:ext cx="8193024" cy="5120640"/>
          </a:xfrm>
          <a:prstGeom prst="rect">
            <a:avLst/>
          </a:prstGeom>
        </p:spPr>
      </p:pic>
      <p:sp>
        <p:nvSpPr>
          <p:cNvPr id="5" name="Shape 1"/>
          <p:cNvSpPr/>
          <p:nvPr/>
        </p:nvSpPr>
        <p:spPr>
          <a:xfrm>
            <a:off x="8869680" y="1371600"/>
            <a:ext cx="2834640" cy="2194560"/>
          </a:xfrm>
          <a:prstGeom prst="roundRect">
            <a:avLst>
              <a:gd name="adj" fmla="val 5000"/>
            </a:avLst>
          </a:prstGeom>
          <a:solidFill>
            <a:schemeClr val="bg2"/>
          </a:solidFill>
          <a:ln w="12700">
            <a:solidFill>
              <a:schemeClr val="bg2"/>
            </a:solidFill>
            <a:prstDash val="solid"/>
          </a:ln>
        </p:spPr>
      </p:sp>
      <p:sp>
        <p:nvSpPr>
          <p:cNvPr id="6" name="Text 2"/>
          <p:cNvSpPr txBox="1"/>
          <p:nvPr/>
        </p:nvSpPr>
        <p:spPr>
          <a:xfrm>
            <a:off x="9052560" y="1481328"/>
            <a:ext cx="2468880" cy="411480"/>
          </a:xfrm>
          <a:prstGeom prst="rect">
            <a:avLst/>
          </a:prstGeom>
          <a:noFill/>
          <a:ln/>
        </p:spPr>
        <p:txBody>
          <a:bodyPr wrap="square" lIns="0" tIns="0" rIns="0" bIns="0" rtlCol="0" anchor="t"/>
          <a:lstStyle/>
          <a:p>
            <a:pPr indent="0" marL="0">
              <a:buNone/>
            </a:pPr>
            <a:r>
              <a:rPr lang="en-US" sz="1800" b="1" dirty="0">
                <a:solidFill>
                  <a:schemeClr val="tx2"/>
                </a:solidFill>
              </a:rPr>
              <a:t>Shape</a:t>
            </a:r>
            <a:endParaRPr lang="en-US" sz="1800" dirty="0"/>
          </a:p>
        </p:txBody>
      </p:sp>
      <p:sp>
        <p:nvSpPr>
          <p:cNvPr id="7" name="Text 3"/>
          <p:cNvSpPr txBox="1"/>
          <p:nvPr/>
        </p:nvSpPr>
        <p:spPr>
          <a:xfrm>
            <a:off x="9052560" y="1938528"/>
            <a:ext cx="2468880" cy="15087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curvature c from pairs (E1, E2)</a:t>
            </a:r>
            <a:endParaRPr lang="en-US" sz="1400" dirty="0"/>
          </a:p>
        </p:txBody>
      </p:sp>
      <p:sp>
        <p:nvSpPr>
          <p:cNvPr id="8" name="Shape 4"/>
          <p:cNvSpPr/>
          <p:nvPr/>
        </p:nvSpPr>
        <p:spPr>
          <a:xfrm>
            <a:off x="8869680" y="3749040"/>
            <a:ext cx="2834640" cy="2286000"/>
          </a:xfrm>
          <a:prstGeom prst="roundRect">
            <a:avLst>
              <a:gd name="adj" fmla="val 4800"/>
            </a:avLst>
          </a:prstGeom>
          <a:solidFill>
            <a:srgbClr val="FDEBD9"/>
          </a:solidFill>
          <a:ln w="12700">
            <a:solidFill>
              <a:srgbClr val="FDEBD9"/>
            </a:solidFill>
            <a:prstDash val="solid"/>
          </a:ln>
        </p:spPr>
      </p:sp>
      <p:sp>
        <p:nvSpPr>
          <p:cNvPr id="9" name="Text 5"/>
          <p:cNvSpPr txBox="1"/>
          <p:nvPr/>
        </p:nvSpPr>
        <p:spPr>
          <a:xfrm>
            <a:off x="9052560" y="3858768"/>
            <a:ext cx="2468880" cy="411480"/>
          </a:xfrm>
          <a:prstGeom prst="rect">
            <a:avLst/>
          </a:prstGeom>
          <a:noFill/>
          <a:ln/>
        </p:spPr>
        <p:txBody>
          <a:bodyPr wrap="square" lIns="0" tIns="0" rIns="0" bIns="0" rtlCol="0" anchor="t"/>
          <a:lstStyle/>
          <a:p>
            <a:pPr indent="0" marL="0">
              <a:buNone/>
            </a:pPr>
            <a:r>
              <a:rPr lang="en-US" sz="1800" b="1" dirty="0">
                <a:solidFill>
                  <a:schemeClr val="tx2"/>
                </a:solidFill>
              </a:rPr>
              <a:t>Ratio · time · lineage</a:t>
            </a:r>
            <a:endParaRPr lang="en-US" sz="1800" dirty="0"/>
          </a:p>
        </p:txBody>
      </p:sp>
      <p:sp>
        <p:nvSpPr>
          <p:cNvPr id="10" name="Text 6"/>
          <p:cNvSpPr txBox="1"/>
          <p:nvPr/>
        </p:nvSpPr>
        <p:spPr>
          <a:xfrm>
            <a:off x="9052560" y="4315968"/>
            <a:ext cx="2468880" cy="16002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branch lengths on the species tree (E3–E5)</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Explainer: molecular clock and the neutral null</a:t>
            </a:r>
            <a:endParaRPr lang="en-US" sz="3200" dirty="0"/>
          </a:p>
        </p:txBody>
      </p:sp>
      <p:pic>
        <p:nvPicPr>
          <p:cNvPr id="4" name="Image 0" descr="Molecular clock schematic">    </p:cNvPr>
          <p:cNvPicPr>
            <a:picLocks noChangeAspect="1"/>
          </p:cNvPicPr>
          <p:nvPr/>
        </p:nvPicPr>
        <p:blipFill>
          <a:blip r:embed="rId1"/>
          <a:stretch>
            <a:fillRect/>
          </a:stretch>
        </p:blipFill>
        <p:spPr>
          <a:xfrm>
            <a:off x="457200" y="1405890"/>
            <a:ext cx="7498080" cy="4686300"/>
          </a:xfrm>
          <a:prstGeom prst="rect">
            <a:avLst/>
          </a:prstGeom>
        </p:spPr>
      </p:pic>
      <p:sp>
        <p:nvSpPr>
          <p:cNvPr id="5" name="Shape 1"/>
          <p:cNvSpPr/>
          <p:nvPr/>
        </p:nvSpPr>
        <p:spPr>
          <a:xfrm>
            <a:off x="8229600" y="1371600"/>
            <a:ext cx="3474720" cy="2011680"/>
          </a:xfrm>
          <a:prstGeom prst="roundRect">
            <a:avLst>
              <a:gd name="adj" fmla="val 5455"/>
            </a:avLst>
          </a:prstGeom>
          <a:solidFill>
            <a:schemeClr val="bg2"/>
          </a:solidFill>
          <a:ln w="12700">
            <a:solidFill>
              <a:schemeClr val="bg2"/>
            </a:solidFill>
            <a:prstDash val="solid"/>
          </a:ln>
        </p:spPr>
      </p:sp>
      <p:sp>
        <p:nvSpPr>
          <p:cNvPr id="6" name="Text 2"/>
          <p:cNvSpPr txBox="1"/>
          <p:nvPr/>
        </p:nvSpPr>
        <p:spPr>
          <a:xfrm>
            <a:off x="8412480" y="1481328"/>
            <a:ext cx="3108960" cy="411480"/>
          </a:xfrm>
          <a:prstGeom prst="rect">
            <a:avLst/>
          </a:prstGeom>
          <a:noFill/>
          <a:ln/>
        </p:spPr>
        <p:txBody>
          <a:bodyPr wrap="square" lIns="0" tIns="0" rIns="0" bIns="0" rtlCol="0" anchor="t"/>
          <a:lstStyle/>
          <a:p>
            <a:pPr indent="0" marL="0">
              <a:buNone/>
            </a:pPr>
            <a:r>
              <a:rPr lang="en-US" sz="1800" b="1" dirty="0">
                <a:solidFill>
                  <a:schemeClr val="tx2"/>
                </a:solidFill>
              </a:rPr>
              <a:t>Proportional</a:t>
            </a:r>
            <a:endParaRPr lang="en-US" sz="1800" dirty="0"/>
          </a:p>
        </p:txBody>
      </p:sp>
      <p:sp>
        <p:nvSpPr>
          <p:cNvPr id="7" name="Text 3"/>
          <p:cNvSpPr txBox="1"/>
          <p:nvPr/>
        </p:nvSpPr>
        <p:spPr>
          <a:xfrm>
            <a:off x="8412480" y="1938528"/>
            <a:ext cx="3108960" cy="13258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constant 3Di/AA ratio across ages and lineages</a:t>
            </a:r>
            <a:endParaRPr lang="en-US" sz="1400" dirty="0"/>
          </a:p>
        </p:txBody>
      </p:sp>
      <p:sp>
        <p:nvSpPr>
          <p:cNvPr id="8" name="Shape 4"/>
          <p:cNvSpPr/>
          <p:nvPr/>
        </p:nvSpPr>
        <p:spPr>
          <a:xfrm>
            <a:off x="8229600" y="3566160"/>
            <a:ext cx="3474720" cy="2194560"/>
          </a:xfrm>
          <a:prstGeom prst="roundRect">
            <a:avLst>
              <a:gd name="adj" fmla="val 5000"/>
            </a:avLst>
          </a:prstGeom>
          <a:solidFill>
            <a:srgbClr val="FBE3DC"/>
          </a:solidFill>
          <a:ln w="12700">
            <a:solidFill>
              <a:srgbClr val="FBE3DC"/>
            </a:solidFill>
            <a:prstDash val="solid"/>
          </a:ln>
        </p:spPr>
      </p:sp>
      <p:sp>
        <p:nvSpPr>
          <p:cNvPr id="9" name="Text 5"/>
          <p:cNvSpPr txBox="1"/>
          <p:nvPr/>
        </p:nvSpPr>
        <p:spPr>
          <a:xfrm>
            <a:off x="8412480" y="3675888"/>
            <a:ext cx="3108960" cy="411480"/>
          </a:xfrm>
          <a:prstGeom prst="rect">
            <a:avLst/>
          </a:prstGeom>
          <a:noFill/>
          <a:ln/>
        </p:spPr>
        <p:txBody>
          <a:bodyPr wrap="square" lIns="0" tIns="0" rIns="0" bIns="0" rtlCol="0" anchor="t"/>
          <a:lstStyle/>
          <a:p>
            <a:pPr indent="0" marL="0">
              <a:buNone/>
            </a:pPr>
            <a:r>
              <a:rPr lang="en-US" sz="1800" b="1" dirty="0">
                <a:solidFill>
                  <a:schemeClr val="tx2"/>
                </a:solidFill>
              </a:rPr>
              <a:t>Violation</a:t>
            </a:r>
            <a:endParaRPr lang="en-US" sz="1800" dirty="0"/>
          </a:p>
        </p:txBody>
      </p:sp>
      <p:sp>
        <p:nvSpPr>
          <p:cNvPr id="10" name="Text 6"/>
          <p:cNvSpPr txBox="1"/>
          <p:nvPr/>
        </p:nvSpPr>
        <p:spPr>
          <a:xfrm>
            <a:off x="8412480" y="4133088"/>
            <a:ext cx="3108960" cy="15087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ratio drifts with age, or some lineages change structure faster</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How this differs from previous approaches</a:t>
            </a:r>
            <a:endParaRPr lang="en-US" sz="3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651760"/>
                <a:gridCol w="2286000"/>
                <a:gridCol w="2011680"/>
                <a:gridCol w="2194560"/>
                <a:gridCol w="1920240"/>
              </a:tblGrid>
              <a:tr h="62179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Study</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C4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Pairs</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C4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Divergence axis</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C4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Structure measure</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C4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Scale / focus</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C49"/>
                    </a:solidFill>
                  </a:tcPr>
                </a:tc>
              </a:tr>
              <a:tr h="621792">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Illergård et al. 2009</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SCOP domain pairs (PDB)</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substitutions</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core states / RMSD</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~hundreds of families</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r>
              <a:tr h="621792">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Pascual-García et al. 2019</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superfamilies (PDB)</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substitutions</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structural distances</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clock violations vs function</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21792">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Barrio-Hernandez et al. 2023</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AFDB, 214 M models</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none (cluster LCA)</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Foldseek clustering</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no rate analysis</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r>
              <a:tr h="621792">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Moi et al. 2025 (FoldTree)</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families (AFDB)</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tree topology</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3Di + AA distances</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phylogenies</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21792">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Warwick Vesztrocy et al. 2025</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paralogs (AFDB)</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branch lengths</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Foldseek LDDT</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least-diverged ortholog</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r>
              <a:tr h="621792">
                <a:tc>
                  <a:txBody>
                    <a:bodyPr/>
                    <a:lstStyle/>
                    <a:p>
                      <a:pPr indent="0" marL="0">
                        <a:buNone/>
                      </a:pPr>
                      <a:r>
                        <a:rPr lang="en-US" sz="1400" b="1" dirty="0">
                          <a:solidFill>
                            <a:srgbClr val="000000"/>
                          </a:solidFill>
                          <a:latin typeface="Calibri" pitchFamily="34" charset="0"/>
                          <a:ea typeface="Calibri" pitchFamily="34" charset="-122"/>
                          <a:cs typeface="Calibri" pitchFamily="34" charset="-120"/>
                        </a:rPr>
                        <a:t>This project</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BD9"/>
                    </a:solidFill>
                  </a:tcPr>
                </a:tc>
                <a:tc>
                  <a:txBody>
                    <a:bodyPr/>
                    <a:lstStyle/>
                    <a:p>
                      <a:pPr indent="0" marL="0">
                        <a:buNone/>
                      </a:pPr>
                      <a:r>
                        <a:rPr lang="en-US" sz="1400" b="1" dirty="0">
                          <a:solidFill>
                            <a:srgbClr val="000000"/>
                          </a:solidFill>
                          <a:latin typeface="Calibri" pitchFamily="34" charset="0"/>
                          <a:ea typeface="Calibri" pitchFamily="34" charset="-122"/>
                          <a:cs typeface="Calibri" pitchFamily="34" charset="-120"/>
                        </a:rPr>
                        <a:t>orthologs, 180 eukaryotes</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BD9"/>
                    </a:solidFill>
                  </a:tcPr>
                </a:tc>
                <a:tc>
                  <a:txBody>
                    <a:bodyPr/>
                    <a:lstStyle/>
                    <a:p>
                      <a:pPr indent="0" marL="0">
                        <a:buNone/>
                      </a:pPr>
                      <a:r>
                        <a:rPr lang="en-US" sz="1400" b="1" dirty="0">
                          <a:solidFill>
                            <a:srgbClr val="000000"/>
                          </a:solidFill>
                          <a:latin typeface="Calibri" pitchFamily="34" charset="0"/>
                          <a:ea typeface="Calibri" pitchFamily="34" charset="-122"/>
                          <a:cs typeface="Calibri" pitchFamily="34" charset="-120"/>
                        </a:rPr>
                        <a:t>TimeTree ages + ML</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BD9"/>
                    </a:solidFill>
                  </a:tcPr>
                </a:tc>
                <a:tc>
                  <a:txBody>
                    <a:bodyPr/>
                    <a:lstStyle/>
                    <a:p>
                      <a:pPr indent="0" marL="0">
                        <a:buNone/>
                      </a:pPr>
                      <a:r>
                        <a:rPr lang="en-US" sz="1400" b="1" dirty="0">
                          <a:solidFill>
                            <a:srgbClr val="000000"/>
                          </a:solidFill>
                          <a:latin typeface="Calibri" pitchFamily="34" charset="0"/>
                          <a:ea typeface="Calibri" pitchFamily="34" charset="-122"/>
                          <a:cs typeface="Calibri" pitchFamily="34" charset="-120"/>
                        </a:rPr>
                        <a:t>3Di (Q.3Di.AF), LDDT, TM</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BD9"/>
                    </a:solidFill>
                  </a:tcPr>
                </a:tc>
                <a:tc>
                  <a:txBody>
                    <a:bodyPr/>
                    <a:lstStyle/>
                    <a:p>
                      <a:pPr indent="0" marL="0">
                        <a:buNone/>
                      </a:pPr>
                      <a:r>
                        <a:rPr lang="en-US" sz="1400" b="1" dirty="0">
                          <a:solidFill>
                            <a:srgbClr val="000000"/>
                          </a:solidFill>
                          <a:latin typeface="Calibri" pitchFamily="34" charset="0"/>
                          <a:ea typeface="Calibri" pitchFamily="34" charset="-122"/>
                          <a:cs typeface="Calibri" pitchFamily="34" charset="-120"/>
                        </a:rPr>
                        <a:t>7,000 families, pre-registered</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BD9"/>
                    </a:solidFill>
                  </a:tcPr>
                </a:tc>
              </a:tr>
            </a:tbl>
          </a:graphicData>
        </a:graphic>
      </p:graphicFrame>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822960" y="2514600"/>
            <a:ext cx="1051560" cy="1051560"/>
          </a:xfrm>
          <a:prstGeom prst="ellipse">
            <a:avLst/>
          </a:prstGeom>
          <a:solidFill>
            <a:schemeClr val="accent2"/>
          </a:solidFill>
          <a:ln w="12700">
            <a:solidFill>
              <a:schemeClr val="accent2"/>
            </a:solidFill>
            <a:prstDash val="solid"/>
          </a:ln>
        </p:spPr>
      </p:sp>
      <p:sp>
        <p:nvSpPr>
          <p:cNvPr id="3" name="Text 1"/>
          <p:cNvSpPr txBox="1"/>
          <p:nvPr/>
        </p:nvSpPr>
        <p:spPr>
          <a:xfrm>
            <a:off x="822960" y="2514600"/>
            <a:ext cx="1051560" cy="1051560"/>
          </a:xfrm>
          <a:prstGeom prst="rect">
            <a:avLst/>
          </a:prstGeom>
          <a:noFill/>
          <a:ln/>
        </p:spPr>
        <p:txBody>
          <a:bodyPr wrap="square" rtlCol="0" anchor="ctr"/>
          <a:lstStyle/>
          <a:p>
            <a:pPr algn="ctr" indent="0" marL="0">
              <a:buNone/>
            </a:pPr>
            <a:r>
              <a:rPr lang="en-US" sz="3600" b="1" dirty="0">
                <a:solidFill>
                  <a:schemeClr val="tx2"/>
                </a:solidFill>
                <a:latin typeface="Cambria" pitchFamily="34" charset="0"/>
                <a:ea typeface="Cambria" pitchFamily="34" charset="-122"/>
                <a:cs typeface="Cambria" pitchFamily="34" charset="-120"/>
              </a:rPr>
              <a:t>5</a:t>
            </a:r>
            <a:endParaRPr lang="en-US" sz="3600" dirty="0"/>
          </a:p>
        </p:txBody>
      </p:sp>
      <p:sp>
        <p:nvSpPr>
          <p:cNvPr id="4" name="Text 0"/>
          <p:cNvSpPr/>
          <p:nvPr>
            <p:ph idx="100" type="title" hasCustomPrompt="1"/>
          </p:nvPr>
        </p:nvSpPr>
        <p:spPr>
          <a:xfrm>
            <a:off x="2103120" y="2468880"/>
            <a:ext cx="9326880" cy="1188720"/>
          </a:xfrm>
          <a:prstGeom prst="rect">
            <a:avLst/>
          </a:prstGeom>
          <a:noFill/>
          <a:ln/>
        </p:spPr>
        <p:txBody>
          <a:bodyPr wrap="square" rtlCol="0" anchor="ctr"/>
          <a:lstStyle/>
          <a:p>
            <a:pPr algn="l" indent="0" marL="0">
              <a:buNone/>
            </a:pPr>
            <a:r>
              <a:rPr lang="en-US" sz="4000" b="1" dirty="0">
                <a:solidFill>
                  <a:schemeClr val="bg1"/>
                </a:solidFill>
              </a:rPr>
              <a:t>The hypotheses, one by one</a:t>
            </a:r>
            <a:endParaRPr lang="en-US" sz="4000" dirty="0"/>
          </a:p>
        </p:txBody>
      </p:sp>
      <p:sp>
        <p:nvSpPr>
          <p:cNvPr id="5" name="Text 0"/>
          <p:cNvSpPr/>
          <p:nvPr>
            <p:ph idx="101" type="body" hasCustomPrompt="1"/>
          </p:nvPr>
        </p:nvSpPr>
        <p:spPr>
          <a:xfrm>
            <a:off x="2103120" y="3657600"/>
            <a:ext cx="9326880" cy="1097280"/>
          </a:xfrm>
          <a:prstGeom prst="rect">
            <a:avLst/>
          </a:prstGeom>
          <a:noFill/>
          <a:ln/>
        </p:spPr>
        <p:txBody>
          <a:bodyPr wrap="square" rtlCol="0" anchor="t"/>
          <a:lstStyle/>
          <a:p>
            <a:pPr indent="0" marL="0">
              <a:buNone/>
            </a:pPr>
            <a:r>
              <a:rPr lang="en-US" sz="1800" dirty="0">
                <a:solidFill>
                  <a:schemeClr val="bg2"/>
                </a:solidFill>
              </a:rPr>
              <a:t>Each with: what it is, prior literature, pros and cons of our test, and the verdict</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H1 · Shape: does structure diverge linearly with sequence?</a:t>
            </a:r>
            <a:endParaRPr lang="en-US" sz="3200" dirty="0"/>
          </a:p>
        </p:txBody>
      </p:sp>
      <p:pic>
        <p:nvPicPr>
          <p:cNvPr id="4" name="Image 0" descr="H1 · Shape: does structure diverge linearly with sequence?">    </p:cNvPr>
          <p:cNvPicPr>
            <a:picLocks noChangeAspect="1"/>
          </p:cNvPicPr>
          <p:nvPr/>
        </p:nvPicPr>
        <p:blipFill>
          <a:blip r:embed="rId1"/>
          <a:stretch>
            <a:fillRect/>
          </a:stretch>
        </p:blipFill>
        <p:spPr>
          <a:xfrm>
            <a:off x="730174" y="1188720"/>
            <a:ext cx="5031892" cy="4206240"/>
          </a:xfrm>
          <a:prstGeom prst="rect">
            <a:avLst/>
          </a:prstGeom>
        </p:spPr>
      </p:pic>
      <p:sp>
        <p:nvSpPr>
          <p:cNvPr id="5" name="Text 1"/>
          <p:cNvSpPr txBox="1"/>
          <p:nvPr/>
        </p:nvSpPr>
        <p:spPr>
          <a:xfrm>
            <a:off x="457200" y="5486400"/>
            <a:ext cx="5669280" cy="822960"/>
          </a:xfrm>
          <a:prstGeom prst="rect">
            <a:avLst/>
          </a:prstGeom>
          <a:noFill/>
          <a:ln/>
        </p:spPr>
        <p:txBody>
          <a:bodyPr wrap="square" lIns="0" tIns="0" rIns="0" bIns="0" rtlCol="0" anchor="t"/>
          <a:lstStyle/>
          <a:p>
            <a:pPr indent="0" marL="0">
              <a:buNone/>
            </a:pPr>
            <a:r>
              <a:rPr lang="en-US" sz="1400" i="1" dirty="0">
                <a:solidFill>
                  <a:schemeClr val="tx2"/>
                </a:solidFill>
              </a:rPr>
              <a:t>3Di (and LDDT) distance vs amino-acid distance across ortholog pairs; curvature c = 1 is linear.</a:t>
            </a:r>
            <a:endParaRPr lang="en-US" sz="1400" dirty="0"/>
          </a:p>
        </p:txBody>
      </p:sp>
      <p:sp>
        <p:nvSpPr>
          <p:cNvPr id="6" name="Text 2"/>
          <p:cNvSpPr txBox="1"/>
          <p:nvPr/>
        </p:nvSpPr>
        <p:spPr>
          <a:xfrm>
            <a:off x="6400800" y="1188720"/>
            <a:ext cx="5303520" cy="320040"/>
          </a:xfrm>
          <a:prstGeom prst="rect">
            <a:avLst/>
          </a:prstGeom>
          <a:noFill/>
          <a:ln/>
        </p:spPr>
        <p:txBody>
          <a:bodyPr wrap="square" lIns="0" tIns="0" rIns="0" bIns="0" rtlCol="0" anchor="ctr"/>
          <a:lstStyle/>
          <a:p>
            <a:pPr indent="0" marL="0">
              <a:buNone/>
            </a:pPr>
            <a:r>
              <a:rPr lang="en-US" sz="1500" b="1" dirty="0">
                <a:solidFill>
                  <a:schemeClr val="accent1"/>
                </a:solidFill>
              </a:rPr>
              <a:t>Prior work</a:t>
            </a:r>
            <a:endParaRPr lang="en-US" sz="1500" dirty="0"/>
          </a:p>
        </p:txBody>
      </p:sp>
      <p:sp>
        <p:nvSpPr>
          <p:cNvPr id="7" name="Text 3"/>
          <p:cNvSpPr txBox="1"/>
          <p:nvPr/>
        </p:nvSpPr>
        <p:spPr>
          <a:xfrm>
            <a:off x="6400800" y="1508760"/>
            <a:ext cx="5303520" cy="777240"/>
          </a:xfrm>
          <a:prstGeom prst="rect">
            <a:avLst/>
          </a:prstGeom>
          <a:noFill/>
          <a:ln/>
        </p:spPr>
        <p:txBody>
          <a:bodyPr wrap="square" lIns="0" tIns="0" rIns="0" bIns="0" rtlCol="0" anchor="t"/>
          <a:lstStyle/>
          <a:p>
            <a:pPr indent="0" marL="0">
              <a:buNone/>
            </a:pPr>
            <a:r>
              <a:rPr lang="en-US" sz="1300" dirty="0">
                <a:solidFill>
                  <a:schemeClr val="tx1"/>
                </a:solidFill>
              </a:rPr>
              <a:t>Chothia &amp; Lesk 1986 (exponential vs identity); Koehl &amp; Levitt 2002; Illergård et al. 2009 (linear vs ML distance).</a:t>
            </a:r>
            <a:endParaRPr lang="en-US" sz="1300" dirty="0"/>
          </a:p>
        </p:txBody>
      </p:sp>
      <p:sp>
        <p:nvSpPr>
          <p:cNvPr id="8" name="Shape 4"/>
          <p:cNvSpPr/>
          <p:nvPr/>
        </p:nvSpPr>
        <p:spPr>
          <a:xfrm>
            <a:off x="6400800" y="2331720"/>
            <a:ext cx="2560320" cy="1874520"/>
          </a:xfrm>
          <a:prstGeom prst="roundRect">
            <a:avLst>
              <a:gd name="adj" fmla="val 5854"/>
            </a:avLst>
          </a:prstGeom>
          <a:solidFill>
            <a:schemeClr val="bg2"/>
          </a:solidFill>
          <a:ln w="12700">
            <a:solidFill>
              <a:schemeClr val="bg2"/>
            </a:solidFill>
            <a:prstDash val="solid"/>
          </a:ln>
        </p:spPr>
      </p:sp>
      <p:sp>
        <p:nvSpPr>
          <p:cNvPr id="9" name="Text 5"/>
          <p:cNvSpPr txBox="1"/>
          <p:nvPr/>
        </p:nvSpPr>
        <p:spPr>
          <a:xfrm>
            <a:off x="6583680" y="2441448"/>
            <a:ext cx="2194560" cy="411480"/>
          </a:xfrm>
          <a:prstGeom prst="rect">
            <a:avLst/>
          </a:prstGeom>
          <a:noFill/>
          <a:ln/>
        </p:spPr>
        <p:txBody>
          <a:bodyPr wrap="square" lIns="0" tIns="0" rIns="0" bIns="0" rtlCol="0" anchor="t"/>
          <a:lstStyle/>
          <a:p>
            <a:pPr indent="0" marL="0">
              <a:buNone/>
            </a:pPr>
            <a:r>
              <a:rPr lang="en-US" sz="1500" b="1" dirty="0">
                <a:solidFill>
                  <a:schemeClr val="tx2"/>
                </a:solidFill>
              </a:rPr>
              <a:t>+ Pros</a:t>
            </a:r>
            <a:endParaRPr lang="en-US" sz="1500" dirty="0"/>
          </a:p>
        </p:txBody>
      </p:sp>
      <p:sp>
        <p:nvSpPr>
          <p:cNvPr id="10" name="Text 6"/>
          <p:cNvSpPr txBox="1"/>
          <p:nvPr/>
        </p:nvSpPr>
        <p:spPr>
          <a:xfrm>
            <a:off x="6537960" y="2697480"/>
            <a:ext cx="2331720" cy="14630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orthology-selected pairs</a:t>
            </a:r>
            <a:endParaRPr lang="en-US" sz="1400" dirty="0"/>
          </a:p>
          <a:p>
            <a:pPr marL="342900" indent="-342900">
              <a:spcAft>
                <a:spcPts val="300"/>
              </a:spcAft>
              <a:buSzPct val="100000"/>
              <a:buChar char="•"/>
            </a:pPr>
            <a:r>
              <a:rPr lang="en-US" sz="1400" dirty="0">
                <a:solidFill>
                  <a:schemeClr val="tx1"/>
                </a:solidFill>
              </a:rPr>
              <a:t>matched 20-state models</a:t>
            </a:r>
            <a:endParaRPr lang="en-US" sz="1400" dirty="0"/>
          </a:p>
          <a:p>
            <a:pPr marL="342900" indent="-342900">
              <a:spcAft>
                <a:spcPts val="300"/>
              </a:spcAft>
              <a:buSzPct val="100000"/>
              <a:buChar char="•"/>
            </a:pPr>
            <a:r>
              <a:rPr lang="en-US" sz="1400" dirty="0">
                <a:solidFill>
                  <a:schemeClr val="tx1"/>
                </a:solidFill>
              </a:rPr>
              <a:t>errors-in-variables correction</a:t>
            </a:r>
            <a:endParaRPr lang="en-US" sz="1400" dirty="0"/>
          </a:p>
          <a:p>
            <a:pPr marL="342900" indent="-342900">
              <a:spcAft>
                <a:spcPts val="300"/>
              </a:spcAft>
              <a:buSzPct val="100000"/>
              <a:buChar char="•"/>
            </a:pPr>
            <a:r>
              <a:rPr lang="en-US" sz="1400" dirty="0">
                <a:solidFill>
                  <a:schemeClr val="tx1"/>
                </a:solidFill>
              </a:rPr>
              <a:t>3 alignments</a:t>
            </a:r>
            <a:endParaRPr lang="en-US" sz="1400" dirty="0"/>
          </a:p>
        </p:txBody>
      </p:sp>
      <p:sp>
        <p:nvSpPr>
          <p:cNvPr id="11" name="Shape 7"/>
          <p:cNvSpPr/>
          <p:nvPr/>
        </p:nvSpPr>
        <p:spPr>
          <a:xfrm>
            <a:off x="9144000" y="2331720"/>
            <a:ext cx="2560320" cy="1874520"/>
          </a:xfrm>
          <a:prstGeom prst="roundRect">
            <a:avLst>
              <a:gd name="adj" fmla="val 5854"/>
            </a:avLst>
          </a:prstGeom>
          <a:solidFill>
            <a:srgbClr val="FBE3DC"/>
          </a:solidFill>
          <a:ln w="12700">
            <a:solidFill>
              <a:srgbClr val="FBE3DC"/>
            </a:solidFill>
            <a:prstDash val="solid"/>
          </a:ln>
        </p:spPr>
      </p:sp>
      <p:sp>
        <p:nvSpPr>
          <p:cNvPr id="12" name="Text 8"/>
          <p:cNvSpPr txBox="1"/>
          <p:nvPr/>
        </p:nvSpPr>
        <p:spPr>
          <a:xfrm>
            <a:off x="9326880" y="2441448"/>
            <a:ext cx="2194560" cy="411480"/>
          </a:xfrm>
          <a:prstGeom prst="rect">
            <a:avLst/>
          </a:prstGeom>
          <a:noFill/>
          <a:ln/>
        </p:spPr>
        <p:txBody>
          <a:bodyPr wrap="square" lIns="0" tIns="0" rIns="0" bIns="0" rtlCol="0" anchor="t"/>
          <a:lstStyle/>
          <a:p>
            <a:pPr indent="0" marL="0">
              <a:buNone/>
            </a:pPr>
            <a:r>
              <a:rPr lang="en-US" sz="1500" b="1" dirty="0">
                <a:solidFill>
                  <a:schemeClr val="tx2"/>
                </a:solidFill>
              </a:rPr>
              <a:t>− Cons</a:t>
            </a:r>
            <a:endParaRPr lang="en-US" sz="1500" dirty="0"/>
          </a:p>
        </p:txBody>
      </p:sp>
      <p:sp>
        <p:nvSpPr>
          <p:cNvPr id="13" name="Text 9"/>
          <p:cNvSpPr txBox="1"/>
          <p:nvPr/>
        </p:nvSpPr>
        <p:spPr>
          <a:xfrm>
            <a:off x="9281160" y="2697480"/>
            <a:ext cx="2331720" cy="14630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per-model AlphaFold noise biases toward concave</a:t>
            </a:r>
            <a:endParaRPr lang="en-US" sz="1400" dirty="0"/>
          </a:p>
          <a:p>
            <a:pPr marL="342900" indent="-342900">
              <a:spcAft>
                <a:spcPts val="300"/>
              </a:spcAft>
              <a:buSzPct val="100000"/>
              <a:buChar char="•"/>
            </a:pPr>
            <a:r>
              <a:rPr lang="en-US" sz="1400" dirty="0">
                <a:solidFill>
                  <a:schemeClr val="tx1"/>
                </a:solidFill>
              </a:rPr>
              <a:t>mild curvature hard to detect</a:t>
            </a:r>
            <a:endParaRPr lang="en-US" sz="1400" dirty="0"/>
          </a:p>
        </p:txBody>
      </p:sp>
      <p:sp>
        <p:nvSpPr>
          <p:cNvPr id="14" name="Shape 10"/>
          <p:cNvSpPr/>
          <p:nvPr/>
        </p:nvSpPr>
        <p:spPr>
          <a:xfrm>
            <a:off x="6400800" y="4389120"/>
            <a:ext cx="2103120" cy="384048"/>
          </a:xfrm>
          <a:prstGeom prst="roundRect">
            <a:avLst>
              <a:gd name="adj" fmla="val 47619"/>
            </a:avLst>
          </a:prstGeom>
          <a:solidFill>
            <a:srgbClr val="0B3C49"/>
          </a:solidFill>
          <a:ln w="12700">
            <a:solidFill>
              <a:srgbClr val="0B3C49"/>
            </a:solidFill>
            <a:prstDash val="solid"/>
          </a:ln>
        </p:spPr>
      </p:sp>
      <p:sp>
        <p:nvSpPr>
          <p:cNvPr id="15" name="Text 11"/>
          <p:cNvSpPr txBox="1"/>
          <p:nvPr/>
        </p:nvSpPr>
        <p:spPr>
          <a:xfrm>
            <a:off x="6400800" y="4389120"/>
            <a:ext cx="2103120" cy="384048"/>
          </a:xfrm>
          <a:prstGeom prst="rect">
            <a:avLst/>
          </a:prstGeom>
          <a:noFill/>
          <a:ln/>
        </p:spPr>
        <p:txBody>
          <a:bodyPr wrap="square" lIns="0" tIns="0" rIns="0" bIns="0" rtlCol="0" anchor="ctr"/>
          <a:lstStyle/>
          <a:p>
            <a:pPr algn="ctr" indent="0" marL="0">
              <a:buNone/>
            </a:pPr>
            <a:r>
              <a:rPr lang="en-US" sz="1300" b="1" dirty="0">
                <a:solidFill>
                  <a:schemeClr val="bg1"/>
                </a:solidFill>
              </a:rPr>
              <a:t>Pre-registered</a:t>
            </a:r>
            <a:endParaRPr lang="en-US" sz="1300" dirty="0"/>
          </a:p>
        </p:txBody>
      </p:sp>
      <p:sp>
        <p:nvSpPr>
          <p:cNvPr id="16" name="Text 12"/>
          <p:cNvSpPr txBox="1"/>
          <p:nvPr/>
        </p:nvSpPr>
        <p:spPr>
          <a:xfrm>
            <a:off x="8595360" y="4343400"/>
            <a:ext cx="3108960" cy="822960"/>
          </a:xfrm>
          <a:prstGeom prst="rect">
            <a:avLst/>
          </a:prstGeom>
          <a:noFill/>
          <a:ln/>
        </p:spPr>
        <p:txBody>
          <a:bodyPr wrap="square" lIns="0" tIns="0" rIns="0" bIns="0" rtlCol="0" anchor="t"/>
          <a:lstStyle/>
          <a:p>
            <a:pPr indent="0" marL="0">
              <a:buNone/>
            </a:pPr>
            <a:r>
              <a:rPr lang="en-US" sz="1400" dirty="0">
                <a:solidFill>
                  <a:schemeClr val="tx1"/>
                </a:solidFill>
              </a:rPr>
              <a:t>Concave: ĉ = 0.72 [0.64–0.80], robust to alignment</a:t>
            </a:r>
            <a:endParaRPr lang="en-US" sz="1400" dirty="0"/>
          </a:p>
        </p:txBody>
      </p:sp>
      <p:sp>
        <p:nvSpPr>
          <p:cNvPr id="17" name="Shape 13"/>
          <p:cNvSpPr/>
          <p:nvPr/>
        </p:nvSpPr>
        <p:spPr>
          <a:xfrm>
            <a:off x="6400800" y="5303520"/>
            <a:ext cx="2103120" cy="384048"/>
          </a:xfrm>
          <a:prstGeom prst="roundRect">
            <a:avLst>
              <a:gd name="adj" fmla="val 47619"/>
            </a:avLst>
          </a:prstGeom>
          <a:solidFill>
            <a:srgbClr val="F4A259"/>
          </a:solidFill>
          <a:ln w="12700">
            <a:solidFill>
              <a:srgbClr val="F4A259"/>
            </a:solidFill>
            <a:prstDash val="solid"/>
          </a:ln>
        </p:spPr>
      </p:sp>
      <p:sp>
        <p:nvSpPr>
          <p:cNvPr id="18" name="Text 14"/>
          <p:cNvSpPr txBox="1"/>
          <p:nvPr/>
        </p:nvSpPr>
        <p:spPr>
          <a:xfrm>
            <a:off x="6400800" y="5303520"/>
            <a:ext cx="2103120" cy="384048"/>
          </a:xfrm>
          <a:prstGeom prst="rect">
            <a:avLst/>
          </a:prstGeom>
          <a:noFill/>
          <a:ln/>
        </p:spPr>
        <p:txBody>
          <a:bodyPr wrap="square" lIns="0" tIns="0" rIns="0" bIns="0" rtlCol="0" anchor="ctr"/>
          <a:lstStyle/>
          <a:p>
            <a:pPr algn="ctr" indent="0" marL="0">
              <a:buNone/>
            </a:pPr>
            <a:r>
              <a:rPr lang="en-US" sz="1300" b="1" dirty="0">
                <a:solidFill>
                  <a:srgbClr val="0B3C49"/>
                </a:solidFill>
              </a:rPr>
              <a:t>Post hoc (verified)</a:t>
            </a:r>
            <a:endParaRPr lang="en-US" sz="1300" dirty="0"/>
          </a:p>
        </p:txBody>
      </p:sp>
      <p:sp>
        <p:nvSpPr>
          <p:cNvPr id="19" name="Text 15"/>
          <p:cNvSpPr txBox="1"/>
          <p:nvPr/>
        </p:nvSpPr>
        <p:spPr>
          <a:xfrm>
            <a:off x="8595360" y="5257800"/>
            <a:ext cx="3108960" cy="1005840"/>
          </a:xfrm>
          <a:prstGeom prst="rect">
            <a:avLst/>
          </a:prstGeom>
          <a:noFill/>
          <a:ln/>
        </p:spPr>
        <p:txBody>
          <a:bodyPr wrap="square" lIns="0" tIns="0" rIns="0" bIns="0" rtlCol="0" anchor="t"/>
          <a:lstStyle/>
          <a:p>
            <a:pPr indent="0" marL="0">
              <a:buNone/>
            </a:pPr>
            <a:r>
              <a:rPr lang="en-US" sz="1400" b="1" dirty="0">
                <a:solidFill>
                  <a:schemeClr val="tx2"/>
                </a:solidFill>
              </a:rPr>
              <a:t>Curvature bracketed 0.75–1.0; moves toward 1 in high-confidence models</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H2 · Is structure 3–10× more conserved than sequence?</a:t>
            </a:r>
            <a:endParaRPr lang="en-US" sz="3200" dirty="0"/>
          </a:p>
        </p:txBody>
      </p:sp>
      <p:pic>
        <p:nvPicPr>
          <p:cNvPr id="4" name="Image 0" descr="H2 · Is structure 3–10× more conserved than sequence?">    </p:cNvPr>
          <p:cNvPicPr>
            <a:picLocks noChangeAspect="1"/>
          </p:cNvPicPr>
          <p:nvPr/>
        </p:nvPicPr>
        <p:blipFill>
          <a:blip r:embed="rId1"/>
          <a:stretch>
            <a:fillRect/>
          </a:stretch>
        </p:blipFill>
        <p:spPr>
          <a:xfrm>
            <a:off x="365760" y="1209935"/>
            <a:ext cx="5760720" cy="4163811"/>
          </a:xfrm>
          <a:prstGeom prst="rect">
            <a:avLst/>
          </a:prstGeom>
        </p:spPr>
      </p:pic>
      <p:sp>
        <p:nvSpPr>
          <p:cNvPr id="5" name="Text 1"/>
          <p:cNvSpPr txBox="1"/>
          <p:nvPr/>
        </p:nvSpPr>
        <p:spPr>
          <a:xfrm>
            <a:off x="457200" y="5486400"/>
            <a:ext cx="5669280" cy="822960"/>
          </a:xfrm>
          <a:prstGeom prst="rect">
            <a:avLst/>
          </a:prstGeom>
          <a:noFill/>
          <a:ln/>
        </p:spPr>
        <p:txBody>
          <a:bodyPr wrap="square" lIns="0" tIns="0" rIns="0" bIns="0" rtlCol="0" anchor="t"/>
          <a:lstStyle/>
          <a:p>
            <a:pPr indent="0" marL="0">
              <a:buNone/>
            </a:pPr>
            <a:r>
              <a:rPr lang="en-US" sz="1400" i="1" dirty="0">
                <a:solidFill>
                  <a:schemeClr val="tx2"/>
                </a:solidFill>
              </a:rPr>
              <a:t>k = total amino-acid change / total 3Di change over tree branches.</a:t>
            </a:r>
            <a:endParaRPr lang="en-US" sz="1400" dirty="0"/>
          </a:p>
        </p:txBody>
      </p:sp>
      <p:sp>
        <p:nvSpPr>
          <p:cNvPr id="6" name="Text 2"/>
          <p:cNvSpPr txBox="1"/>
          <p:nvPr/>
        </p:nvSpPr>
        <p:spPr>
          <a:xfrm>
            <a:off x="6400800" y="1188720"/>
            <a:ext cx="5303520" cy="320040"/>
          </a:xfrm>
          <a:prstGeom prst="rect">
            <a:avLst/>
          </a:prstGeom>
          <a:noFill/>
          <a:ln/>
        </p:spPr>
        <p:txBody>
          <a:bodyPr wrap="square" lIns="0" tIns="0" rIns="0" bIns="0" rtlCol="0" anchor="ctr"/>
          <a:lstStyle/>
          <a:p>
            <a:pPr indent="0" marL="0">
              <a:buNone/>
            </a:pPr>
            <a:r>
              <a:rPr lang="en-US" sz="1500" b="1" dirty="0">
                <a:solidFill>
                  <a:schemeClr val="accent1"/>
                </a:solidFill>
              </a:rPr>
              <a:t>Prior work</a:t>
            </a:r>
            <a:endParaRPr lang="en-US" sz="1500" dirty="0"/>
          </a:p>
        </p:txBody>
      </p:sp>
      <p:sp>
        <p:nvSpPr>
          <p:cNvPr id="7" name="Text 3"/>
          <p:cNvSpPr txBox="1"/>
          <p:nvPr/>
        </p:nvSpPr>
        <p:spPr>
          <a:xfrm>
            <a:off x="6400800" y="1508760"/>
            <a:ext cx="5303520" cy="777240"/>
          </a:xfrm>
          <a:prstGeom prst="rect">
            <a:avLst/>
          </a:prstGeom>
          <a:noFill/>
          <a:ln/>
        </p:spPr>
        <p:txBody>
          <a:bodyPr wrap="square" lIns="0" tIns="0" rIns="0" bIns="0" rtlCol="0" anchor="t"/>
          <a:lstStyle/>
          <a:p>
            <a:pPr indent="0" marL="0">
              <a:buNone/>
            </a:pPr>
            <a:r>
              <a:rPr lang="en-US" sz="1300" dirty="0">
                <a:solidFill>
                  <a:schemeClr val="tx1"/>
                </a:solidFill>
              </a:rPr>
              <a:t>Illergård et al. 2009: 3–10× after alphabet matching (15–30× with raw states); β faster than α.</a:t>
            </a:r>
            <a:endParaRPr lang="en-US" sz="1300" dirty="0"/>
          </a:p>
        </p:txBody>
      </p:sp>
      <p:sp>
        <p:nvSpPr>
          <p:cNvPr id="8" name="Shape 4"/>
          <p:cNvSpPr/>
          <p:nvPr/>
        </p:nvSpPr>
        <p:spPr>
          <a:xfrm>
            <a:off x="6400800" y="2331720"/>
            <a:ext cx="2560320" cy="1874520"/>
          </a:xfrm>
          <a:prstGeom prst="roundRect">
            <a:avLst>
              <a:gd name="adj" fmla="val 5854"/>
            </a:avLst>
          </a:prstGeom>
          <a:solidFill>
            <a:schemeClr val="bg2"/>
          </a:solidFill>
          <a:ln w="12700">
            <a:solidFill>
              <a:schemeClr val="bg2"/>
            </a:solidFill>
            <a:prstDash val="solid"/>
          </a:ln>
        </p:spPr>
      </p:sp>
      <p:sp>
        <p:nvSpPr>
          <p:cNvPr id="9" name="Text 5"/>
          <p:cNvSpPr txBox="1"/>
          <p:nvPr/>
        </p:nvSpPr>
        <p:spPr>
          <a:xfrm>
            <a:off x="6583680" y="2441448"/>
            <a:ext cx="2194560" cy="411480"/>
          </a:xfrm>
          <a:prstGeom prst="rect">
            <a:avLst/>
          </a:prstGeom>
          <a:noFill/>
          <a:ln/>
        </p:spPr>
        <p:txBody>
          <a:bodyPr wrap="square" lIns="0" tIns="0" rIns="0" bIns="0" rtlCol="0" anchor="t"/>
          <a:lstStyle/>
          <a:p>
            <a:pPr indent="0" marL="0">
              <a:buNone/>
            </a:pPr>
            <a:r>
              <a:rPr lang="en-US" sz="1500" b="1" dirty="0">
                <a:solidFill>
                  <a:schemeClr val="tx2"/>
                </a:solidFill>
              </a:rPr>
              <a:t>+ Pros</a:t>
            </a:r>
            <a:endParaRPr lang="en-US" sz="1500" dirty="0"/>
          </a:p>
        </p:txBody>
      </p:sp>
      <p:sp>
        <p:nvSpPr>
          <p:cNvPr id="10" name="Text 6"/>
          <p:cNvSpPr txBox="1"/>
          <p:nvPr/>
        </p:nvSpPr>
        <p:spPr>
          <a:xfrm>
            <a:off x="6537960" y="2697480"/>
            <a:ext cx="2331720" cy="14630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true 20 vs 20 comparison</a:t>
            </a:r>
            <a:endParaRPr lang="en-US" sz="1400" dirty="0"/>
          </a:p>
          <a:p>
            <a:pPr marL="342900" indent="-342900">
              <a:spcAft>
                <a:spcPts val="300"/>
              </a:spcAft>
              <a:buSzPct val="100000"/>
              <a:buChar char="•"/>
            </a:pPr>
            <a:r>
              <a:rPr lang="en-US" sz="1400" dirty="0">
                <a:solidFill>
                  <a:schemeClr val="tx1"/>
                </a:solidFill>
              </a:rPr>
              <a:t>branch-level sums on the species tree</a:t>
            </a:r>
            <a:endParaRPr lang="en-US" sz="1400" dirty="0"/>
          </a:p>
          <a:p>
            <a:pPr marL="342900" indent="-342900">
              <a:spcAft>
                <a:spcPts val="300"/>
              </a:spcAft>
              <a:buSzPct val="100000"/>
              <a:buChar char="•"/>
            </a:pPr>
            <a:r>
              <a:rPr lang="en-US" sz="1400" dirty="0">
                <a:solidFill>
                  <a:schemeClr val="tx1"/>
                </a:solidFill>
              </a:rPr>
              <a:t>4,891 families</a:t>
            </a:r>
            <a:endParaRPr lang="en-US" sz="1400" dirty="0"/>
          </a:p>
        </p:txBody>
      </p:sp>
      <p:sp>
        <p:nvSpPr>
          <p:cNvPr id="11" name="Shape 7"/>
          <p:cNvSpPr/>
          <p:nvPr/>
        </p:nvSpPr>
        <p:spPr>
          <a:xfrm>
            <a:off x="9144000" y="2331720"/>
            <a:ext cx="2560320" cy="1874520"/>
          </a:xfrm>
          <a:prstGeom prst="roundRect">
            <a:avLst>
              <a:gd name="adj" fmla="val 5854"/>
            </a:avLst>
          </a:prstGeom>
          <a:solidFill>
            <a:srgbClr val="FBE3DC"/>
          </a:solidFill>
          <a:ln w="12700">
            <a:solidFill>
              <a:srgbClr val="FBE3DC"/>
            </a:solidFill>
            <a:prstDash val="solid"/>
          </a:ln>
        </p:spPr>
      </p:sp>
      <p:sp>
        <p:nvSpPr>
          <p:cNvPr id="12" name="Text 8"/>
          <p:cNvSpPr txBox="1"/>
          <p:nvPr/>
        </p:nvSpPr>
        <p:spPr>
          <a:xfrm>
            <a:off x="9326880" y="2441448"/>
            <a:ext cx="2194560" cy="411480"/>
          </a:xfrm>
          <a:prstGeom prst="rect">
            <a:avLst/>
          </a:prstGeom>
          <a:noFill/>
          <a:ln/>
        </p:spPr>
        <p:txBody>
          <a:bodyPr wrap="square" lIns="0" tIns="0" rIns="0" bIns="0" rtlCol="0" anchor="t"/>
          <a:lstStyle/>
          <a:p>
            <a:pPr indent="0" marL="0">
              <a:buNone/>
            </a:pPr>
            <a:r>
              <a:rPr lang="en-US" sz="1500" b="1" dirty="0">
                <a:solidFill>
                  <a:schemeClr val="tx2"/>
                </a:solidFill>
              </a:rPr>
              <a:t>− Cons</a:t>
            </a:r>
            <a:endParaRPr lang="en-US" sz="1500" dirty="0"/>
          </a:p>
        </p:txBody>
      </p:sp>
      <p:sp>
        <p:nvSpPr>
          <p:cNvPr id="13" name="Text 9"/>
          <p:cNvSpPr txBox="1"/>
          <p:nvPr/>
        </p:nvSpPr>
        <p:spPr>
          <a:xfrm>
            <a:off x="9281160" y="2697480"/>
            <a:ext cx="2331720" cy="14630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specific to 3Di and predicted structures</a:t>
            </a:r>
            <a:endParaRPr lang="en-US" sz="1400" dirty="0"/>
          </a:p>
          <a:p>
            <a:pPr marL="342900" indent="-342900">
              <a:spcAft>
                <a:spcPts val="300"/>
              </a:spcAft>
              <a:buSzPct val="100000"/>
              <a:buChar char="•"/>
            </a:pPr>
            <a:r>
              <a:rPr lang="en-US" sz="1400" dirty="0">
                <a:solidFill>
                  <a:schemeClr val="tx1"/>
                </a:solidFill>
              </a:rPr>
              <a:t>terminal branches inflated by noise</a:t>
            </a:r>
            <a:endParaRPr lang="en-US" sz="1400" dirty="0"/>
          </a:p>
        </p:txBody>
      </p:sp>
      <p:sp>
        <p:nvSpPr>
          <p:cNvPr id="14" name="Shape 10"/>
          <p:cNvSpPr/>
          <p:nvPr/>
        </p:nvSpPr>
        <p:spPr>
          <a:xfrm>
            <a:off x="6400800" y="4389120"/>
            <a:ext cx="2103120" cy="384048"/>
          </a:xfrm>
          <a:prstGeom prst="roundRect">
            <a:avLst>
              <a:gd name="adj" fmla="val 47619"/>
            </a:avLst>
          </a:prstGeom>
          <a:solidFill>
            <a:srgbClr val="0B3C49"/>
          </a:solidFill>
          <a:ln w="12700">
            <a:solidFill>
              <a:srgbClr val="0B3C49"/>
            </a:solidFill>
            <a:prstDash val="solid"/>
          </a:ln>
        </p:spPr>
      </p:sp>
      <p:sp>
        <p:nvSpPr>
          <p:cNvPr id="15" name="Text 11"/>
          <p:cNvSpPr txBox="1"/>
          <p:nvPr/>
        </p:nvSpPr>
        <p:spPr>
          <a:xfrm>
            <a:off x="6400800" y="4389120"/>
            <a:ext cx="2103120" cy="384048"/>
          </a:xfrm>
          <a:prstGeom prst="rect">
            <a:avLst/>
          </a:prstGeom>
          <a:noFill/>
          <a:ln/>
        </p:spPr>
        <p:txBody>
          <a:bodyPr wrap="square" lIns="0" tIns="0" rIns="0" bIns="0" rtlCol="0" anchor="ctr"/>
          <a:lstStyle/>
          <a:p>
            <a:pPr algn="ctr" indent="0" marL="0">
              <a:buNone/>
            </a:pPr>
            <a:r>
              <a:rPr lang="en-US" sz="1300" b="1" dirty="0">
                <a:solidFill>
                  <a:schemeClr val="bg1"/>
                </a:solidFill>
              </a:rPr>
              <a:t>Pre-registered</a:t>
            </a:r>
            <a:endParaRPr lang="en-US" sz="1300" dirty="0"/>
          </a:p>
        </p:txBody>
      </p:sp>
      <p:sp>
        <p:nvSpPr>
          <p:cNvPr id="16" name="Text 12"/>
          <p:cNvSpPr txBox="1"/>
          <p:nvPr/>
        </p:nvSpPr>
        <p:spPr>
          <a:xfrm>
            <a:off x="8595360" y="4343400"/>
            <a:ext cx="3108960" cy="822960"/>
          </a:xfrm>
          <a:prstGeom prst="rect">
            <a:avLst/>
          </a:prstGeom>
          <a:noFill/>
          <a:ln/>
        </p:spPr>
        <p:txBody>
          <a:bodyPr wrap="square" lIns="0" tIns="0" rIns="0" bIns="0" rtlCol="0" anchor="t"/>
          <a:lstStyle/>
          <a:p>
            <a:pPr indent="0" marL="0">
              <a:buNone/>
            </a:pPr>
            <a:r>
              <a:rPr lang="en-US" sz="1400" dirty="0">
                <a:solidFill>
                  <a:schemeClr val="tx1"/>
                </a:solidFill>
              </a:rPr>
              <a:t>k = 3.3 [3.09–3.57]; α 4.7× vs β 2.6×</a:t>
            </a:r>
            <a:endParaRPr lang="en-US" sz="1400" dirty="0"/>
          </a:p>
        </p:txBody>
      </p:sp>
      <p:sp>
        <p:nvSpPr>
          <p:cNvPr id="17" name="Shape 13"/>
          <p:cNvSpPr/>
          <p:nvPr/>
        </p:nvSpPr>
        <p:spPr>
          <a:xfrm>
            <a:off x="6400800" y="5303520"/>
            <a:ext cx="2103120" cy="384048"/>
          </a:xfrm>
          <a:prstGeom prst="roundRect">
            <a:avLst>
              <a:gd name="adj" fmla="val 47619"/>
            </a:avLst>
          </a:prstGeom>
          <a:solidFill>
            <a:srgbClr val="F4A259"/>
          </a:solidFill>
          <a:ln w="12700">
            <a:solidFill>
              <a:srgbClr val="F4A259"/>
            </a:solidFill>
            <a:prstDash val="solid"/>
          </a:ln>
        </p:spPr>
      </p:sp>
      <p:sp>
        <p:nvSpPr>
          <p:cNvPr id="18" name="Text 14"/>
          <p:cNvSpPr txBox="1"/>
          <p:nvPr/>
        </p:nvSpPr>
        <p:spPr>
          <a:xfrm>
            <a:off x="6400800" y="5303520"/>
            <a:ext cx="2103120" cy="384048"/>
          </a:xfrm>
          <a:prstGeom prst="rect">
            <a:avLst/>
          </a:prstGeom>
          <a:noFill/>
          <a:ln/>
        </p:spPr>
        <p:txBody>
          <a:bodyPr wrap="square" lIns="0" tIns="0" rIns="0" bIns="0" rtlCol="0" anchor="ctr"/>
          <a:lstStyle/>
          <a:p>
            <a:pPr algn="ctr" indent="0" marL="0">
              <a:buNone/>
            </a:pPr>
            <a:r>
              <a:rPr lang="en-US" sz="1300" b="1" dirty="0">
                <a:solidFill>
                  <a:srgbClr val="0B3C49"/>
                </a:solidFill>
              </a:rPr>
              <a:t>Post hoc (verified)</a:t>
            </a:r>
            <a:endParaRPr lang="en-US" sz="1300" dirty="0"/>
          </a:p>
        </p:txBody>
      </p:sp>
      <p:sp>
        <p:nvSpPr>
          <p:cNvPr id="19" name="Text 15"/>
          <p:cNvSpPr txBox="1"/>
          <p:nvPr/>
        </p:nvSpPr>
        <p:spPr>
          <a:xfrm>
            <a:off x="8595360" y="5257800"/>
            <a:ext cx="3108960" cy="1005840"/>
          </a:xfrm>
          <a:prstGeom prst="rect">
            <a:avLst/>
          </a:prstGeom>
          <a:noFill/>
          <a:ln/>
        </p:spPr>
        <p:txBody>
          <a:bodyPr wrap="square" lIns="0" tIns="0" rIns="0" bIns="0" rtlCol="0" anchor="t"/>
          <a:lstStyle/>
          <a:p>
            <a:pPr indent="0" marL="0">
              <a:buNone/>
            </a:pPr>
            <a:r>
              <a:rPr lang="en-US" sz="1400" b="1" dirty="0">
                <a:solidFill>
                  <a:schemeClr val="tx2"/>
                </a:solidFill>
              </a:rPr>
              <a:t>Internal branches: k = 4.6; α 6.1× vs β 3.9× (gap persists)</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H3 · Time: is the structure/sequence ratio constant?</a:t>
            </a:r>
            <a:endParaRPr lang="en-US" sz="3200" dirty="0"/>
          </a:p>
        </p:txBody>
      </p:sp>
      <p:pic>
        <p:nvPicPr>
          <p:cNvPr id="4" name="Image 0" descr="H3 · Time: is the structure/sequence ratio constant?">    </p:cNvPr>
          <p:cNvPicPr>
            <a:picLocks noChangeAspect="1"/>
          </p:cNvPicPr>
          <p:nvPr/>
        </p:nvPicPr>
        <p:blipFill>
          <a:blip r:embed="rId1"/>
          <a:stretch>
            <a:fillRect/>
          </a:stretch>
        </p:blipFill>
        <p:spPr>
          <a:xfrm>
            <a:off x="974636" y="1188720"/>
            <a:ext cx="4542967" cy="4206240"/>
          </a:xfrm>
          <a:prstGeom prst="rect">
            <a:avLst/>
          </a:prstGeom>
        </p:spPr>
      </p:pic>
      <p:sp>
        <p:nvSpPr>
          <p:cNvPr id="5" name="Text 1"/>
          <p:cNvSpPr txBox="1"/>
          <p:nvPr/>
        </p:nvSpPr>
        <p:spPr>
          <a:xfrm>
            <a:off x="457200" y="5486400"/>
            <a:ext cx="5669280" cy="822960"/>
          </a:xfrm>
          <a:prstGeom prst="rect">
            <a:avLst/>
          </a:prstGeom>
          <a:noFill/>
          <a:ln/>
        </p:spPr>
        <p:txBody>
          <a:bodyPr wrap="square" lIns="0" tIns="0" rIns="0" bIns="0" rtlCol="0" anchor="t"/>
          <a:lstStyle/>
          <a:p>
            <a:pPr indent="0" marL="0">
              <a:buNone/>
            </a:pPr>
            <a:r>
              <a:rPr lang="en-US" sz="1400" i="1" dirty="0">
                <a:solidFill>
                  <a:schemeClr val="tx2"/>
                </a:solidFill>
              </a:rPr>
              <a:t>Ratio k by branch age (TimeTree), split into terminal (species tips) and internal branches.</a:t>
            </a:r>
            <a:endParaRPr lang="en-US" sz="1400" dirty="0"/>
          </a:p>
        </p:txBody>
      </p:sp>
      <p:sp>
        <p:nvSpPr>
          <p:cNvPr id="6" name="Text 2"/>
          <p:cNvSpPr txBox="1"/>
          <p:nvPr/>
        </p:nvSpPr>
        <p:spPr>
          <a:xfrm>
            <a:off x="6400800" y="1188720"/>
            <a:ext cx="5303520" cy="320040"/>
          </a:xfrm>
          <a:prstGeom prst="rect">
            <a:avLst/>
          </a:prstGeom>
          <a:noFill/>
          <a:ln/>
        </p:spPr>
        <p:txBody>
          <a:bodyPr wrap="square" lIns="0" tIns="0" rIns="0" bIns="0" rtlCol="0" anchor="ctr"/>
          <a:lstStyle/>
          <a:p>
            <a:pPr indent="0" marL="0">
              <a:buNone/>
            </a:pPr>
            <a:r>
              <a:rPr lang="en-US" sz="1500" b="1" dirty="0">
                <a:solidFill>
                  <a:schemeClr val="accent1"/>
                </a:solidFill>
              </a:rPr>
              <a:t>Prior work</a:t>
            </a:r>
            <a:endParaRPr lang="en-US" sz="1500" dirty="0"/>
          </a:p>
        </p:txBody>
      </p:sp>
      <p:sp>
        <p:nvSpPr>
          <p:cNvPr id="7" name="Text 3"/>
          <p:cNvSpPr txBox="1"/>
          <p:nvPr/>
        </p:nvSpPr>
        <p:spPr>
          <a:xfrm>
            <a:off x="6400800" y="1508760"/>
            <a:ext cx="5303520" cy="777240"/>
          </a:xfrm>
          <a:prstGeom prst="rect">
            <a:avLst/>
          </a:prstGeom>
          <a:noFill/>
          <a:ln/>
        </p:spPr>
        <p:txBody>
          <a:bodyPr wrap="square" lIns="0" tIns="0" rIns="0" bIns="0" rtlCol="0" anchor="t"/>
          <a:lstStyle/>
          <a:p>
            <a:pPr indent="0" marL="0">
              <a:buNone/>
            </a:pPr>
            <a:r>
              <a:rPr lang="en-US" sz="1300" dirty="0">
                <a:solidFill>
                  <a:schemeClr val="tx1"/>
                </a:solidFill>
              </a:rPr>
              <a:t>Zuckerkandl &amp; Pauling 1965; Kimura 1968 (neutral clock); Pascual-García 2019 vs Moi 2025 (mixed evidence).</a:t>
            </a:r>
            <a:endParaRPr lang="en-US" sz="1300" dirty="0"/>
          </a:p>
        </p:txBody>
      </p:sp>
      <p:sp>
        <p:nvSpPr>
          <p:cNvPr id="8" name="Shape 4"/>
          <p:cNvSpPr/>
          <p:nvPr/>
        </p:nvSpPr>
        <p:spPr>
          <a:xfrm>
            <a:off x="6400800" y="2331720"/>
            <a:ext cx="2560320" cy="1874520"/>
          </a:xfrm>
          <a:prstGeom prst="roundRect">
            <a:avLst>
              <a:gd name="adj" fmla="val 5854"/>
            </a:avLst>
          </a:prstGeom>
          <a:solidFill>
            <a:schemeClr val="bg2"/>
          </a:solidFill>
          <a:ln w="12700">
            <a:solidFill>
              <a:schemeClr val="bg2"/>
            </a:solidFill>
            <a:prstDash val="solid"/>
          </a:ln>
        </p:spPr>
      </p:sp>
      <p:sp>
        <p:nvSpPr>
          <p:cNvPr id="9" name="Text 5"/>
          <p:cNvSpPr txBox="1"/>
          <p:nvPr/>
        </p:nvSpPr>
        <p:spPr>
          <a:xfrm>
            <a:off x="6583680" y="2441448"/>
            <a:ext cx="2194560" cy="411480"/>
          </a:xfrm>
          <a:prstGeom prst="rect">
            <a:avLst/>
          </a:prstGeom>
          <a:noFill/>
          <a:ln/>
        </p:spPr>
        <p:txBody>
          <a:bodyPr wrap="square" lIns="0" tIns="0" rIns="0" bIns="0" rtlCol="0" anchor="t"/>
          <a:lstStyle/>
          <a:p>
            <a:pPr indent="0" marL="0">
              <a:buNone/>
            </a:pPr>
            <a:r>
              <a:rPr lang="en-US" sz="1500" b="1" dirty="0">
                <a:solidFill>
                  <a:schemeClr val="tx2"/>
                </a:solidFill>
              </a:rPr>
              <a:t>+ Pros</a:t>
            </a:r>
            <a:endParaRPr lang="en-US" sz="1500" dirty="0"/>
          </a:p>
        </p:txBody>
      </p:sp>
      <p:sp>
        <p:nvSpPr>
          <p:cNvPr id="10" name="Text 6"/>
          <p:cNvSpPr txBox="1"/>
          <p:nvPr/>
        </p:nvSpPr>
        <p:spPr>
          <a:xfrm>
            <a:off x="6537960" y="2697480"/>
            <a:ext cx="2331720" cy="14630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dated species tree</a:t>
            </a:r>
            <a:endParaRPr lang="en-US" sz="1400" dirty="0"/>
          </a:p>
          <a:p>
            <a:pPr marL="342900" indent="-342900">
              <a:spcAft>
                <a:spcPts val="300"/>
              </a:spcAft>
              <a:buSzPct val="100000"/>
              <a:buChar char="•"/>
            </a:pPr>
            <a:r>
              <a:rPr lang="en-US" sz="1400" dirty="0">
                <a:solidFill>
                  <a:schemeClr val="tx1"/>
                </a:solidFill>
              </a:rPr>
              <a:t>alternative deep timescales</a:t>
            </a:r>
            <a:endParaRPr lang="en-US" sz="1400" dirty="0"/>
          </a:p>
          <a:p>
            <a:pPr marL="342900" indent="-342900">
              <a:spcAft>
                <a:spcPts val="300"/>
              </a:spcAft>
              <a:buSzPct val="100000"/>
              <a:buChar char="•"/>
            </a:pPr>
            <a:r>
              <a:rPr lang="en-US" sz="1400" dirty="0">
                <a:solidFill>
                  <a:schemeClr val="tx1"/>
                </a:solidFill>
              </a:rPr>
              <a:t>terminal vs internal split</a:t>
            </a:r>
            <a:endParaRPr lang="en-US" sz="1400" dirty="0"/>
          </a:p>
        </p:txBody>
      </p:sp>
      <p:sp>
        <p:nvSpPr>
          <p:cNvPr id="11" name="Shape 7"/>
          <p:cNvSpPr/>
          <p:nvPr/>
        </p:nvSpPr>
        <p:spPr>
          <a:xfrm>
            <a:off x="9144000" y="2331720"/>
            <a:ext cx="2560320" cy="1874520"/>
          </a:xfrm>
          <a:prstGeom prst="roundRect">
            <a:avLst>
              <a:gd name="adj" fmla="val 5854"/>
            </a:avLst>
          </a:prstGeom>
          <a:solidFill>
            <a:srgbClr val="FBE3DC"/>
          </a:solidFill>
          <a:ln w="12700">
            <a:solidFill>
              <a:srgbClr val="FBE3DC"/>
            </a:solidFill>
            <a:prstDash val="solid"/>
          </a:ln>
        </p:spPr>
      </p:sp>
      <p:sp>
        <p:nvSpPr>
          <p:cNvPr id="12" name="Text 8"/>
          <p:cNvSpPr txBox="1"/>
          <p:nvPr/>
        </p:nvSpPr>
        <p:spPr>
          <a:xfrm>
            <a:off x="9326880" y="2441448"/>
            <a:ext cx="2194560" cy="411480"/>
          </a:xfrm>
          <a:prstGeom prst="rect">
            <a:avLst/>
          </a:prstGeom>
          <a:noFill/>
          <a:ln/>
        </p:spPr>
        <p:txBody>
          <a:bodyPr wrap="square" lIns="0" tIns="0" rIns="0" bIns="0" rtlCol="0" anchor="t"/>
          <a:lstStyle/>
          <a:p>
            <a:pPr indent="0" marL="0">
              <a:buNone/>
            </a:pPr>
            <a:r>
              <a:rPr lang="en-US" sz="1500" b="1" dirty="0">
                <a:solidFill>
                  <a:schemeClr val="tx2"/>
                </a:solidFill>
              </a:rPr>
              <a:t>− Cons</a:t>
            </a:r>
            <a:endParaRPr lang="en-US" sz="1500" dirty="0"/>
          </a:p>
        </p:txBody>
      </p:sp>
      <p:sp>
        <p:nvSpPr>
          <p:cNvPr id="13" name="Text 9"/>
          <p:cNvSpPr txBox="1"/>
          <p:nvPr/>
        </p:nvSpPr>
        <p:spPr>
          <a:xfrm>
            <a:off x="9281160" y="2697480"/>
            <a:ext cx="2331720" cy="14630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only 224 young families</a:t>
            </a:r>
            <a:endParaRPr lang="en-US" sz="1400" dirty="0"/>
          </a:p>
          <a:p>
            <a:pPr marL="342900" indent="-342900">
              <a:spcAft>
                <a:spcPts val="300"/>
              </a:spcAft>
              <a:buSzPct val="100000"/>
              <a:buChar char="•"/>
            </a:pPr>
            <a:r>
              <a:rPr lang="en-US" sz="1400" dirty="0">
                <a:solidFill>
                  <a:schemeClr val="tx1"/>
                </a:solidFill>
              </a:rPr>
              <a:t>deep dates uncertain</a:t>
            </a:r>
            <a:endParaRPr lang="en-US" sz="1400" dirty="0"/>
          </a:p>
          <a:p>
            <a:pPr marL="342900" indent="-342900">
              <a:spcAft>
                <a:spcPts val="300"/>
              </a:spcAft>
              <a:buSzPct val="100000"/>
              <a:buChar char="•"/>
            </a:pPr>
            <a:r>
              <a:rPr lang="en-US" sz="1400" dirty="0">
                <a:solidFill>
                  <a:schemeClr val="tx1"/>
                </a:solidFill>
              </a:rPr>
              <a:t>tip-correction sensitive</a:t>
            </a:r>
            <a:endParaRPr lang="en-US" sz="1400" dirty="0"/>
          </a:p>
        </p:txBody>
      </p:sp>
      <p:sp>
        <p:nvSpPr>
          <p:cNvPr id="14" name="Shape 10"/>
          <p:cNvSpPr/>
          <p:nvPr/>
        </p:nvSpPr>
        <p:spPr>
          <a:xfrm>
            <a:off x="6400800" y="4389120"/>
            <a:ext cx="2103120" cy="384048"/>
          </a:xfrm>
          <a:prstGeom prst="roundRect">
            <a:avLst>
              <a:gd name="adj" fmla="val 47619"/>
            </a:avLst>
          </a:prstGeom>
          <a:solidFill>
            <a:srgbClr val="0B3C49"/>
          </a:solidFill>
          <a:ln w="12700">
            <a:solidFill>
              <a:srgbClr val="0B3C49"/>
            </a:solidFill>
            <a:prstDash val="solid"/>
          </a:ln>
        </p:spPr>
      </p:sp>
      <p:sp>
        <p:nvSpPr>
          <p:cNvPr id="15" name="Text 11"/>
          <p:cNvSpPr txBox="1"/>
          <p:nvPr/>
        </p:nvSpPr>
        <p:spPr>
          <a:xfrm>
            <a:off x="6400800" y="4389120"/>
            <a:ext cx="2103120" cy="384048"/>
          </a:xfrm>
          <a:prstGeom prst="rect">
            <a:avLst/>
          </a:prstGeom>
          <a:noFill/>
          <a:ln/>
        </p:spPr>
        <p:txBody>
          <a:bodyPr wrap="square" lIns="0" tIns="0" rIns="0" bIns="0" rtlCol="0" anchor="ctr"/>
          <a:lstStyle/>
          <a:p>
            <a:pPr algn="ctr" indent="0" marL="0">
              <a:buNone/>
            </a:pPr>
            <a:r>
              <a:rPr lang="en-US" sz="1300" b="1" dirty="0">
                <a:solidFill>
                  <a:schemeClr val="bg1"/>
                </a:solidFill>
              </a:rPr>
              <a:t>Pre-registered</a:t>
            </a:r>
            <a:endParaRPr lang="en-US" sz="1300" dirty="0"/>
          </a:p>
        </p:txBody>
      </p:sp>
      <p:sp>
        <p:nvSpPr>
          <p:cNvPr id="16" name="Text 12"/>
          <p:cNvSpPr txBox="1"/>
          <p:nvPr/>
        </p:nvSpPr>
        <p:spPr>
          <a:xfrm>
            <a:off x="8595360" y="4343400"/>
            <a:ext cx="3108960" cy="822960"/>
          </a:xfrm>
          <a:prstGeom prst="rect">
            <a:avLst/>
          </a:prstGeom>
          <a:noFill/>
          <a:ln/>
        </p:spPr>
        <p:txBody>
          <a:bodyPr wrap="square" lIns="0" tIns="0" rIns="0" bIns="0" rtlCol="0" anchor="t"/>
          <a:lstStyle/>
          <a:p>
            <a:pPr indent="0" marL="0">
              <a:buNone/>
            </a:pPr>
            <a:r>
              <a:rPr lang="en-US" sz="1400" dirty="0">
                <a:solidFill>
                  <a:schemeClr val="tx1"/>
                </a:solidFill>
              </a:rPr>
              <a:t>Ratio rises with age (p_Holm 3×10⁻¹²), robust to α and timescale</a:t>
            </a:r>
            <a:endParaRPr lang="en-US" sz="1400" dirty="0"/>
          </a:p>
        </p:txBody>
      </p:sp>
      <p:sp>
        <p:nvSpPr>
          <p:cNvPr id="17" name="Shape 13"/>
          <p:cNvSpPr/>
          <p:nvPr/>
        </p:nvSpPr>
        <p:spPr>
          <a:xfrm>
            <a:off x="6400800" y="5303520"/>
            <a:ext cx="2103120" cy="384048"/>
          </a:xfrm>
          <a:prstGeom prst="roundRect">
            <a:avLst>
              <a:gd name="adj" fmla="val 47619"/>
            </a:avLst>
          </a:prstGeom>
          <a:solidFill>
            <a:srgbClr val="F4A259"/>
          </a:solidFill>
          <a:ln w="12700">
            <a:solidFill>
              <a:srgbClr val="F4A259"/>
            </a:solidFill>
            <a:prstDash val="solid"/>
          </a:ln>
        </p:spPr>
      </p:sp>
      <p:sp>
        <p:nvSpPr>
          <p:cNvPr id="18" name="Text 14"/>
          <p:cNvSpPr txBox="1"/>
          <p:nvPr/>
        </p:nvSpPr>
        <p:spPr>
          <a:xfrm>
            <a:off x="6400800" y="5303520"/>
            <a:ext cx="2103120" cy="384048"/>
          </a:xfrm>
          <a:prstGeom prst="rect">
            <a:avLst/>
          </a:prstGeom>
          <a:noFill/>
          <a:ln/>
        </p:spPr>
        <p:txBody>
          <a:bodyPr wrap="square" lIns="0" tIns="0" rIns="0" bIns="0" rtlCol="0" anchor="ctr"/>
          <a:lstStyle/>
          <a:p>
            <a:pPr algn="ctr" indent="0" marL="0">
              <a:buNone/>
            </a:pPr>
            <a:r>
              <a:rPr lang="en-US" sz="1300" b="1" dirty="0">
                <a:solidFill>
                  <a:srgbClr val="0B3C49"/>
                </a:solidFill>
              </a:rPr>
              <a:t>Post hoc (verified)</a:t>
            </a:r>
            <a:endParaRPr lang="en-US" sz="1300" dirty="0"/>
          </a:p>
        </p:txBody>
      </p:sp>
      <p:sp>
        <p:nvSpPr>
          <p:cNvPr id="19" name="Text 15"/>
          <p:cNvSpPr txBox="1"/>
          <p:nvPr/>
        </p:nvSpPr>
        <p:spPr>
          <a:xfrm>
            <a:off x="8595360" y="5257800"/>
            <a:ext cx="3108960" cy="1005840"/>
          </a:xfrm>
          <a:prstGeom prst="rect">
            <a:avLst/>
          </a:prstGeom>
          <a:noFill/>
          <a:ln/>
        </p:spPr>
        <p:txBody>
          <a:bodyPr wrap="square" lIns="0" tIns="0" rIns="0" bIns="0" rtlCol="0" anchor="t"/>
          <a:lstStyle/>
          <a:p>
            <a:pPr indent="0" marL="0">
              <a:buNone/>
            </a:pPr>
            <a:r>
              <a:rPr lang="en-US" sz="1400" b="1" dirty="0">
                <a:solidFill>
                  <a:schemeClr val="tx2"/>
                </a:solidFill>
              </a:rPr>
              <a:t>Age trend = terminal-branch noise artefact; internal ratio flat ≈4.6 from 30 My to &gt;1 Gy</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H4 · Lineages: is there a neutral structural clock?</a:t>
            </a:r>
            <a:endParaRPr lang="en-US" sz="3200" dirty="0"/>
          </a:p>
        </p:txBody>
      </p:sp>
      <p:pic>
        <p:nvPicPr>
          <p:cNvPr id="4" name="Image 0" descr="H4 · Lineages: is there a neutral structural clock?">    </p:cNvPr>
          <p:cNvPicPr>
            <a:picLocks noChangeAspect="1"/>
          </p:cNvPicPr>
          <p:nvPr/>
        </p:nvPicPr>
        <p:blipFill>
          <a:blip r:embed="rId1"/>
          <a:stretch>
            <a:fillRect/>
          </a:stretch>
        </p:blipFill>
        <p:spPr>
          <a:xfrm>
            <a:off x="365760" y="1491615"/>
            <a:ext cx="5760720" cy="3600450"/>
          </a:xfrm>
          <a:prstGeom prst="rect">
            <a:avLst/>
          </a:prstGeom>
        </p:spPr>
      </p:pic>
      <p:sp>
        <p:nvSpPr>
          <p:cNvPr id="5" name="Text 1"/>
          <p:cNvSpPr txBox="1"/>
          <p:nvPr/>
        </p:nvSpPr>
        <p:spPr>
          <a:xfrm>
            <a:off x="457200" y="5486400"/>
            <a:ext cx="5669280" cy="822960"/>
          </a:xfrm>
          <a:prstGeom prst="rect">
            <a:avLst/>
          </a:prstGeom>
          <a:noFill/>
          <a:ln/>
        </p:spPr>
        <p:txBody>
          <a:bodyPr wrap="square" lIns="0" tIns="0" rIns="0" bIns="0" rtlCol="0" anchor="t"/>
          <a:lstStyle/>
          <a:p>
            <a:pPr indent="0" marL="0">
              <a:buNone/>
            </a:pPr>
            <a:r>
              <a:rPr lang="en-US" sz="1400" i="1" dirty="0">
                <a:solidFill>
                  <a:schemeClr val="tx2"/>
                </a:solidFill>
              </a:rPr>
              <a:t>Do some lineages change structure faster than their sequence change predicts?</a:t>
            </a:r>
            <a:endParaRPr lang="en-US" sz="1400" dirty="0"/>
          </a:p>
        </p:txBody>
      </p:sp>
      <p:sp>
        <p:nvSpPr>
          <p:cNvPr id="6" name="Text 2"/>
          <p:cNvSpPr txBox="1"/>
          <p:nvPr/>
        </p:nvSpPr>
        <p:spPr>
          <a:xfrm>
            <a:off x="6400800" y="1188720"/>
            <a:ext cx="5303520" cy="320040"/>
          </a:xfrm>
          <a:prstGeom prst="rect">
            <a:avLst/>
          </a:prstGeom>
          <a:noFill/>
          <a:ln/>
        </p:spPr>
        <p:txBody>
          <a:bodyPr wrap="square" lIns="0" tIns="0" rIns="0" bIns="0" rtlCol="0" anchor="ctr"/>
          <a:lstStyle/>
          <a:p>
            <a:pPr indent="0" marL="0">
              <a:buNone/>
            </a:pPr>
            <a:r>
              <a:rPr lang="en-US" sz="1500" b="1" dirty="0">
                <a:solidFill>
                  <a:schemeClr val="accent1"/>
                </a:solidFill>
              </a:rPr>
              <a:t>Prior work</a:t>
            </a:r>
            <a:endParaRPr lang="en-US" sz="1500" dirty="0"/>
          </a:p>
        </p:txBody>
      </p:sp>
      <p:sp>
        <p:nvSpPr>
          <p:cNvPr id="7" name="Text 3"/>
          <p:cNvSpPr txBox="1"/>
          <p:nvPr/>
        </p:nvSpPr>
        <p:spPr>
          <a:xfrm>
            <a:off x="6400800" y="1508760"/>
            <a:ext cx="5303520" cy="777240"/>
          </a:xfrm>
          <a:prstGeom prst="rect">
            <a:avLst/>
          </a:prstGeom>
          <a:noFill/>
          <a:ln/>
        </p:spPr>
        <p:txBody>
          <a:bodyPr wrap="square" lIns="0" tIns="0" rIns="0" bIns="0" rtlCol="0" anchor="t"/>
          <a:lstStyle/>
          <a:p>
            <a:pPr indent="0" marL="0">
              <a:buNone/>
            </a:pPr>
            <a:r>
              <a:rPr lang="en-US" sz="1300" dirty="0">
                <a:solidFill>
                  <a:schemeClr val="tx1"/>
                </a:solidFill>
              </a:rPr>
              <a:t>Ohta 1973 (nearly neutral); Bromham &amp; Penny 2003 (rate variation); Pascual-García 2019 (structural clock violations).</a:t>
            </a:r>
            <a:endParaRPr lang="en-US" sz="1300" dirty="0"/>
          </a:p>
        </p:txBody>
      </p:sp>
      <p:sp>
        <p:nvSpPr>
          <p:cNvPr id="8" name="Shape 4"/>
          <p:cNvSpPr/>
          <p:nvPr/>
        </p:nvSpPr>
        <p:spPr>
          <a:xfrm>
            <a:off x="6400800" y="2331720"/>
            <a:ext cx="2560320" cy="1874520"/>
          </a:xfrm>
          <a:prstGeom prst="roundRect">
            <a:avLst>
              <a:gd name="adj" fmla="val 5854"/>
            </a:avLst>
          </a:prstGeom>
          <a:solidFill>
            <a:schemeClr val="bg2"/>
          </a:solidFill>
          <a:ln w="12700">
            <a:solidFill>
              <a:schemeClr val="bg2"/>
            </a:solidFill>
            <a:prstDash val="solid"/>
          </a:ln>
        </p:spPr>
      </p:sp>
      <p:sp>
        <p:nvSpPr>
          <p:cNvPr id="9" name="Text 5"/>
          <p:cNvSpPr txBox="1"/>
          <p:nvPr/>
        </p:nvSpPr>
        <p:spPr>
          <a:xfrm>
            <a:off x="6583680" y="2441448"/>
            <a:ext cx="2194560" cy="411480"/>
          </a:xfrm>
          <a:prstGeom prst="rect">
            <a:avLst/>
          </a:prstGeom>
          <a:noFill/>
          <a:ln/>
        </p:spPr>
        <p:txBody>
          <a:bodyPr wrap="square" lIns="0" tIns="0" rIns="0" bIns="0" rtlCol="0" anchor="t"/>
          <a:lstStyle/>
          <a:p>
            <a:pPr indent="0" marL="0">
              <a:buNone/>
            </a:pPr>
            <a:r>
              <a:rPr lang="en-US" sz="1500" b="1" dirty="0">
                <a:solidFill>
                  <a:schemeClr val="tx2"/>
                </a:solidFill>
              </a:rPr>
              <a:t>+ Pros</a:t>
            </a:r>
            <a:endParaRPr lang="en-US" sz="1500" dirty="0"/>
          </a:p>
        </p:txBody>
      </p:sp>
      <p:sp>
        <p:nvSpPr>
          <p:cNvPr id="10" name="Text 6"/>
          <p:cNvSpPr txBox="1"/>
          <p:nvPr/>
        </p:nvSpPr>
        <p:spPr>
          <a:xfrm>
            <a:off x="6537960" y="2697480"/>
            <a:ext cx="2331720" cy="14630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sister-lineage contrasts</a:t>
            </a:r>
            <a:endParaRPr lang="en-US" sz="1400" dirty="0"/>
          </a:p>
          <a:p>
            <a:pPr marL="342900" indent="-342900">
              <a:spcAft>
                <a:spcPts val="300"/>
              </a:spcAft>
              <a:buSzPct val="100000"/>
              <a:buChar char="•"/>
            </a:pPr>
            <a:r>
              <a:rPr lang="en-US" sz="1400" dirty="0">
                <a:solidFill>
                  <a:schemeClr val="tx1"/>
                </a:solidFill>
              </a:rPr>
              <a:t>spike-in power test</a:t>
            </a:r>
            <a:endParaRPr lang="en-US" sz="1400" dirty="0"/>
          </a:p>
          <a:p>
            <a:pPr marL="342900" indent="-342900">
              <a:spcAft>
                <a:spcPts val="300"/>
              </a:spcAft>
              <a:buSzPct val="100000"/>
              <a:buChar char="•"/>
            </a:pPr>
            <a:r>
              <a:rPr lang="en-US" sz="1400" dirty="0">
                <a:solidFill>
                  <a:schemeClr val="tx1"/>
                </a:solidFill>
              </a:rPr>
              <a:t>guards against artefacts</a:t>
            </a:r>
            <a:endParaRPr lang="en-US" sz="1400" dirty="0"/>
          </a:p>
        </p:txBody>
      </p:sp>
      <p:sp>
        <p:nvSpPr>
          <p:cNvPr id="11" name="Shape 7"/>
          <p:cNvSpPr/>
          <p:nvPr/>
        </p:nvSpPr>
        <p:spPr>
          <a:xfrm>
            <a:off x="9144000" y="2331720"/>
            <a:ext cx="2560320" cy="1874520"/>
          </a:xfrm>
          <a:prstGeom prst="roundRect">
            <a:avLst>
              <a:gd name="adj" fmla="val 5854"/>
            </a:avLst>
          </a:prstGeom>
          <a:solidFill>
            <a:srgbClr val="FBE3DC"/>
          </a:solidFill>
          <a:ln w="12700">
            <a:solidFill>
              <a:srgbClr val="FBE3DC"/>
            </a:solidFill>
            <a:prstDash val="solid"/>
          </a:ln>
        </p:spPr>
      </p:sp>
      <p:sp>
        <p:nvSpPr>
          <p:cNvPr id="12" name="Text 8"/>
          <p:cNvSpPr txBox="1"/>
          <p:nvPr/>
        </p:nvSpPr>
        <p:spPr>
          <a:xfrm>
            <a:off x="9326880" y="2441448"/>
            <a:ext cx="2194560" cy="411480"/>
          </a:xfrm>
          <a:prstGeom prst="rect">
            <a:avLst/>
          </a:prstGeom>
          <a:noFill/>
          <a:ln/>
        </p:spPr>
        <p:txBody>
          <a:bodyPr wrap="square" lIns="0" tIns="0" rIns="0" bIns="0" rtlCol="0" anchor="t"/>
          <a:lstStyle/>
          <a:p>
            <a:pPr indent="0" marL="0">
              <a:buNone/>
            </a:pPr>
            <a:r>
              <a:rPr lang="en-US" sz="1500" b="1" dirty="0">
                <a:solidFill>
                  <a:schemeClr val="tx2"/>
                </a:solidFill>
              </a:rPr>
              <a:t>− Cons</a:t>
            </a:r>
            <a:endParaRPr lang="en-US" sz="1500" dirty="0"/>
          </a:p>
        </p:txBody>
      </p:sp>
      <p:sp>
        <p:nvSpPr>
          <p:cNvPr id="13" name="Text 9"/>
          <p:cNvSpPr txBox="1"/>
          <p:nvPr/>
        </p:nvSpPr>
        <p:spPr>
          <a:xfrm>
            <a:off x="9281160" y="2697480"/>
            <a:ext cx="2331720" cy="14630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power only 24%</a:t>
            </a:r>
            <a:endParaRPr lang="en-US" sz="1400" dirty="0"/>
          </a:p>
          <a:p>
            <a:pPr marL="342900" indent="-342900">
              <a:spcAft>
                <a:spcPts val="300"/>
              </a:spcAft>
              <a:buSzPct val="100000"/>
              <a:buChar char="•"/>
            </a:pPr>
            <a:r>
              <a:rPr lang="en-US" sz="1400" dirty="0">
                <a:solidFill>
                  <a:schemeClr val="tx1"/>
                </a:solidFill>
              </a:rPr>
              <a:t>accepting the null practically unreachable</a:t>
            </a:r>
            <a:endParaRPr lang="en-US" sz="1400" dirty="0"/>
          </a:p>
        </p:txBody>
      </p:sp>
      <p:sp>
        <p:nvSpPr>
          <p:cNvPr id="14" name="Shape 10"/>
          <p:cNvSpPr/>
          <p:nvPr/>
        </p:nvSpPr>
        <p:spPr>
          <a:xfrm>
            <a:off x="6400800" y="4389120"/>
            <a:ext cx="2103120" cy="384048"/>
          </a:xfrm>
          <a:prstGeom prst="roundRect">
            <a:avLst>
              <a:gd name="adj" fmla="val 47619"/>
            </a:avLst>
          </a:prstGeom>
          <a:solidFill>
            <a:srgbClr val="0B3C49"/>
          </a:solidFill>
          <a:ln w="12700">
            <a:solidFill>
              <a:srgbClr val="0B3C49"/>
            </a:solidFill>
            <a:prstDash val="solid"/>
          </a:ln>
        </p:spPr>
      </p:sp>
      <p:sp>
        <p:nvSpPr>
          <p:cNvPr id="15" name="Text 11"/>
          <p:cNvSpPr txBox="1"/>
          <p:nvPr/>
        </p:nvSpPr>
        <p:spPr>
          <a:xfrm>
            <a:off x="6400800" y="4389120"/>
            <a:ext cx="2103120" cy="384048"/>
          </a:xfrm>
          <a:prstGeom prst="rect">
            <a:avLst/>
          </a:prstGeom>
          <a:noFill/>
          <a:ln/>
        </p:spPr>
        <p:txBody>
          <a:bodyPr wrap="square" lIns="0" tIns="0" rIns="0" bIns="0" rtlCol="0" anchor="ctr"/>
          <a:lstStyle/>
          <a:p>
            <a:pPr algn="ctr" indent="0" marL="0">
              <a:buNone/>
            </a:pPr>
            <a:r>
              <a:rPr lang="en-US" sz="1300" b="1" dirty="0">
                <a:solidFill>
                  <a:schemeClr val="bg1"/>
                </a:solidFill>
              </a:rPr>
              <a:t>Pre-registered</a:t>
            </a:r>
            <a:endParaRPr lang="en-US" sz="1300" dirty="0"/>
          </a:p>
        </p:txBody>
      </p:sp>
      <p:sp>
        <p:nvSpPr>
          <p:cNvPr id="16" name="Text 12"/>
          <p:cNvSpPr txBox="1"/>
          <p:nvPr/>
        </p:nvSpPr>
        <p:spPr>
          <a:xfrm>
            <a:off x="8595360" y="4343400"/>
            <a:ext cx="3108960" cy="822960"/>
          </a:xfrm>
          <a:prstGeom prst="rect">
            <a:avLst/>
          </a:prstGeom>
          <a:noFill/>
          <a:ln/>
        </p:spPr>
        <p:txBody>
          <a:bodyPr wrap="square" lIns="0" tIns="0" rIns="0" bIns="0" rtlCol="0" anchor="t"/>
          <a:lstStyle/>
          <a:p>
            <a:pPr indent="0" marL="0">
              <a:buNone/>
            </a:pPr>
            <a:r>
              <a:rPr lang="en-US" sz="1400" dirty="0">
                <a:solidFill>
                  <a:schemeClr val="tx1"/>
                </a:solidFill>
              </a:rPr>
              <a:t>Artefact-suspect: excess vanishes on internal branches</a:t>
            </a:r>
            <a:endParaRPr lang="en-US" sz="1400" dirty="0"/>
          </a:p>
        </p:txBody>
      </p:sp>
      <p:sp>
        <p:nvSpPr>
          <p:cNvPr id="17" name="Shape 13"/>
          <p:cNvSpPr/>
          <p:nvPr/>
        </p:nvSpPr>
        <p:spPr>
          <a:xfrm>
            <a:off x="6400800" y="5303520"/>
            <a:ext cx="2103120" cy="384048"/>
          </a:xfrm>
          <a:prstGeom prst="roundRect">
            <a:avLst>
              <a:gd name="adj" fmla="val 47619"/>
            </a:avLst>
          </a:prstGeom>
          <a:solidFill>
            <a:srgbClr val="F4A259"/>
          </a:solidFill>
          <a:ln w="12700">
            <a:solidFill>
              <a:srgbClr val="F4A259"/>
            </a:solidFill>
            <a:prstDash val="solid"/>
          </a:ln>
        </p:spPr>
      </p:sp>
      <p:sp>
        <p:nvSpPr>
          <p:cNvPr id="18" name="Text 14"/>
          <p:cNvSpPr txBox="1"/>
          <p:nvPr/>
        </p:nvSpPr>
        <p:spPr>
          <a:xfrm>
            <a:off x="6400800" y="5303520"/>
            <a:ext cx="2103120" cy="384048"/>
          </a:xfrm>
          <a:prstGeom prst="rect">
            <a:avLst/>
          </a:prstGeom>
          <a:noFill/>
          <a:ln/>
        </p:spPr>
        <p:txBody>
          <a:bodyPr wrap="square" lIns="0" tIns="0" rIns="0" bIns="0" rtlCol="0" anchor="ctr"/>
          <a:lstStyle/>
          <a:p>
            <a:pPr algn="ctr" indent="0" marL="0">
              <a:buNone/>
            </a:pPr>
            <a:r>
              <a:rPr lang="en-US" sz="1300" b="1" dirty="0">
                <a:solidFill>
                  <a:srgbClr val="0B3C49"/>
                </a:solidFill>
              </a:rPr>
              <a:t>Post hoc (verified)</a:t>
            </a:r>
            <a:endParaRPr lang="en-US" sz="1300" dirty="0"/>
          </a:p>
        </p:txBody>
      </p:sp>
      <p:sp>
        <p:nvSpPr>
          <p:cNvPr id="19" name="Text 15"/>
          <p:cNvSpPr txBox="1"/>
          <p:nvPr/>
        </p:nvSpPr>
        <p:spPr>
          <a:xfrm>
            <a:off x="8595360" y="5257800"/>
            <a:ext cx="3108960" cy="1005840"/>
          </a:xfrm>
          <a:prstGeom prst="rect">
            <a:avLst/>
          </a:prstGeom>
          <a:noFill/>
          <a:ln/>
        </p:spPr>
        <p:txBody>
          <a:bodyPr wrap="square" lIns="0" tIns="0" rIns="0" bIns="0" rtlCol="0" anchor="t"/>
          <a:lstStyle/>
          <a:p>
            <a:pPr indent="0" marL="0">
              <a:buNone/>
            </a:pPr>
            <a:r>
              <a:rPr lang="en-US" sz="1400" b="1" dirty="0">
                <a:solidFill>
                  <a:schemeClr val="tx2"/>
                </a:solidFill>
              </a:rPr>
              <a:t>No robust lineage-specific structural rates; neutrality not testable with this design</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H5 · Do AlphaFold models make orthologs look too similar?</a:t>
            </a:r>
            <a:endParaRPr lang="en-US" sz="3200" dirty="0"/>
          </a:p>
        </p:txBody>
      </p:sp>
      <p:pic>
        <p:nvPicPr>
          <p:cNvPr id="4" name="Image 0" descr="H5 · Do AlphaFold models make orthologs look too similar?">    </p:cNvPr>
          <p:cNvPicPr>
            <a:picLocks noChangeAspect="1"/>
          </p:cNvPicPr>
          <p:nvPr/>
        </p:nvPicPr>
        <p:blipFill>
          <a:blip r:embed="rId1"/>
          <a:stretch>
            <a:fillRect/>
          </a:stretch>
        </p:blipFill>
        <p:spPr>
          <a:xfrm>
            <a:off x="365760" y="1491615"/>
            <a:ext cx="5760720" cy="3600450"/>
          </a:xfrm>
          <a:prstGeom prst="rect">
            <a:avLst/>
          </a:prstGeom>
        </p:spPr>
      </p:pic>
      <p:sp>
        <p:nvSpPr>
          <p:cNvPr id="5" name="Text 1"/>
          <p:cNvSpPr txBox="1"/>
          <p:nvPr/>
        </p:nvSpPr>
        <p:spPr>
          <a:xfrm>
            <a:off x="457200" y="5486400"/>
            <a:ext cx="5669280" cy="822960"/>
          </a:xfrm>
          <a:prstGeom prst="rect">
            <a:avLst/>
          </a:prstGeom>
          <a:noFill/>
          <a:ln/>
        </p:spPr>
        <p:txBody>
          <a:bodyPr wrap="square" lIns="0" tIns="0" rIns="0" bIns="0" rtlCol="0" anchor="t"/>
          <a:lstStyle/>
          <a:p>
            <a:pPr indent="0" marL="0">
              <a:buNone/>
            </a:pPr>
            <a:r>
              <a:rPr lang="en-US" sz="1400" i="1" dirty="0">
                <a:solidFill>
                  <a:schemeClr val="tx2"/>
                </a:solidFill>
              </a:rPr>
              <a:t>Same ortholog pairs and same residues: AlphaFold vs experimental (PDB) structures.</a:t>
            </a:r>
            <a:endParaRPr lang="en-US" sz="1400" dirty="0"/>
          </a:p>
        </p:txBody>
      </p:sp>
      <p:sp>
        <p:nvSpPr>
          <p:cNvPr id="6" name="Text 2"/>
          <p:cNvSpPr txBox="1"/>
          <p:nvPr/>
        </p:nvSpPr>
        <p:spPr>
          <a:xfrm>
            <a:off x="6400800" y="1188720"/>
            <a:ext cx="5303520" cy="320040"/>
          </a:xfrm>
          <a:prstGeom prst="rect">
            <a:avLst/>
          </a:prstGeom>
          <a:noFill/>
          <a:ln/>
        </p:spPr>
        <p:txBody>
          <a:bodyPr wrap="square" lIns="0" tIns="0" rIns="0" bIns="0" rtlCol="0" anchor="ctr"/>
          <a:lstStyle/>
          <a:p>
            <a:pPr indent="0" marL="0">
              <a:buNone/>
            </a:pPr>
            <a:r>
              <a:rPr lang="en-US" sz="1500" b="1" dirty="0">
                <a:solidFill>
                  <a:schemeClr val="accent1"/>
                </a:solidFill>
              </a:rPr>
              <a:t>Prior work</a:t>
            </a:r>
            <a:endParaRPr lang="en-US" sz="1500" dirty="0"/>
          </a:p>
        </p:txBody>
      </p:sp>
      <p:sp>
        <p:nvSpPr>
          <p:cNvPr id="7" name="Text 3"/>
          <p:cNvSpPr txBox="1"/>
          <p:nvPr/>
        </p:nvSpPr>
        <p:spPr>
          <a:xfrm>
            <a:off x="6400800" y="1508760"/>
            <a:ext cx="5303520" cy="777240"/>
          </a:xfrm>
          <a:prstGeom prst="rect">
            <a:avLst/>
          </a:prstGeom>
          <a:noFill/>
          <a:ln/>
        </p:spPr>
        <p:txBody>
          <a:bodyPr wrap="square" lIns="0" tIns="0" rIns="0" bIns="0" rtlCol="0" anchor="t"/>
          <a:lstStyle/>
          <a:p>
            <a:pPr indent="0" marL="0">
              <a:buNone/>
            </a:pPr>
            <a:r>
              <a:rPr lang="en-US" sz="1300" dirty="0">
                <a:solidFill>
                  <a:schemeClr val="tx1"/>
                </a:solidFill>
              </a:rPr>
              <a:t>Jumper et al. 2021; Buel &amp; Walters 2022 and Pak et al. 2023 (AF insensitive to point mutations).</a:t>
            </a:r>
            <a:endParaRPr lang="en-US" sz="1300" dirty="0"/>
          </a:p>
        </p:txBody>
      </p:sp>
      <p:sp>
        <p:nvSpPr>
          <p:cNvPr id="8" name="Shape 4"/>
          <p:cNvSpPr/>
          <p:nvPr/>
        </p:nvSpPr>
        <p:spPr>
          <a:xfrm>
            <a:off x="6400800" y="2331720"/>
            <a:ext cx="2560320" cy="1874520"/>
          </a:xfrm>
          <a:prstGeom prst="roundRect">
            <a:avLst>
              <a:gd name="adj" fmla="val 5854"/>
            </a:avLst>
          </a:prstGeom>
          <a:solidFill>
            <a:schemeClr val="bg2"/>
          </a:solidFill>
          <a:ln w="12700">
            <a:solidFill>
              <a:schemeClr val="bg2"/>
            </a:solidFill>
            <a:prstDash val="solid"/>
          </a:ln>
        </p:spPr>
      </p:sp>
      <p:sp>
        <p:nvSpPr>
          <p:cNvPr id="9" name="Text 5"/>
          <p:cNvSpPr txBox="1"/>
          <p:nvPr/>
        </p:nvSpPr>
        <p:spPr>
          <a:xfrm>
            <a:off x="6583680" y="2441448"/>
            <a:ext cx="2194560" cy="411480"/>
          </a:xfrm>
          <a:prstGeom prst="rect">
            <a:avLst/>
          </a:prstGeom>
          <a:noFill/>
          <a:ln/>
        </p:spPr>
        <p:txBody>
          <a:bodyPr wrap="square" lIns="0" tIns="0" rIns="0" bIns="0" rtlCol="0" anchor="t"/>
          <a:lstStyle/>
          <a:p>
            <a:pPr indent="0" marL="0">
              <a:buNone/>
            </a:pPr>
            <a:r>
              <a:rPr lang="en-US" sz="1500" b="1" dirty="0">
                <a:solidFill>
                  <a:schemeClr val="tx2"/>
                </a:solidFill>
              </a:rPr>
              <a:t>+ Pros</a:t>
            </a:r>
            <a:endParaRPr lang="en-US" sz="1500" dirty="0"/>
          </a:p>
        </p:txBody>
      </p:sp>
      <p:sp>
        <p:nvSpPr>
          <p:cNvPr id="10" name="Text 6"/>
          <p:cNvSpPr txBox="1"/>
          <p:nvPr/>
        </p:nvSpPr>
        <p:spPr>
          <a:xfrm>
            <a:off x="6537960" y="2697480"/>
            <a:ext cx="2331720" cy="14630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identical residue sets</a:t>
            </a:r>
            <a:endParaRPr lang="en-US" sz="1400" dirty="0"/>
          </a:p>
          <a:p>
            <a:pPr marL="342900" indent="-342900">
              <a:spcAft>
                <a:spcPts val="300"/>
              </a:spcAft>
              <a:buSzPct val="100000"/>
              <a:buChar char="•"/>
            </a:pPr>
            <a:r>
              <a:rPr lang="en-US" sz="1400" dirty="0">
                <a:solidFill>
                  <a:schemeClr val="tx1"/>
                </a:solidFill>
              </a:rPr>
              <a:t>post-training-cutoff structures</a:t>
            </a:r>
            <a:endParaRPr lang="en-US" sz="1400" dirty="0"/>
          </a:p>
          <a:p>
            <a:pPr marL="342900" indent="-342900">
              <a:spcAft>
                <a:spcPts val="300"/>
              </a:spcAft>
              <a:buSzPct val="100000"/>
              <a:buChar char="•"/>
            </a:pPr>
            <a:r>
              <a:rPr lang="en-US" sz="1400" dirty="0">
                <a:solidFill>
                  <a:schemeClr val="tx1"/>
                </a:solidFill>
              </a:rPr>
              <a:t>197 post-cutoff pairs</a:t>
            </a:r>
            <a:endParaRPr lang="en-US" sz="1400" dirty="0"/>
          </a:p>
        </p:txBody>
      </p:sp>
      <p:sp>
        <p:nvSpPr>
          <p:cNvPr id="11" name="Shape 7"/>
          <p:cNvSpPr/>
          <p:nvPr/>
        </p:nvSpPr>
        <p:spPr>
          <a:xfrm>
            <a:off x="9144000" y="2331720"/>
            <a:ext cx="2560320" cy="1874520"/>
          </a:xfrm>
          <a:prstGeom prst="roundRect">
            <a:avLst>
              <a:gd name="adj" fmla="val 5854"/>
            </a:avLst>
          </a:prstGeom>
          <a:solidFill>
            <a:srgbClr val="FBE3DC"/>
          </a:solidFill>
          <a:ln w="12700">
            <a:solidFill>
              <a:srgbClr val="FBE3DC"/>
            </a:solidFill>
            <a:prstDash val="solid"/>
          </a:ln>
        </p:spPr>
      </p:sp>
      <p:sp>
        <p:nvSpPr>
          <p:cNvPr id="12" name="Text 8"/>
          <p:cNvSpPr txBox="1"/>
          <p:nvPr/>
        </p:nvSpPr>
        <p:spPr>
          <a:xfrm>
            <a:off x="9326880" y="2441448"/>
            <a:ext cx="2194560" cy="411480"/>
          </a:xfrm>
          <a:prstGeom prst="rect">
            <a:avLst/>
          </a:prstGeom>
          <a:noFill/>
          <a:ln/>
        </p:spPr>
        <p:txBody>
          <a:bodyPr wrap="square" lIns="0" tIns="0" rIns="0" bIns="0" rtlCol="0" anchor="t"/>
          <a:lstStyle/>
          <a:p>
            <a:pPr indent="0" marL="0">
              <a:buNone/>
            </a:pPr>
            <a:r>
              <a:rPr lang="en-US" sz="1500" b="1" dirty="0">
                <a:solidFill>
                  <a:schemeClr val="tx2"/>
                </a:solidFill>
              </a:rPr>
              <a:t>− Cons</a:t>
            </a:r>
            <a:endParaRPr lang="en-US" sz="1500" dirty="0"/>
          </a:p>
        </p:txBody>
      </p:sp>
      <p:sp>
        <p:nvSpPr>
          <p:cNvPr id="13" name="Text 9"/>
          <p:cNvSpPr txBox="1"/>
          <p:nvPr/>
        </p:nvSpPr>
        <p:spPr>
          <a:xfrm>
            <a:off x="9281160" y="2697480"/>
            <a:ext cx="2331720" cy="14630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few deep pairs</a:t>
            </a:r>
            <a:endParaRPr lang="en-US" sz="1400" dirty="0"/>
          </a:p>
          <a:p>
            <a:pPr marL="342900" indent="-342900">
              <a:spcAft>
                <a:spcPts val="300"/>
              </a:spcAft>
              <a:buSzPct val="100000"/>
              <a:buChar char="•"/>
            </a:pPr>
            <a:r>
              <a:rPr lang="en-US" sz="1400" dirty="0">
                <a:solidFill>
                  <a:schemeClr val="tx1"/>
                </a:solidFill>
              </a:rPr>
              <a:t>crystal conditions add own noise</a:t>
            </a:r>
            <a:endParaRPr lang="en-US" sz="1400" dirty="0"/>
          </a:p>
        </p:txBody>
      </p:sp>
      <p:sp>
        <p:nvSpPr>
          <p:cNvPr id="14" name="Shape 10"/>
          <p:cNvSpPr/>
          <p:nvPr/>
        </p:nvSpPr>
        <p:spPr>
          <a:xfrm>
            <a:off x="6400800" y="4389120"/>
            <a:ext cx="2103120" cy="384048"/>
          </a:xfrm>
          <a:prstGeom prst="roundRect">
            <a:avLst>
              <a:gd name="adj" fmla="val 47619"/>
            </a:avLst>
          </a:prstGeom>
          <a:solidFill>
            <a:srgbClr val="F4A259"/>
          </a:solidFill>
          <a:ln w="12700">
            <a:solidFill>
              <a:srgbClr val="F4A259"/>
            </a:solidFill>
            <a:prstDash val="solid"/>
          </a:ln>
        </p:spPr>
      </p:sp>
      <p:sp>
        <p:nvSpPr>
          <p:cNvPr id="15" name="Text 11"/>
          <p:cNvSpPr txBox="1"/>
          <p:nvPr/>
        </p:nvSpPr>
        <p:spPr>
          <a:xfrm>
            <a:off x="6400800" y="4389120"/>
            <a:ext cx="2103120" cy="384048"/>
          </a:xfrm>
          <a:prstGeom prst="rect">
            <a:avLst/>
          </a:prstGeom>
          <a:noFill/>
          <a:ln/>
        </p:spPr>
        <p:txBody>
          <a:bodyPr wrap="square" lIns="0" tIns="0" rIns="0" bIns="0" rtlCol="0" anchor="ctr"/>
          <a:lstStyle/>
          <a:p>
            <a:pPr algn="ctr" indent="0" marL="0">
              <a:buNone/>
            </a:pPr>
            <a:r>
              <a:rPr lang="en-US" sz="1300" b="1" dirty="0">
                <a:solidFill>
                  <a:srgbClr val="0B3C49"/>
                </a:solidFill>
              </a:rPr>
              <a:t>Exploratory</a:t>
            </a:r>
            <a:endParaRPr lang="en-US" sz="1300" dirty="0"/>
          </a:p>
        </p:txBody>
      </p:sp>
      <p:sp>
        <p:nvSpPr>
          <p:cNvPr id="16" name="Text 12"/>
          <p:cNvSpPr txBox="1"/>
          <p:nvPr/>
        </p:nvSpPr>
        <p:spPr>
          <a:xfrm>
            <a:off x="8595360" y="4343400"/>
            <a:ext cx="3108960" cy="1737360"/>
          </a:xfrm>
          <a:prstGeom prst="rect">
            <a:avLst/>
          </a:prstGeom>
          <a:noFill/>
          <a:ln/>
        </p:spPr>
        <p:txBody>
          <a:bodyPr wrap="square" lIns="0" tIns="0" rIns="0" bIns="0" rtlCol="0" anchor="t"/>
          <a:lstStyle/>
          <a:p>
            <a:pPr indent="0" marL="0">
              <a:buNone/>
            </a:pPr>
            <a:r>
              <a:rPr lang="en-US" sz="1500" b="1" dirty="0">
                <a:solidFill>
                  <a:schemeClr val="tx2"/>
                </a:solidFill>
              </a:rPr>
              <a:t>AF–AF divergence = 0.59× PDB–PDB for 3Di</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H6 · Do structural clusters hide divergent pairs?</a:t>
            </a:r>
            <a:endParaRPr lang="en-US" sz="3200" dirty="0"/>
          </a:p>
        </p:txBody>
      </p:sp>
      <p:pic>
        <p:nvPicPr>
          <p:cNvPr id="4" name="Image 0" descr="H6 · Do structural clusters hide divergent pairs?">    </p:cNvPr>
          <p:cNvPicPr>
            <a:picLocks noChangeAspect="1"/>
          </p:cNvPicPr>
          <p:nvPr/>
        </p:nvPicPr>
        <p:blipFill>
          <a:blip r:embed="rId1"/>
          <a:stretch>
            <a:fillRect/>
          </a:stretch>
        </p:blipFill>
        <p:spPr>
          <a:xfrm>
            <a:off x="365760" y="1491615"/>
            <a:ext cx="5760720" cy="3600450"/>
          </a:xfrm>
          <a:prstGeom prst="rect">
            <a:avLst/>
          </a:prstGeom>
        </p:spPr>
      </p:pic>
      <p:sp>
        <p:nvSpPr>
          <p:cNvPr id="5" name="Text 1"/>
          <p:cNvSpPr txBox="1"/>
          <p:nvPr/>
        </p:nvSpPr>
        <p:spPr>
          <a:xfrm>
            <a:off x="457200" y="5486400"/>
            <a:ext cx="5669280" cy="822960"/>
          </a:xfrm>
          <a:prstGeom prst="rect">
            <a:avLst/>
          </a:prstGeom>
          <a:noFill/>
          <a:ln/>
        </p:spPr>
        <p:txBody>
          <a:bodyPr wrap="square" lIns="0" tIns="0" rIns="0" bIns="0" rtlCol="0" anchor="t"/>
          <a:lstStyle/>
          <a:p>
            <a:pPr indent="0" marL="0">
              <a:buNone/>
            </a:pPr>
            <a:r>
              <a:rPr lang="en-US" sz="1400" i="1" dirty="0">
                <a:solidFill>
                  <a:schemeClr val="tx2"/>
                </a:solidFill>
              </a:rPr>
              <a:t>Pairs inside AFDB clusters passed a structural filter; ortholog pairs did not.</a:t>
            </a:r>
            <a:endParaRPr lang="en-US" sz="1400" dirty="0"/>
          </a:p>
        </p:txBody>
      </p:sp>
      <p:sp>
        <p:nvSpPr>
          <p:cNvPr id="6" name="Text 2"/>
          <p:cNvSpPr txBox="1"/>
          <p:nvPr/>
        </p:nvSpPr>
        <p:spPr>
          <a:xfrm>
            <a:off x="6400800" y="1188720"/>
            <a:ext cx="5303520" cy="320040"/>
          </a:xfrm>
          <a:prstGeom prst="rect">
            <a:avLst/>
          </a:prstGeom>
          <a:noFill/>
          <a:ln/>
        </p:spPr>
        <p:txBody>
          <a:bodyPr wrap="square" lIns="0" tIns="0" rIns="0" bIns="0" rtlCol="0" anchor="ctr"/>
          <a:lstStyle/>
          <a:p>
            <a:pPr indent="0" marL="0">
              <a:buNone/>
            </a:pPr>
            <a:r>
              <a:rPr lang="en-US" sz="1500" b="1" dirty="0">
                <a:solidFill>
                  <a:schemeClr val="accent1"/>
                </a:solidFill>
              </a:rPr>
              <a:t>Prior work</a:t>
            </a:r>
            <a:endParaRPr lang="en-US" sz="1500" dirty="0"/>
          </a:p>
        </p:txBody>
      </p:sp>
      <p:sp>
        <p:nvSpPr>
          <p:cNvPr id="7" name="Text 3"/>
          <p:cNvSpPr txBox="1"/>
          <p:nvPr/>
        </p:nvSpPr>
        <p:spPr>
          <a:xfrm>
            <a:off x="6400800" y="1508760"/>
            <a:ext cx="5303520" cy="777240"/>
          </a:xfrm>
          <a:prstGeom prst="rect">
            <a:avLst/>
          </a:prstGeom>
          <a:noFill/>
          <a:ln/>
        </p:spPr>
        <p:txBody>
          <a:bodyPr wrap="square" lIns="0" tIns="0" rIns="0" bIns="0" rtlCol="0" anchor="t"/>
          <a:lstStyle/>
          <a:p>
            <a:pPr indent="0" marL="0">
              <a:buNone/>
            </a:pPr>
            <a:r>
              <a:rPr lang="en-US" sz="1300" dirty="0">
                <a:solidFill>
                  <a:schemeClr val="tx1"/>
                </a:solidFill>
              </a:rPr>
              <a:t>Barrio-Hernandez et al. 2023 (clustering: 90% coverage, E &lt; 0.01).</a:t>
            </a:r>
            <a:endParaRPr lang="en-US" sz="1300" dirty="0"/>
          </a:p>
        </p:txBody>
      </p:sp>
      <p:sp>
        <p:nvSpPr>
          <p:cNvPr id="8" name="Shape 4"/>
          <p:cNvSpPr/>
          <p:nvPr/>
        </p:nvSpPr>
        <p:spPr>
          <a:xfrm>
            <a:off x="6400800" y="2331720"/>
            <a:ext cx="2560320" cy="1874520"/>
          </a:xfrm>
          <a:prstGeom prst="roundRect">
            <a:avLst>
              <a:gd name="adj" fmla="val 5854"/>
            </a:avLst>
          </a:prstGeom>
          <a:solidFill>
            <a:schemeClr val="bg2"/>
          </a:solidFill>
          <a:ln w="12700">
            <a:solidFill>
              <a:schemeClr val="bg2"/>
            </a:solidFill>
            <a:prstDash val="solid"/>
          </a:ln>
        </p:spPr>
      </p:sp>
      <p:sp>
        <p:nvSpPr>
          <p:cNvPr id="9" name="Text 5"/>
          <p:cNvSpPr txBox="1"/>
          <p:nvPr/>
        </p:nvSpPr>
        <p:spPr>
          <a:xfrm>
            <a:off x="6583680" y="2441448"/>
            <a:ext cx="2194560" cy="411480"/>
          </a:xfrm>
          <a:prstGeom prst="rect">
            <a:avLst/>
          </a:prstGeom>
          <a:noFill/>
          <a:ln/>
        </p:spPr>
        <p:txBody>
          <a:bodyPr wrap="square" lIns="0" tIns="0" rIns="0" bIns="0" rtlCol="0" anchor="t"/>
          <a:lstStyle/>
          <a:p>
            <a:pPr indent="0" marL="0">
              <a:buNone/>
            </a:pPr>
            <a:r>
              <a:rPr lang="en-US" sz="1500" b="1" dirty="0">
                <a:solidFill>
                  <a:schemeClr val="tx2"/>
                </a:solidFill>
              </a:rPr>
              <a:t>+ Pros</a:t>
            </a:r>
            <a:endParaRPr lang="en-US" sz="1500" dirty="0"/>
          </a:p>
        </p:txBody>
      </p:sp>
      <p:sp>
        <p:nvSpPr>
          <p:cNvPr id="10" name="Text 6"/>
          <p:cNvSpPr txBox="1"/>
          <p:nvPr/>
        </p:nvSpPr>
        <p:spPr>
          <a:xfrm>
            <a:off x="6537960" y="2697480"/>
            <a:ext cx="2331720" cy="14630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27.7 M cluster pairs vs our orthologs</a:t>
            </a:r>
            <a:endParaRPr lang="en-US" sz="1400" dirty="0"/>
          </a:p>
          <a:p>
            <a:pPr marL="342900" indent="-342900">
              <a:spcAft>
                <a:spcPts val="300"/>
              </a:spcAft>
              <a:buSzPct val="100000"/>
              <a:buChar char="•"/>
            </a:pPr>
            <a:r>
              <a:rPr lang="en-US" sz="1400" dirty="0">
                <a:solidFill>
                  <a:schemeClr val="tx1"/>
                </a:solidFill>
              </a:rPr>
              <a:t>same metrics</a:t>
            </a:r>
            <a:endParaRPr lang="en-US" sz="1400" dirty="0"/>
          </a:p>
        </p:txBody>
      </p:sp>
      <p:sp>
        <p:nvSpPr>
          <p:cNvPr id="11" name="Shape 7"/>
          <p:cNvSpPr/>
          <p:nvPr/>
        </p:nvSpPr>
        <p:spPr>
          <a:xfrm>
            <a:off x="9144000" y="2331720"/>
            <a:ext cx="2560320" cy="1874520"/>
          </a:xfrm>
          <a:prstGeom prst="roundRect">
            <a:avLst>
              <a:gd name="adj" fmla="val 5854"/>
            </a:avLst>
          </a:prstGeom>
          <a:solidFill>
            <a:srgbClr val="FBE3DC"/>
          </a:solidFill>
          <a:ln w="12700">
            <a:solidFill>
              <a:srgbClr val="FBE3DC"/>
            </a:solidFill>
            <a:prstDash val="solid"/>
          </a:ln>
        </p:spPr>
      </p:sp>
      <p:sp>
        <p:nvSpPr>
          <p:cNvPr id="12" name="Text 8"/>
          <p:cNvSpPr txBox="1"/>
          <p:nvPr/>
        </p:nvSpPr>
        <p:spPr>
          <a:xfrm>
            <a:off x="9326880" y="2441448"/>
            <a:ext cx="2194560" cy="411480"/>
          </a:xfrm>
          <a:prstGeom prst="rect">
            <a:avLst/>
          </a:prstGeom>
          <a:noFill/>
          <a:ln/>
        </p:spPr>
        <p:txBody>
          <a:bodyPr wrap="square" lIns="0" tIns="0" rIns="0" bIns="0" rtlCol="0" anchor="t"/>
          <a:lstStyle/>
          <a:p>
            <a:pPr indent="0" marL="0">
              <a:buNone/>
            </a:pPr>
            <a:r>
              <a:rPr lang="en-US" sz="1500" b="1" dirty="0">
                <a:solidFill>
                  <a:schemeClr val="tx2"/>
                </a:solidFill>
              </a:rPr>
              <a:t>− Cons</a:t>
            </a:r>
            <a:endParaRPr lang="en-US" sz="1500" dirty="0"/>
          </a:p>
        </p:txBody>
      </p:sp>
      <p:sp>
        <p:nvSpPr>
          <p:cNvPr id="13" name="Text 9"/>
          <p:cNvSpPr txBox="1"/>
          <p:nvPr/>
        </p:nvSpPr>
        <p:spPr>
          <a:xfrm>
            <a:off x="9281160" y="2697480"/>
            <a:ext cx="2331720" cy="14630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ranges barely overlap (10–35% vs 47–99% identity)</a:t>
            </a:r>
            <a:endParaRPr lang="en-US" sz="1400" dirty="0"/>
          </a:p>
          <a:p>
            <a:pPr marL="342900" indent="-342900">
              <a:spcAft>
                <a:spcPts val="300"/>
              </a:spcAft>
              <a:buSzPct val="100000"/>
              <a:buChar char="•"/>
            </a:pPr>
            <a:r>
              <a:rPr lang="en-US" sz="1400" dirty="0">
                <a:solidFill>
                  <a:schemeClr val="tx1"/>
                </a:solidFill>
              </a:rPr>
              <a:t>scoring differs</a:t>
            </a:r>
            <a:endParaRPr lang="en-US" sz="1400" dirty="0"/>
          </a:p>
        </p:txBody>
      </p:sp>
      <p:sp>
        <p:nvSpPr>
          <p:cNvPr id="14" name="Shape 10"/>
          <p:cNvSpPr/>
          <p:nvPr/>
        </p:nvSpPr>
        <p:spPr>
          <a:xfrm>
            <a:off x="6400800" y="4389120"/>
            <a:ext cx="2103120" cy="384048"/>
          </a:xfrm>
          <a:prstGeom prst="roundRect">
            <a:avLst>
              <a:gd name="adj" fmla="val 47619"/>
            </a:avLst>
          </a:prstGeom>
          <a:solidFill>
            <a:srgbClr val="F4A259"/>
          </a:solidFill>
          <a:ln w="12700">
            <a:solidFill>
              <a:srgbClr val="F4A259"/>
            </a:solidFill>
            <a:prstDash val="solid"/>
          </a:ln>
        </p:spPr>
      </p:sp>
      <p:sp>
        <p:nvSpPr>
          <p:cNvPr id="15" name="Text 11"/>
          <p:cNvSpPr txBox="1"/>
          <p:nvPr/>
        </p:nvSpPr>
        <p:spPr>
          <a:xfrm>
            <a:off x="6400800" y="4389120"/>
            <a:ext cx="2103120" cy="384048"/>
          </a:xfrm>
          <a:prstGeom prst="rect">
            <a:avLst/>
          </a:prstGeom>
          <a:noFill/>
          <a:ln/>
        </p:spPr>
        <p:txBody>
          <a:bodyPr wrap="square" lIns="0" tIns="0" rIns="0" bIns="0" rtlCol="0" anchor="ctr"/>
          <a:lstStyle/>
          <a:p>
            <a:pPr algn="ctr" indent="0" marL="0">
              <a:buNone/>
            </a:pPr>
            <a:r>
              <a:rPr lang="en-US" sz="1300" b="1" dirty="0">
                <a:solidFill>
                  <a:srgbClr val="0B3C49"/>
                </a:solidFill>
              </a:rPr>
              <a:t>Exploratory</a:t>
            </a:r>
            <a:endParaRPr lang="en-US" sz="1300" dirty="0"/>
          </a:p>
        </p:txBody>
      </p:sp>
      <p:sp>
        <p:nvSpPr>
          <p:cNvPr id="16" name="Text 12"/>
          <p:cNvSpPr txBox="1"/>
          <p:nvPr/>
        </p:nvSpPr>
        <p:spPr>
          <a:xfrm>
            <a:off x="8595360" y="4343400"/>
            <a:ext cx="3108960" cy="1737360"/>
          </a:xfrm>
          <a:prstGeom prst="rect">
            <a:avLst/>
          </a:prstGeom>
          <a:noFill/>
          <a:ln/>
        </p:spPr>
        <p:txBody>
          <a:bodyPr wrap="square" lIns="0" tIns="0" rIns="0" bIns="0" rtlCol="0" anchor="t"/>
          <a:lstStyle/>
          <a:p>
            <a:pPr indent="0" marL="0">
              <a:buNone/>
            </a:pPr>
            <a:r>
              <a:rPr lang="en-US" sz="1500" b="1" dirty="0">
                <a:solidFill>
                  <a:schemeClr val="tx2"/>
                </a:solidFill>
              </a:rPr>
              <a:t>in-cluster TM plateaus ≈0.83 = prediction-quality ceiling</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H7 · Duplication: do paralogs diverge more in structure?</a:t>
            </a:r>
            <a:endParaRPr lang="en-US" sz="3200" dirty="0"/>
          </a:p>
        </p:txBody>
      </p:sp>
      <p:pic>
        <p:nvPicPr>
          <p:cNvPr id="4" name="Image 0" descr="H7 · Duplication: do paralogs diverge more in structure?">    </p:cNvPr>
          <p:cNvPicPr>
            <a:picLocks noChangeAspect="1"/>
          </p:cNvPicPr>
          <p:nvPr/>
        </p:nvPicPr>
        <p:blipFill>
          <a:blip r:embed="rId1"/>
          <a:stretch>
            <a:fillRect/>
          </a:stretch>
        </p:blipFill>
        <p:spPr>
          <a:xfrm>
            <a:off x="365760" y="1491615"/>
            <a:ext cx="5760720" cy="3600450"/>
          </a:xfrm>
          <a:prstGeom prst="rect">
            <a:avLst/>
          </a:prstGeom>
        </p:spPr>
      </p:pic>
      <p:sp>
        <p:nvSpPr>
          <p:cNvPr id="5" name="Text 1"/>
          <p:cNvSpPr txBox="1"/>
          <p:nvPr/>
        </p:nvSpPr>
        <p:spPr>
          <a:xfrm>
            <a:off x="457200" y="5486400"/>
            <a:ext cx="5669280" cy="822960"/>
          </a:xfrm>
          <a:prstGeom prst="rect">
            <a:avLst/>
          </a:prstGeom>
          <a:noFill/>
          <a:ln/>
        </p:spPr>
        <p:txBody>
          <a:bodyPr wrap="square" lIns="0" tIns="0" rIns="0" bIns="0" rtlCol="0" anchor="t"/>
          <a:lstStyle/>
          <a:p>
            <a:pPr indent="0" marL="0">
              <a:buNone/>
            </a:pPr>
            <a:r>
              <a:rPr lang="en-US" sz="1400" i="1" dirty="0">
                <a:solidFill>
                  <a:schemeClr val="tx2"/>
                </a:solidFill>
              </a:rPr>
              <a:t>Positive control and least-diverged-ortholog (LDO) test with split alignment columns.</a:t>
            </a:r>
            <a:endParaRPr lang="en-US" sz="1400" dirty="0"/>
          </a:p>
        </p:txBody>
      </p:sp>
      <p:sp>
        <p:nvSpPr>
          <p:cNvPr id="6" name="Text 2"/>
          <p:cNvSpPr txBox="1"/>
          <p:nvPr/>
        </p:nvSpPr>
        <p:spPr>
          <a:xfrm>
            <a:off x="6400800" y="1188720"/>
            <a:ext cx="5303520" cy="320040"/>
          </a:xfrm>
          <a:prstGeom prst="rect">
            <a:avLst/>
          </a:prstGeom>
          <a:noFill/>
          <a:ln/>
        </p:spPr>
        <p:txBody>
          <a:bodyPr wrap="square" lIns="0" tIns="0" rIns="0" bIns="0" rtlCol="0" anchor="ctr"/>
          <a:lstStyle/>
          <a:p>
            <a:pPr indent="0" marL="0">
              <a:buNone/>
            </a:pPr>
            <a:r>
              <a:rPr lang="en-US" sz="1500" b="1" dirty="0">
                <a:solidFill>
                  <a:schemeClr val="accent1"/>
                </a:solidFill>
              </a:rPr>
              <a:t>Prior work</a:t>
            </a:r>
            <a:endParaRPr lang="en-US" sz="1500" dirty="0"/>
          </a:p>
        </p:txBody>
      </p:sp>
      <p:sp>
        <p:nvSpPr>
          <p:cNvPr id="7" name="Text 3"/>
          <p:cNvSpPr txBox="1"/>
          <p:nvPr/>
        </p:nvSpPr>
        <p:spPr>
          <a:xfrm>
            <a:off x="6400800" y="1508760"/>
            <a:ext cx="5303520" cy="777240"/>
          </a:xfrm>
          <a:prstGeom prst="rect">
            <a:avLst/>
          </a:prstGeom>
          <a:noFill/>
          <a:ln/>
        </p:spPr>
        <p:txBody>
          <a:bodyPr wrap="square" lIns="0" tIns="0" rIns="0" bIns="0" rtlCol="0" anchor="t"/>
          <a:lstStyle/>
          <a:p>
            <a:pPr indent="0" marL="0">
              <a:buNone/>
            </a:pPr>
            <a:r>
              <a:rPr lang="en-US" sz="1300" dirty="0">
                <a:solidFill>
                  <a:schemeClr val="tx1"/>
                </a:solidFill>
              </a:rPr>
              <a:t>Ortholog conjecture: Nehrt et al. 2011, Altenhoff et al. 2012; LDO: Warwick Vesztrocy et al. 2025.</a:t>
            </a:r>
            <a:endParaRPr lang="en-US" sz="1300" dirty="0"/>
          </a:p>
        </p:txBody>
      </p:sp>
      <p:sp>
        <p:nvSpPr>
          <p:cNvPr id="8" name="Shape 4"/>
          <p:cNvSpPr/>
          <p:nvPr/>
        </p:nvSpPr>
        <p:spPr>
          <a:xfrm>
            <a:off x="6400800" y="2331720"/>
            <a:ext cx="2560320" cy="1874520"/>
          </a:xfrm>
          <a:prstGeom prst="roundRect">
            <a:avLst>
              <a:gd name="adj" fmla="val 5854"/>
            </a:avLst>
          </a:prstGeom>
          <a:solidFill>
            <a:schemeClr val="bg2"/>
          </a:solidFill>
          <a:ln w="12700">
            <a:solidFill>
              <a:schemeClr val="bg2"/>
            </a:solidFill>
            <a:prstDash val="solid"/>
          </a:ln>
        </p:spPr>
      </p:sp>
      <p:sp>
        <p:nvSpPr>
          <p:cNvPr id="9" name="Text 5"/>
          <p:cNvSpPr txBox="1"/>
          <p:nvPr/>
        </p:nvSpPr>
        <p:spPr>
          <a:xfrm>
            <a:off x="6583680" y="2441448"/>
            <a:ext cx="2194560" cy="411480"/>
          </a:xfrm>
          <a:prstGeom prst="rect">
            <a:avLst/>
          </a:prstGeom>
          <a:noFill/>
          <a:ln/>
        </p:spPr>
        <p:txBody>
          <a:bodyPr wrap="square" lIns="0" tIns="0" rIns="0" bIns="0" rtlCol="0" anchor="t"/>
          <a:lstStyle/>
          <a:p>
            <a:pPr indent="0" marL="0">
              <a:buNone/>
            </a:pPr>
            <a:r>
              <a:rPr lang="en-US" sz="1500" b="1" dirty="0">
                <a:solidFill>
                  <a:schemeClr val="tx2"/>
                </a:solidFill>
              </a:rPr>
              <a:t>+ Pros</a:t>
            </a:r>
            <a:endParaRPr lang="en-US" sz="1500" dirty="0"/>
          </a:p>
        </p:txBody>
      </p:sp>
      <p:sp>
        <p:nvSpPr>
          <p:cNvPr id="10" name="Text 6"/>
          <p:cNvSpPr txBox="1"/>
          <p:nvPr/>
        </p:nvSpPr>
        <p:spPr>
          <a:xfrm>
            <a:off x="6537960" y="2697480"/>
            <a:ext cx="2331720" cy="14630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design avoids regression to the mean</a:t>
            </a:r>
            <a:endParaRPr lang="en-US" sz="1400" dirty="0"/>
          </a:p>
          <a:p>
            <a:pPr marL="342900" indent="-342900">
              <a:spcAft>
                <a:spcPts val="300"/>
              </a:spcAft>
              <a:buSzPct val="100000"/>
              <a:buChar char="•"/>
            </a:pPr>
            <a:r>
              <a:rPr lang="en-US" sz="1400" dirty="0">
                <a:solidFill>
                  <a:schemeClr val="tx1"/>
                </a:solidFill>
              </a:rPr>
              <a:t>3,525 families</a:t>
            </a:r>
            <a:endParaRPr lang="en-US" sz="1400" dirty="0"/>
          </a:p>
        </p:txBody>
      </p:sp>
      <p:sp>
        <p:nvSpPr>
          <p:cNvPr id="11" name="Shape 7"/>
          <p:cNvSpPr/>
          <p:nvPr/>
        </p:nvSpPr>
        <p:spPr>
          <a:xfrm>
            <a:off x="9144000" y="2331720"/>
            <a:ext cx="2560320" cy="1874520"/>
          </a:xfrm>
          <a:prstGeom prst="roundRect">
            <a:avLst>
              <a:gd name="adj" fmla="val 5854"/>
            </a:avLst>
          </a:prstGeom>
          <a:solidFill>
            <a:srgbClr val="FBE3DC"/>
          </a:solidFill>
          <a:ln w="12700">
            <a:solidFill>
              <a:srgbClr val="FBE3DC"/>
            </a:solidFill>
            <a:prstDash val="solid"/>
          </a:ln>
        </p:spPr>
      </p:sp>
      <p:sp>
        <p:nvSpPr>
          <p:cNvPr id="12" name="Text 8"/>
          <p:cNvSpPr txBox="1"/>
          <p:nvPr/>
        </p:nvSpPr>
        <p:spPr>
          <a:xfrm>
            <a:off x="9326880" y="2441448"/>
            <a:ext cx="2194560" cy="411480"/>
          </a:xfrm>
          <a:prstGeom prst="rect">
            <a:avLst/>
          </a:prstGeom>
          <a:noFill/>
          <a:ln/>
        </p:spPr>
        <p:txBody>
          <a:bodyPr wrap="square" lIns="0" tIns="0" rIns="0" bIns="0" rtlCol="0" anchor="t"/>
          <a:lstStyle/>
          <a:p>
            <a:pPr indent="0" marL="0">
              <a:buNone/>
            </a:pPr>
            <a:r>
              <a:rPr lang="en-US" sz="1500" b="1" dirty="0">
                <a:solidFill>
                  <a:schemeClr val="tx2"/>
                </a:solidFill>
              </a:rPr>
              <a:t>− Cons</a:t>
            </a:r>
            <a:endParaRPr lang="en-US" sz="1500" dirty="0"/>
          </a:p>
        </p:txBody>
      </p:sp>
      <p:sp>
        <p:nvSpPr>
          <p:cNvPr id="13" name="Text 9"/>
          <p:cNvSpPr txBox="1"/>
          <p:nvPr/>
        </p:nvSpPr>
        <p:spPr>
          <a:xfrm>
            <a:off x="9281160" y="2697480"/>
            <a:ext cx="2331720" cy="14630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paralog part not alignment-robust</a:t>
            </a:r>
            <a:endParaRPr lang="en-US" sz="1400" dirty="0"/>
          </a:p>
          <a:p>
            <a:pPr marL="342900" indent="-342900">
              <a:spcAft>
                <a:spcPts val="300"/>
              </a:spcAft>
              <a:buSzPct val="100000"/>
              <a:buChar char="•"/>
            </a:pPr>
            <a:r>
              <a:rPr lang="en-US" sz="1400" dirty="0">
                <a:solidFill>
                  <a:schemeClr val="tx1"/>
                </a:solidFill>
              </a:rPr>
              <a:t>effect ~ size of per-model noise</a:t>
            </a:r>
            <a:endParaRPr lang="en-US" sz="1400" dirty="0"/>
          </a:p>
        </p:txBody>
      </p:sp>
      <p:sp>
        <p:nvSpPr>
          <p:cNvPr id="14" name="Shape 10"/>
          <p:cNvSpPr/>
          <p:nvPr/>
        </p:nvSpPr>
        <p:spPr>
          <a:xfrm>
            <a:off x="6400800" y="4389120"/>
            <a:ext cx="2103120" cy="384048"/>
          </a:xfrm>
          <a:prstGeom prst="roundRect">
            <a:avLst>
              <a:gd name="adj" fmla="val 47619"/>
            </a:avLst>
          </a:prstGeom>
          <a:solidFill>
            <a:srgbClr val="0B3C49"/>
          </a:solidFill>
          <a:ln w="12700">
            <a:solidFill>
              <a:srgbClr val="0B3C49"/>
            </a:solidFill>
            <a:prstDash val="solid"/>
          </a:ln>
        </p:spPr>
      </p:sp>
      <p:sp>
        <p:nvSpPr>
          <p:cNvPr id="15" name="Text 11"/>
          <p:cNvSpPr txBox="1"/>
          <p:nvPr/>
        </p:nvSpPr>
        <p:spPr>
          <a:xfrm>
            <a:off x="6400800" y="4389120"/>
            <a:ext cx="2103120" cy="384048"/>
          </a:xfrm>
          <a:prstGeom prst="rect">
            <a:avLst/>
          </a:prstGeom>
          <a:noFill/>
          <a:ln/>
        </p:spPr>
        <p:txBody>
          <a:bodyPr wrap="square" lIns="0" tIns="0" rIns="0" bIns="0" rtlCol="0" anchor="ctr"/>
          <a:lstStyle/>
          <a:p>
            <a:pPr algn="ctr" indent="0" marL="0">
              <a:buNone/>
            </a:pPr>
            <a:r>
              <a:rPr lang="en-US" sz="1300" b="1" dirty="0">
                <a:solidFill>
                  <a:schemeClr val="bg1"/>
                </a:solidFill>
              </a:rPr>
              <a:t>Pre-registered</a:t>
            </a:r>
            <a:endParaRPr lang="en-US" sz="1300" dirty="0"/>
          </a:p>
        </p:txBody>
      </p:sp>
      <p:sp>
        <p:nvSpPr>
          <p:cNvPr id="16" name="Text 12"/>
          <p:cNvSpPr txBox="1"/>
          <p:nvPr/>
        </p:nvSpPr>
        <p:spPr>
          <a:xfrm>
            <a:off x="8595360" y="4343400"/>
            <a:ext cx="3108960" cy="822960"/>
          </a:xfrm>
          <a:prstGeom prst="rect">
            <a:avLst/>
          </a:prstGeom>
          <a:noFill/>
          <a:ln/>
        </p:spPr>
        <p:txBody>
          <a:bodyPr wrap="square" lIns="0" tIns="0" rIns="0" bIns="0" rtlCol="0" anchor="t"/>
          <a:lstStyle/>
          <a:p>
            <a:pPr indent="0" marL="0">
              <a:buNone/>
            </a:pPr>
            <a:r>
              <a:rPr lang="en-US" sz="1400" dirty="0">
                <a:solidFill>
                  <a:schemeClr val="tx1"/>
                </a:solidFill>
              </a:rPr>
              <a:t>Detected: paralog excess 0.030; faster copy +0.017</a:t>
            </a:r>
            <a:endParaRPr lang="en-US" sz="1400" dirty="0"/>
          </a:p>
        </p:txBody>
      </p:sp>
      <p:sp>
        <p:nvSpPr>
          <p:cNvPr id="17" name="Shape 13"/>
          <p:cNvSpPr/>
          <p:nvPr/>
        </p:nvSpPr>
        <p:spPr>
          <a:xfrm>
            <a:off x="6400800" y="5303520"/>
            <a:ext cx="2103120" cy="384048"/>
          </a:xfrm>
          <a:prstGeom prst="roundRect">
            <a:avLst>
              <a:gd name="adj" fmla="val 47619"/>
            </a:avLst>
          </a:prstGeom>
          <a:solidFill>
            <a:srgbClr val="F4A259"/>
          </a:solidFill>
          <a:ln w="12700">
            <a:solidFill>
              <a:srgbClr val="F4A259"/>
            </a:solidFill>
            <a:prstDash val="solid"/>
          </a:ln>
        </p:spPr>
      </p:sp>
      <p:sp>
        <p:nvSpPr>
          <p:cNvPr id="18" name="Text 14"/>
          <p:cNvSpPr txBox="1"/>
          <p:nvPr/>
        </p:nvSpPr>
        <p:spPr>
          <a:xfrm>
            <a:off x="6400800" y="5303520"/>
            <a:ext cx="2103120" cy="384048"/>
          </a:xfrm>
          <a:prstGeom prst="rect">
            <a:avLst/>
          </a:prstGeom>
          <a:noFill/>
          <a:ln/>
        </p:spPr>
        <p:txBody>
          <a:bodyPr wrap="square" lIns="0" tIns="0" rIns="0" bIns="0" rtlCol="0" anchor="ctr"/>
          <a:lstStyle/>
          <a:p>
            <a:pPr algn="ctr" indent="0" marL="0">
              <a:buNone/>
            </a:pPr>
            <a:r>
              <a:rPr lang="en-US" sz="1300" b="1" dirty="0">
                <a:solidFill>
                  <a:srgbClr val="0B3C49"/>
                </a:solidFill>
              </a:rPr>
              <a:t>Post hoc (verified)</a:t>
            </a:r>
            <a:endParaRPr lang="en-US" sz="1300" dirty="0"/>
          </a:p>
        </p:txBody>
      </p:sp>
      <p:sp>
        <p:nvSpPr>
          <p:cNvPr id="19" name="Text 15"/>
          <p:cNvSpPr txBox="1"/>
          <p:nvPr/>
        </p:nvSpPr>
        <p:spPr>
          <a:xfrm>
            <a:off x="8595360" y="5257800"/>
            <a:ext cx="3108960" cy="1005840"/>
          </a:xfrm>
          <a:prstGeom prst="rect">
            <a:avLst/>
          </a:prstGeom>
          <a:noFill/>
          <a:ln/>
        </p:spPr>
        <p:txBody>
          <a:bodyPr wrap="square" lIns="0" tIns="0" rIns="0" bIns="0" rtlCol="0" anchor="t"/>
          <a:lstStyle/>
          <a:p>
            <a:pPr indent="0" marL="0">
              <a:buNone/>
            </a:pPr>
            <a:r>
              <a:rPr lang="en-US" sz="1400" b="1" dirty="0">
                <a:solidFill>
                  <a:schemeClr val="tx2"/>
                </a:solidFill>
              </a:rPr>
              <a:t>Faster-copy excess halves after pLDDT adjustment (0.011) but stays positive; direction replicates</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H8 · Are AFDB structural clusters ortholog groups?</a:t>
            </a:r>
            <a:endParaRPr lang="en-US" sz="3200" dirty="0"/>
          </a:p>
        </p:txBody>
      </p:sp>
      <p:pic>
        <p:nvPicPr>
          <p:cNvPr id="4" name="Image 0" descr="H8 · Are AFDB structural clusters ortholog groups?">    </p:cNvPr>
          <p:cNvPicPr>
            <a:picLocks noChangeAspect="1"/>
          </p:cNvPicPr>
          <p:nvPr/>
        </p:nvPicPr>
        <p:blipFill>
          <a:blip r:embed="rId1"/>
          <a:stretch>
            <a:fillRect/>
          </a:stretch>
        </p:blipFill>
        <p:spPr>
          <a:xfrm>
            <a:off x="365760" y="1491615"/>
            <a:ext cx="5760720" cy="3600450"/>
          </a:xfrm>
          <a:prstGeom prst="rect">
            <a:avLst/>
          </a:prstGeom>
        </p:spPr>
      </p:pic>
      <p:sp>
        <p:nvSpPr>
          <p:cNvPr id="5" name="Text 1"/>
          <p:cNvSpPr txBox="1"/>
          <p:nvPr/>
        </p:nvSpPr>
        <p:spPr>
          <a:xfrm>
            <a:off x="457200" y="5486400"/>
            <a:ext cx="5669280" cy="822960"/>
          </a:xfrm>
          <a:prstGeom prst="rect">
            <a:avLst/>
          </a:prstGeom>
          <a:noFill/>
          <a:ln/>
        </p:spPr>
        <p:txBody>
          <a:bodyPr wrap="square" lIns="0" tIns="0" rIns="0" bIns="0" rtlCol="0" anchor="t"/>
          <a:lstStyle/>
          <a:p>
            <a:pPr indent="0" marL="0">
              <a:buNone/>
            </a:pPr>
            <a:r>
              <a:rPr lang="en-US" sz="1400" i="1" dirty="0">
                <a:solidFill>
                  <a:schemeClr val="tx2"/>
                </a:solidFill>
              </a:rPr>
              <a:t>Map 109,598 ortholog groups onto AFDB structural clusters.</a:t>
            </a:r>
            <a:endParaRPr lang="en-US" sz="1400" dirty="0"/>
          </a:p>
        </p:txBody>
      </p:sp>
      <p:sp>
        <p:nvSpPr>
          <p:cNvPr id="6" name="Text 2"/>
          <p:cNvSpPr txBox="1"/>
          <p:nvPr/>
        </p:nvSpPr>
        <p:spPr>
          <a:xfrm>
            <a:off x="6400800" y="1188720"/>
            <a:ext cx="5303520" cy="320040"/>
          </a:xfrm>
          <a:prstGeom prst="rect">
            <a:avLst/>
          </a:prstGeom>
          <a:noFill/>
          <a:ln/>
        </p:spPr>
        <p:txBody>
          <a:bodyPr wrap="square" lIns="0" tIns="0" rIns="0" bIns="0" rtlCol="0" anchor="ctr"/>
          <a:lstStyle/>
          <a:p>
            <a:pPr indent="0" marL="0">
              <a:buNone/>
            </a:pPr>
            <a:r>
              <a:rPr lang="en-US" sz="1500" b="1" dirty="0">
                <a:solidFill>
                  <a:schemeClr val="accent1"/>
                </a:solidFill>
              </a:rPr>
              <a:t>Prior work</a:t>
            </a:r>
            <a:endParaRPr lang="en-US" sz="1500" dirty="0"/>
          </a:p>
        </p:txBody>
      </p:sp>
      <p:sp>
        <p:nvSpPr>
          <p:cNvPr id="7" name="Text 3"/>
          <p:cNvSpPr txBox="1"/>
          <p:nvPr/>
        </p:nvSpPr>
        <p:spPr>
          <a:xfrm>
            <a:off x="6400800" y="1508760"/>
            <a:ext cx="5303520" cy="777240"/>
          </a:xfrm>
          <a:prstGeom prst="rect">
            <a:avLst/>
          </a:prstGeom>
          <a:noFill/>
          <a:ln/>
        </p:spPr>
        <p:txBody>
          <a:bodyPr wrap="square" lIns="0" tIns="0" rIns="0" bIns="0" rtlCol="0" anchor="t"/>
          <a:lstStyle/>
          <a:p>
            <a:pPr indent="0" marL="0">
              <a:buNone/>
            </a:pPr>
            <a:r>
              <a:rPr lang="en-US" sz="1300" dirty="0">
                <a:solidFill>
                  <a:schemeClr val="tx1"/>
                </a:solidFill>
              </a:rPr>
              <a:t>Barrio-Hernandez et al. 2023 (cluster ages by last common ancestor); TED domains (Lau et al. 2024).</a:t>
            </a:r>
            <a:endParaRPr lang="en-US" sz="1300" dirty="0"/>
          </a:p>
        </p:txBody>
      </p:sp>
      <p:sp>
        <p:nvSpPr>
          <p:cNvPr id="8" name="Shape 4"/>
          <p:cNvSpPr/>
          <p:nvPr/>
        </p:nvSpPr>
        <p:spPr>
          <a:xfrm>
            <a:off x="6400800" y="2331720"/>
            <a:ext cx="2560320" cy="1874520"/>
          </a:xfrm>
          <a:prstGeom prst="roundRect">
            <a:avLst>
              <a:gd name="adj" fmla="val 5854"/>
            </a:avLst>
          </a:prstGeom>
          <a:solidFill>
            <a:schemeClr val="bg2"/>
          </a:solidFill>
          <a:ln w="12700">
            <a:solidFill>
              <a:schemeClr val="bg2"/>
            </a:solidFill>
            <a:prstDash val="solid"/>
          </a:ln>
        </p:spPr>
      </p:sp>
      <p:sp>
        <p:nvSpPr>
          <p:cNvPr id="9" name="Text 5"/>
          <p:cNvSpPr txBox="1"/>
          <p:nvPr/>
        </p:nvSpPr>
        <p:spPr>
          <a:xfrm>
            <a:off x="6583680" y="2441448"/>
            <a:ext cx="2194560" cy="411480"/>
          </a:xfrm>
          <a:prstGeom prst="rect">
            <a:avLst/>
          </a:prstGeom>
          <a:noFill/>
          <a:ln/>
        </p:spPr>
        <p:txBody>
          <a:bodyPr wrap="square" lIns="0" tIns="0" rIns="0" bIns="0" rtlCol="0" anchor="t"/>
          <a:lstStyle/>
          <a:p>
            <a:pPr indent="0" marL="0">
              <a:buNone/>
            </a:pPr>
            <a:r>
              <a:rPr lang="en-US" sz="1500" b="1" dirty="0">
                <a:solidFill>
                  <a:schemeClr val="tx2"/>
                </a:solidFill>
              </a:rPr>
              <a:t>+ Pros</a:t>
            </a:r>
            <a:endParaRPr lang="en-US" sz="1500" dirty="0"/>
          </a:p>
        </p:txBody>
      </p:sp>
      <p:sp>
        <p:nvSpPr>
          <p:cNvPr id="10" name="Text 6"/>
          <p:cNvSpPr txBox="1"/>
          <p:nvPr/>
        </p:nvSpPr>
        <p:spPr>
          <a:xfrm>
            <a:off x="6537960" y="2697480"/>
            <a:ext cx="2331720" cy="14630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all families</a:t>
            </a:r>
            <a:endParaRPr lang="en-US" sz="1400" dirty="0"/>
          </a:p>
          <a:p>
            <a:pPr marL="342900" indent="-342900">
              <a:spcAft>
                <a:spcPts val="300"/>
              </a:spcAft>
              <a:buSzPct val="100000"/>
              <a:buChar char="•"/>
            </a:pPr>
            <a:r>
              <a:rPr lang="en-US" sz="1400" dirty="0">
                <a:solidFill>
                  <a:schemeClr val="tx1"/>
                </a:solidFill>
              </a:rPr>
              <a:t>logistic model of splits</a:t>
            </a:r>
            <a:endParaRPr lang="en-US" sz="1400" dirty="0"/>
          </a:p>
        </p:txBody>
      </p:sp>
      <p:sp>
        <p:nvSpPr>
          <p:cNvPr id="11" name="Shape 7"/>
          <p:cNvSpPr/>
          <p:nvPr/>
        </p:nvSpPr>
        <p:spPr>
          <a:xfrm>
            <a:off x="9144000" y="2331720"/>
            <a:ext cx="2560320" cy="1874520"/>
          </a:xfrm>
          <a:prstGeom prst="roundRect">
            <a:avLst>
              <a:gd name="adj" fmla="val 5854"/>
            </a:avLst>
          </a:prstGeom>
          <a:solidFill>
            <a:srgbClr val="FBE3DC"/>
          </a:solidFill>
          <a:ln w="12700">
            <a:solidFill>
              <a:srgbClr val="FBE3DC"/>
            </a:solidFill>
            <a:prstDash val="solid"/>
          </a:ln>
        </p:spPr>
      </p:sp>
      <p:sp>
        <p:nvSpPr>
          <p:cNvPr id="12" name="Text 8"/>
          <p:cNvSpPr txBox="1"/>
          <p:nvPr/>
        </p:nvSpPr>
        <p:spPr>
          <a:xfrm>
            <a:off x="9326880" y="2441448"/>
            <a:ext cx="2194560" cy="411480"/>
          </a:xfrm>
          <a:prstGeom prst="rect">
            <a:avLst/>
          </a:prstGeom>
          <a:noFill/>
          <a:ln/>
        </p:spPr>
        <p:txBody>
          <a:bodyPr wrap="square" lIns="0" tIns="0" rIns="0" bIns="0" rtlCol="0" anchor="t"/>
          <a:lstStyle/>
          <a:p>
            <a:pPr indent="0" marL="0">
              <a:buNone/>
            </a:pPr>
            <a:r>
              <a:rPr lang="en-US" sz="1500" b="1" dirty="0">
                <a:solidFill>
                  <a:schemeClr val="tx2"/>
                </a:solidFill>
              </a:rPr>
              <a:t>− Cons</a:t>
            </a:r>
            <a:endParaRPr lang="en-US" sz="1500" dirty="0"/>
          </a:p>
        </p:txBody>
      </p:sp>
      <p:sp>
        <p:nvSpPr>
          <p:cNvPr id="13" name="Text 9"/>
          <p:cNvSpPr txBox="1"/>
          <p:nvPr/>
        </p:nvSpPr>
        <p:spPr>
          <a:xfrm>
            <a:off x="9281160" y="2697480"/>
            <a:ext cx="2331720" cy="14630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Ancestra orthology itself unverified</a:t>
            </a:r>
            <a:endParaRPr lang="en-US" sz="1400" dirty="0"/>
          </a:p>
          <a:p>
            <a:pPr marL="342900" indent="-342900">
              <a:spcAft>
                <a:spcPts val="300"/>
              </a:spcAft>
              <a:buSzPct val="100000"/>
              <a:buChar char="•"/>
            </a:pPr>
            <a:r>
              <a:rPr lang="en-US" sz="1400" dirty="0">
                <a:solidFill>
                  <a:schemeClr val="tx1"/>
                </a:solidFill>
              </a:rPr>
              <a:t>domain labels noisy (21–25%)</a:t>
            </a:r>
            <a:endParaRPr lang="en-US" sz="1400" dirty="0"/>
          </a:p>
        </p:txBody>
      </p:sp>
      <p:sp>
        <p:nvSpPr>
          <p:cNvPr id="14" name="Shape 10"/>
          <p:cNvSpPr/>
          <p:nvPr/>
        </p:nvSpPr>
        <p:spPr>
          <a:xfrm>
            <a:off x="6400800" y="4389120"/>
            <a:ext cx="2103120" cy="384048"/>
          </a:xfrm>
          <a:prstGeom prst="roundRect">
            <a:avLst>
              <a:gd name="adj" fmla="val 47619"/>
            </a:avLst>
          </a:prstGeom>
          <a:solidFill>
            <a:srgbClr val="F4A259"/>
          </a:solidFill>
          <a:ln w="12700">
            <a:solidFill>
              <a:srgbClr val="F4A259"/>
            </a:solidFill>
            <a:prstDash val="solid"/>
          </a:ln>
        </p:spPr>
      </p:sp>
      <p:sp>
        <p:nvSpPr>
          <p:cNvPr id="15" name="Text 11"/>
          <p:cNvSpPr txBox="1"/>
          <p:nvPr/>
        </p:nvSpPr>
        <p:spPr>
          <a:xfrm>
            <a:off x="6400800" y="4389120"/>
            <a:ext cx="2103120" cy="384048"/>
          </a:xfrm>
          <a:prstGeom prst="rect">
            <a:avLst/>
          </a:prstGeom>
          <a:noFill/>
          <a:ln/>
        </p:spPr>
        <p:txBody>
          <a:bodyPr wrap="square" lIns="0" tIns="0" rIns="0" bIns="0" rtlCol="0" anchor="ctr"/>
          <a:lstStyle/>
          <a:p>
            <a:pPr algn="ctr" indent="0" marL="0">
              <a:buNone/>
            </a:pPr>
            <a:r>
              <a:rPr lang="en-US" sz="1300" b="1" dirty="0">
                <a:solidFill>
                  <a:srgbClr val="0B3C49"/>
                </a:solidFill>
              </a:rPr>
              <a:t>Exploratory</a:t>
            </a:r>
            <a:endParaRPr lang="en-US" sz="1300" dirty="0"/>
          </a:p>
        </p:txBody>
      </p:sp>
      <p:sp>
        <p:nvSpPr>
          <p:cNvPr id="16" name="Text 12"/>
          <p:cNvSpPr txBox="1"/>
          <p:nvPr/>
        </p:nvSpPr>
        <p:spPr>
          <a:xfrm>
            <a:off x="8595360" y="4343400"/>
            <a:ext cx="3108960" cy="1737360"/>
          </a:xfrm>
          <a:prstGeom prst="rect">
            <a:avLst/>
          </a:prstGeom>
          <a:noFill/>
          <a:ln/>
        </p:spPr>
        <p:txBody>
          <a:bodyPr wrap="square" lIns="0" tIns="0" rIns="0" bIns="0" rtlCol="0" anchor="t"/>
          <a:lstStyle/>
          <a:p>
            <a:pPr indent="0" marL="0">
              <a:buNone/>
            </a:pPr>
            <a:r>
              <a:rPr lang="en-US" sz="1500" b="1" dirty="0">
                <a:solidFill>
                  <a:schemeClr val="tx2"/>
                </a:solidFill>
              </a:rPr>
              <a:t>70% of groups split across clusters</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H9 · Case studies: bursts of structural change?</a:t>
            </a:r>
            <a:endParaRPr lang="en-US" sz="3200" dirty="0"/>
          </a:p>
        </p:txBody>
      </p:sp>
      <p:pic>
        <p:nvPicPr>
          <p:cNvPr id="4" name="Image 0" descr="H9 · Case studies: bursts of structural change?">    </p:cNvPr>
          <p:cNvPicPr>
            <a:picLocks noChangeAspect="1"/>
          </p:cNvPicPr>
          <p:nvPr/>
        </p:nvPicPr>
        <p:blipFill>
          <a:blip r:embed="rId1"/>
          <a:stretch>
            <a:fillRect/>
          </a:stretch>
        </p:blipFill>
        <p:spPr>
          <a:xfrm>
            <a:off x="365760" y="1390802"/>
            <a:ext cx="5760720" cy="3802075"/>
          </a:xfrm>
          <a:prstGeom prst="rect">
            <a:avLst/>
          </a:prstGeom>
        </p:spPr>
      </p:pic>
      <p:sp>
        <p:nvSpPr>
          <p:cNvPr id="5" name="Text 1"/>
          <p:cNvSpPr txBox="1"/>
          <p:nvPr/>
        </p:nvSpPr>
        <p:spPr>
          <a:xfrm>
            <a:off x="457200" y="5486400"/>
            <a:ext cx="5669280" cy="822960"/>
          </a:xfrm>
          <a:prstGeom prst="rect">
            <a:avLst/>
          </a:prstGeom>
          <a:noFill/>
          <a:ln/>
        </p:spPr>
        <p:txBody>
          <a:bodyPr wrap="square" lIns="0" tIns="0" rIns="0" bIns="0" rtlCol="0" anchor="t"/>
          <a:lstStyle/>
          <a:p>
            <a:pPr indent="0" marL="0">
              <a:buNone/>
            </a:pPr>
            <a:r>
              <a:rPr lang="en-US" sz="1400" i="1" dirty="0">
                <a:solidFill>
                  <a:schemeClr val="tx2"/>
                </a:solidFill>
              </a:rPr>
              <a:t>Actin/tubulin folds (with prokaryotic &amp; Asgard homologs) and protein kinases.</a:t>
            </a:r>
            <a:endParaRPr lang="en-US" sz="1400" dirty="0"/>
          </a:p>
        </p:txBody>
      </p:sp>
      <p:sp>
        <p:nvSpPr>
          <p:cNvPr id="6" name="Text 2"/>
          <p:cNvSpPr txBox="1"/>
          <p:nvPr/>
        </p:nvSpPr>
        <p:spPr>
          <a:xfrm>
            <a:off x="6400800" y="1188720"/>
            <a:ext cx="5303520" cy="320040"/>
          </a:xfrm>
          <a:prstGeom prst="rect">
            <a:avLst/>
          </a:prstGeom>
          <a:noFill/>
          <a:ln/>
        </p:spPr>
        <p:txBody>
          <a:bodyPr wrap="square" lIns="0" tIns="0" rIns="0" bIns="0" rtlCol="0" anchor="ctr"/>
          <a:lstStyle/>
          <a:p>
            <a:pPr indent="0" marL="0">
              <a:buNone/>
            </a:pPr>
            <a:r>
              <a:rPr lang="en-US" sz="1500" b="1" dirty="0">
                <a:solidFill>
                  <a:schemeClr val="accent1"/>
                </a:solidFill>
              </a:rPr>
              <a:t>Prior work</a:t>
            </a:r>
            <a:endParaRPr lang="en-US" sz="1500" dirty="0"/>
          </a:p>
        </p:txBody>
      </p:sp>
      <p:sp>
        <p:nvSpPr>
          <p:cNvPr id="7" name="Text 3"/>
          <p:cNvSpPr txBox="1"/>
          <p:nvPr/>
        </p:nvSpPr>
        <p:spPr>
          <a:xfrm>
            <a:off x="6400800" y="1508760"/>
            <a:ext cx="5303520" cy="777240"/>
          </a:xfrm>
          <a:prstGeom prst="rect">
            <a:avLst/>
          </a:prstGeom>
          <a:noFill/>
          <a:ln/>
        </p:spPr>
        <p:txBody>
          <a:bodyPr wrap="square" lIns="0" tIns="0" rIns="0" bIns="0" rtlCol="0" anchor="t"/>
          <a:lstStyle/>
          <a:p>
            <a:pPr indent="0" marL="0">
              <a:buNone/>
            </a:pPr>
            <a:r>
              <a:rPr lang="en-US" sz="1300" dirty="0">
                <a:solidFill>
                  <a:schemeClr val="tx1"/>
                </a:solidFill>
              </a:rPr>
              <a:t>Prokaryotic cytoskeleton homologs (MreB, FtsZ), Asgard archaea; kinase evolution (Kannan &amp; Taylor).</a:t>
            </a:r>
            <a:endParaRPr lang="en-US" sz="1300" dirty="0"/>
          </a:p>
        </p:txBody>
      </p:sp>
      <p:sp>
        <p:nvSpPr>
          <p:cNvPr id="8" name="Shape 4"/>
          <p:cNvSpPr/>
          <p:nvPr/>
        </p:nvSpPr>
        <p:spPr>
          <a:xfrm>
            <a:off x="6400800" y="2331720"/>
            <a:ext cx="2560320" cy="1874520"/>
          </a:xfrm>
          <a:prstGeom prst="roundRect">
            <a:avLst>
              <a:gd name="adj" fmla="val 5854"/>
            </a:avLst>
          </a:prstGeom>
          <a:solidFill>
            <a:schemeClr val="bg2"/>
          </a:solidFill>
          <a:ln w="12700">
            <a:solidFill>
              <a:schemeClr val="bg2"/>
            </a:solidFill>
            <a:prstDash val="solid"/>
          </a:ln>
        </p:spPr>
      </p:sp>
      <p:sp>
        <p:nvSpPr>
          <p:cNvPr id="9" name="Text 5"/>
          <p:cNvSpPr txBox="1"/>
          <p:nvPr/>
        </p:nvSpPr>
        <p:spPr>
          <a:xfrm>
            <a:off x="6583680" y="2441448"/>
            <a:ext cx="2194560" cy="411480"/>
          </a:xfrm>
          <a:prstGeom prst="rect">
            <a:avLst/>
          </a:prstGeom>
          <a:noFill/>
          <a:ln/>
        </p:spPr>
        <p:txBody>
          <a:bodyPr wrap="square" lIns="0" tIns="0" rIns="0" bIns="0" rtlCol="0" anchor="t"/>
          <a:lstStyle/>
          <a:p>
            <a:pPr indent="0" marL="0">
              <a:buNone/>
            </a:pPr>
            <a:r>
              <a:rPr lang="en-US" sz="1500" b="1" dirty="0">
                <a:solidFill>
                  <a:schemeClr val="tx2"/>
                </a:solidFill>
              </a:rPr>
              <a:t>+ Pros</a:t>
            </a:r>
            <a:endParaRPr lang="en-US" sz="1500" dirty="0"/>
          </a:p>
        </p:txBody>
      </p:sp>
      <p:sp>
        <p:nvSpPr>
          <p:cNvPr id="10" name="Text 6"/>
          <p:cNvSpPr txBox="1"/>
          <p:nvPr/>
        </p:nvSpPr>
        <p:spPr>
          <a:xfrm>
            <a:off x="6537960" y="2697480"/>
            <a:ext cx="2331720" cy="14630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fixed reference trees</a:t>
            </a:r>
            <a:endParaRPr lang="en-US" sz="1400" dirty="0"/>
          </a:p>
          <a:p>
            <a:pPr marL="342900" indent="-342900">
              <a:spcAft>
                <a:spcPts val="300"/>
              </a:spcAft>
              <a:buSzPct val="100000"/>
              <a:buChar char="•"/>
            </a:pPr>
            <a:r>
              <a:rPr lang="en-US" sz="1400" dirty="0">
                <a:solidFill>
                  <a:schemeClr val="tx1"/>
                </a:solidFill>
              </a:rPr>
              <a:t>3 alignments</a:t>
            </a:r>
            <a:endParaRPr lang="en-US" sz="1400" dirty="0"/>
          </a:p>
          <a:p>
            <a:pPr marL="342900" indent="-342900">
              <a:spcAft>
                <a:spcPts val="300"/>
              </a:spcAft>
              <a:buSzPct val="100000"/>
              <a:buChar char="•"/>
            </a:pPr>
            <a:r>
              <a:rPr lang="en-US" sz="1400" dirty="0">
                <a:solidFill>
                  <a:schemeClr val="tx1"/>
                </a:solidFill>
              </a:rPr>
              <a:t>two estimators</a:t>
            </a:r>
            <a:endParaRPr lang="en-US" sz="1400" dirty="0"/>
          </a:p>
        </p:txBody>
      </p:sp>
      <p:sp>
        <p:nvSpPr>
          <p:cNvPr id="11" name="Shape 7"/>
          <p:cNvSpPr/>
          <p:nvPr/>
        </p:nvSpPr>
        <p:spPr>
          <a:xfrm>
            <a:off x="9144000" y="2331720"/>
            <a:ext cx="2560320" cy="1874520"/>
          </a:xfrm>
          <a:prstGeom prst="roundRect">
            <a:avLst>
              <a:gd name="adj" fmla="val 5854"/>
            </a:avLst>
          </a:prstGeom>
          <a:solidFill>
            <a:srgbClr val="FBE3DC"/>
          </a:solidFill>
          <a:ln w="12700">
            <a:solidFill>
              <a:srgbClr val="FBE3DC"/>
            </a:solidFill>
            <a:prstDash val="solid"/>
          </a:ln>
        </p:spPr>
      </p:sp>
      <p:sp>
        <p:nvSpPr>
          <p:cNvPr id="12" name="Text 8"/>
          <p:cNvSpPr txBox="1"/>
          <p:nvPr/>
        </p:nvSpPr>
        <p:spPr>
          <a:xfrm>
            <a:off x="9326880" y="2441448"/>
            <a:ext cx="2194560" cy="411480"/>
          </a:xfrm>
          <a:prstGeom prst="rect">
            <a:avLst/>
          </a:prstGeom>
          <a:noFill/>
          <a:ln/>
        </p:spPr>
        <p:txBody>
          <a:bodyPr wrap="square" lIns="0" tIns="0" rIns="0" bIns="0" rtlCol="0" anchor="t"/>
          <a:lstStyle/>
          <a:p>
            <a:pPr indent="0" marL="0">
              <a:buNone/>
            </a:pPr>
            <a:r>
              <a:rPr lang="en-US" sz="1500" b="1" dirty="0">
                <a:solidFill>
                  <a:schemeClr val="tx2"/>
                </a:solidFill>
              </a:rPr>
              <a:t>− Cons</a:t>
            </a:r>
            <a:endParaRPr lang="en-US" sz="1500" dirty="0"/>
          </a:p>
        </p:txBody>
      </p:sp>
      <p:sp>
        <p:nvSpPr>
          <p:cNvPr id="13" name="Text 9"/>
          <p:cNvSpPr txBox="1"/>
          <p:nvPr/>
        </p:nvSpPr>
        <p:spPr>
          <a:xfrm>
            <a:off x="9281160" y="2697480"/>
            <a:ext cx="2331720" cy="14630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per-branch ratios disagree between methods</a:t>
            </a:r>
            <a:endParaRPr lang="en-US" sz="1400" dirty="0"/>
          </a:p>
          <a:p>
            <a:pPr marL="342900" indent="-342900">
              <a:spcAft>
                <a:spcPts val="300"/>
              </a:spcAft>
              <a:buSzPct val="100000"/>
              <a:buChar char="•"/>
            </a:pPr>
            <a:r>
              <a:rPr lang="en-US" sz="1400" dirty="0">
                <a:solidFill>
                  <a:schemeClr val="tx1"/>
                </a:solidFill>
              </a:rPr>
              <a:t>deep sequence saturation</a:t>
            </a:r>
            <a:endParaRPr lang="en-US" sz="1400" dirty="0"/>
          </a:p>
        </p:txBody>
      </p:sp>
      <p:sp>
        <p:nvSpPr>
          <p:cNvPr id="14" name="Shape 10"/>
          <p:cNvSpPr/>
          <p:nvPr/>
        </p:nvSpPr>
        <p:spPr>
          <a:xfrm>
            <a:off x="6400800" y="4389120"/>
            <a:ext cx="2103120" cy="384048"/>
          </a:xfrm>
          <a:prstGeom prst="roundRect">
            <a:avLst>
              <a:gd name="adj" fmla="val 47619"/>
            </a:avLst>
          </a:prstGeom>
          <a:solidFill>
            <a:srgbClr val="F4A259"/>
          </a:solidFill>
          <a:ln w="12700">
            <a:solidFill>
              <a:srgbClr val="F4A259"/>
            </a:solidFill>
            <a:prstDash val="solid"/>
          </a:ln>
        </p:spPr>
      </p:sp>
      <p:sp>
        <p:nvSpPr>
          <p:cNvPr id="15" name="Text 11"/>
          <p:cNvSpPr txBox="1"/>
          <p:nvPr/>
        </p:nvSpPr>
        <p:spPr>
          <a:xfrm>
            <a:off x="6400800" y="4389120"/>
            <a:ext cx="2103120" cy="384048"/>
          </a:xfrm>
          <a:prstGeom prst="rect">
            <a:avLst/>
          </a:prstGeom>
          <a:noFill/>
          <a:ln/>
        </p:spPr>
        <p:txBody>
          <a:bodyPr wrap="square" lIns="0" tIns="0" rIns="0" bIns="0" rtlCol="0" anchor="ctr"/>
          <a:lstStyle/>
          <a:p>
            <a:pPr algn="ctr" indent="0" marL="0">
              <a:buNone/>
            </a:pPr>
            <a:r>
              <a:rPr lang="en-US" sz="1300" b="1" dirty="0">
                <a:solidFill>
                  <a:srgbClr val="0B3C49"/>
                </a:solidFill>
              </a:rPr>
              <a:t>Exploratory</a:t>
            </a:r>
            <a:endParaRPr lang="en-US" sz="1300" dirty="0"/>
          </a:p>
        </p:txBody>
      </p:sp>
      <p:sp>
        <p:nvSpPr>
          <p:cNvPr id="16" name="Text 12"/>
          <p:cNvSpPr txBox="1"/>
          <p:nvPr/>
        </p:nvSpPr>
        <p:spPr>
          <a:xfrm>
            <a:off x="8595360" y="4343400"/>
            <a:ext cx="3108960" cy="1737360"/>
          </a:xfrm>
          <a:prstGeom prst="rect">
            <a:avLst/>
          </a:prstGeom>
          <a:noFill/>
          <a:ln/>
        </p:spPr>
        <p:txBody>
          <a:bodyPr wrap="square" lIns="0" tIns="0" rIns="0" bIns="0" rtlCol="0" anchor="t"/>
          <a:lstStyle/>
          <a:p>
            <a:pPr indent="0" marL="0">
              <a:buNone/>
            </a:pPr>
            <a:r>
              <a:rPr lang="en-US" sz="1500" b="1" dirty="0">
                <a:solidFill>
                  <a:schemeClr val="tx2"/>
                </a:solidFill>
              </a:rPr>
              <a:t>no robust stem bursts</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822960" y="2514600"/>
            <a:ext cx="1051560" cy="1051560"/>
          </a:xfrm>
          <a:prstGeom prst="ellipse">
            <a:avLst/>
          </a:prstGeom>
          <a:solidFill>
            <a:schemeClr val="accent2"/>
          </a:solidFill>
          <a:ln w="12700">
            <a:solidFill>
              <a:schemeClr val="accent2"/>
            </a:solidFill>
            <a:prstDash val="solid"/>
          </a:ln>
        </p:spPr>
      </p:sp>
      <p:sp>
        <p:nvSpPr>
          <p:cNvPr id="3" name="Text 1"/>
          <p:cNvSpPr txBox="1"/>
          <p:nvPr/>
        </p:nvSpPr>
        <p:spPr>
          <a:xfrm>
            <a:off x="822960" y="2514600"/>
            <a:ext cx="1051560" cy="1051560"/>
          </a:xfrm>
          <a:prstGeom prst="rect">
            <a:avLst/>
          </a:prstGeom>
          <a:noFill/>
          <a:ln/>
        </p:spPr>
        <p:txBody>
          <a:bodyPr wrap="square" rtlCol="0" anchor="ctr"/>
          <a:lstStyle/>
          <a:p>
            <a:pPr algn="ctr" indent="0" marL="0">
              <a:buNone/>
            </a:pPr>
            <a:r>
              <a:rPr lang="en-US" sz="3600" b="1" dirty="0">
                <a:solidFill>
                  <a:schemeClr val="tx2"/>
                </a:solidFill>
                <a:latin typeface="Cambria" pitchFamily="34" charset="0"/>
                <a:ea typeface="Cambria" pitchFamily="34" charset="-122"/>
                <a:cs typeface="Cambria" pitchFamily="34" charset="-120"/>
              </a:rPr>
              <a:t>6</a:t>
            </a:r>
            <a:endParaRPr lang="en-US" sz="3600" dirty="0"/>
          </a:p>
        </p:txBody>
      </p:sp>
      <p:sp>
        <p:nvSpPr>
          <p:cNvPr id="4" name="Text 0"/>
          <p:cNvSpPr/>
          <p:nvPr>
            <p:ph idx="100" type="title" hasCustomPrompt="1"/>
          </p:nvPr>
        </p:nvSpPr>
        <p:spPr>
          <a:xfrm>
            <a:off x="2103120" y="2468880"/>
            <a:ext cx="9326880" cy="1188720"/>
          </a:xfrm>
          <a:prstGeom prst="rect">
            <a:avLst/>
          </a:prstGeom>
          <a:noFill/>
          <a:ln/>
        </p:spPr>
        <p:txBody>
          <a:bodyPr wrap="square" rtlCol="0" anchor="ctr"/>
          <a:lstStyle/>
          <a:p>
            <a:pPr algn="l" indent="0" marL="0">
              <a:buNone/>
            </a:pPr>
            <a:r>
              <a:rPr lang="en-US" sz="4000" b="1" dirty="0">
                <a:solidFill>
                  <a:schemeClr val="bg1"/>
                </a:solidFill>
              </a:rPr>
              <a:t>Results and take-home messages</a:t>
            </a:r>
            <a:endParaRPr lang="en-US" sz="4000" dirty="0"/>
          </a:p>
        </p:txBody>
      </p:sp>
      <p:sp>
        <p:nvSpPr>
          <p:cNvPr id="5" name="Text 0"/>
          <p:cNvSpPr/>
          <p:nvPr>
            <p:ph idx="101" type="body" hasCustomPrompt="1"/>
          </p:nvPr>
        </p:nvSpPr>
        <p:spPr>
          <a:xfrm>
            <a:off x="2103120" y="3657600"/>
            <a:ext cx="9326880" cy="1097280"/>
          </a:xfrm>
          <a:prstGeom prst="rect">
            <a:avLst/>
          </a:prstGeom>
          <a:noFill/>
          <a:ln/>
        </p:spPr>
        <p:txBody>
          <a:bodyPr wrap="square" rtlCol="0" anchor="t"/>
          <a:lstStyle/>
          <a:p>
            <a:pPr indent="0" marL="0">
              <a:buNone/>
            </a:pPr>
            <a:r>
              <a:rPr lang="en-US" sz="1800" dirty="0">
                <a:solidFill>
                  <a:schemeClr val="bg2"/>
                </a:solidFill>
              </a:rPr>
              <a:t>What the pre-registered tests said, and what survived scrutiny</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Scorecard: pre-registered vs post-hoc reading</a:t>
            </a:r>
            <a:endParaRPr lang="en-US" sz="32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291840"/>
                <a:gridCol w="3657600"/>
                <a:gridCol w="4114800"/>
              </a:tblGrid>
              <a:tr h="576072">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Question</a:t>
                      </a:r>
                      <a:endParaRPr lang="en-US" sz="16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C4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Pre-registered (confirm set)</a:t>
                      </a:r>
                      <a:endParaRPr lang="en-US" sz="16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C4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Best reading</a:t>
                      </a:r>
                      <a:endParaRPr lang="en-US" sz="16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C49"/>
                    </a:solidFill>
                  </a:tcPr>
                </a:tc>
              </a:tr>
              <a:tr h="576072">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Shape (E1/E2)</a:t>
                      </a:r>
                      <a:endParaRPr lang="en-US" sz="16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concave, ĉ 0.72</a:t>
                      </a:r>
                      <a:endParaRPr lang="en-US" sz="16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c>
                  <a:txBody>
                    <a:bodyPr/>
                    <a:lstStyle/>
                    <a:p>
                      <a:pPr indent="0" marL="0">
                        <a:buNone/>
                      </a:pPr>
                      <a:r>
                        <a:rPr lang="en-US" sz="1600" b="1" dirty="0">
                          <a:solidFill>
                            <a:srgbClr val="000000"/>
                          </a:solidFill>
                          <a:latin typeface="Calibri" pitchFamily="34" charset="0"/>
                          <a:ea typeface="Calibri" pitchFamily="34" charset="-122"/>
                          <a:cs typeface="Calibri" pitchFamily="34" charset="-120"/>
                        </a:rPr>
                        <a:t>0.75–1.0: near-proportional</a:t>
                      </a:r>
                      <a:endParaRPr lang="en-US" sz="16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BD9"/>
                    </a:solidFill>
                  </a:tcPr>
                </a:tc>
              </a:tr>
              <a:tr h="576072">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Ratio (E3)</a:t>
                      </a:r>
                      <a:endParaRPr lang="en-US" sz="16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3.3× (α 4.7, β 2.6)</a:t>
                      </a:r>
                      <a:endParaRPr lang="en-US" sz="16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600" b="1" dirty="0">
                          <a:solidFill>
                            <a:srgbClr val="000000"/>
                          </a:solidFill>
                          <a:latin typeface="Calibri" pitchFamily="34" charset="0"/>
                          <a:ea typeface="Calibri" pitchFamily="34" charset="-122"/>
                          <a:cs typeface="Calibri" pitchFamily="34" charset="-120"/>
                        </a:rPr>
                        <a:t>4.6× on internal branches</a:t>
                      </a:r>
                      <a:endParaRPr lang="en-US" sz="16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BD9"/>
                    </a:solidFill>
                  </a:tcPr>
                </a:tc>
              </a:tr>
              <a:tr h="576072">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Time (E4)</a:t>
                      </a:r>
                      <a:endParaRPr lang="en-US" sz="16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ratio rises with age</a:t>
                      </a:r>
                      <a:endParaRPr lang="en-US" sz="16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c>
                  <a:txBody>
                    <a:bodyPr/>
                    <a:lstStyle/>
                    <a:p>
                      <a:pPr indent="0" marL="0">
                        <a:buNone/>
                      </a:pPr>
                      <a:r>
                        <a:rPr lang="en-US" sz="1600" b="1" dirty="0">
                          <a:solidFill>
                            <a:srgbClr val="000000"/>
                          </a:solidFill>
                          <a:latin typeface="Calibri" pitchFamily="34" charset="0"/>
                          <a:ea typeface="Calibri" pitchFamily="34" charset="-122"/>
                          <a:cs typeface="Calibri" pitchFamily="34" charset="-120"/>
                        </a:rPr>
                        <a:t>flat 30 My – &gt;1 Gy (tip artefact)</a:t>
                      </a:r>
                      <a:endParaRPr lang="en-US" sz="16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BD9"/>
                    </a:solidFill>
                  </a:tcPr>
                </a:tc>
              </a:tr>
              <a:tr h="576072">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Lineages (E5)</a:t>
                      </a:r>
                      <a:endParaRPr lang="en-US" sz="16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artefact-suspect</a:t>
                      </a:r>
                      <a:endParaRPr lang="en-US" sz="16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600" b="1" dirty="0">
                          <a:solidFill>
                            <a:srgbClr val="000000"/>
                          </a:solidFill>
                          <a:latin typeface="Calibri" pitchFamily="34" charset="0"/>
                          <a:ea typeface="Calibri" pitchFamily="34" charset="-122"/>
                          <a:cs typeface="Calibri" pitchFamily="34" charset="-120"/>
                        </a:rPr>
                        <a:t>no robust lineage effects</a:t>
                      </a:r>
                      <a:endParaRPr lang="en-US" sz="16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BD9"/>
                    </a:solidFill>
                  </a:tcPr>
                </a:tc>
              </a:tr>
              <a:tr h="576072">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Duplication (E6)</a:t>
                      </a:r>
                      <a:endParaRPr lang="en-US" sz="16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detected</a:t>
                      </a:r>
                      <a:endParaRPr lang="en-US" sz="16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c>
                  <a:txBody>
                    <a:bodyPr/>
                    <a:lstStyle/>
                    <a:p>
                      <a:pPr indent="0" marL="0">
                        <a:buNone/>
                      </a:pPr>
                      <a:r>
                        <a:rPr lang="en-US" sz="1600" b="1" dirty="0">
                          <a:solidFill>
                            <a:srgbClr val="000000"/>
                          </a:solidFill>
                          <a:latin typeface="Calibri" pitchFamily="34" charset="0"/>
                          <a:ea typeface="Calibri" pitchFamily="34" charset="-122"/>
                          <a:cs typeface="Calibri" pitchFamily="34" charset="-120"/>
                        </a:rPr>
                        <a:t>direction robust; size ~halved</a:t>
                      </a:r>
                      <a:endParaRPr lang="en-US" sz="16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BD9"/>
                    </a:solidFill>
                  </a:tcPr>
                </a:tc>
              </a:tr>
              <a:tr h="576072">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AlphaFold bias (X4)</a:t>
                      </a:r>
                      <a:endParaRPr lang="en-US" sz="16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600" b="1" dirty="0">
                          <a:solidFill>
                            <a:srgbClr val="000000"/>
                          </a:solidFill>
                          <a:latin typeface="Calibri" pitchFamily="34" charset="0"/>
                          <a:ea typeface="Calibri" pitchFamily="34" charset="-122"/>
                          <a:cs typeface="Calibri" pitchFamily="34" charset="-120"/>
                        </a:rPr>
                        <a:t>orthologs look 30–40% more similar</a:t>
                      </a:r>
                      <a:endParaRPr lang="en-US" sz="16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BD9"/>
                    </a:solidFill>
                  </a:tcPr>
                </a:tc>
              </a:tr>
              <a:tr h="576072">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Clusters vs orthology (X5)</a:t>
                      </a:r>
                      <a:endParaRPr lang="en-US" sz="16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F1F2"/>
                    </a:solidFill>
                  </a:tcPr>
                </a:tc>
                <a:tc>
                  <a:txBody>
                    <a:bodyPr/>
                    <a:lstStyle/>
                    <a:p>
                      <a:pPr indent="0" marL="0">
                        <a:buNone/>
                      </a:pPr>
                      <a:r>
                        <a:rPr lang="en-US" sz="1600" b="1" dirty="0">
                          <a:solidFill>
                            <a:srgbClr val="000000"/>
                          </a:solidFill>
                          <a:latin typeface="Calibri" pitchFamily="34" charset="0"/>
                          <a:ea typeface="Calibri" pitchFamily="34" charset="-122"/>
                          <a:cs typeface="Calibri" pitchFamily="34" charset="-120"/>
                        </a:rPr>
                        <a:t>70% of groups split, by length</a:t>
                      </a:r>
                      <a:endParaRPr lang="en-US" sz="16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BD9"/>
                    </a:solidFill>
                  </a:tcPr>
                </a:tc>
              </a:tr>
            </a:tbl>
          </a:graphicData>
        </a:graphic>
      </p:graphicFrame>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The twist: one hidden noise source explains most signals</a:t>
            </a:r>
            <a:endParaRPr lang="en-US" sz="3200" dirty="0"/>
          </a:p>
        </p:txBody>
      </p:sp>
      <p:pic>
        <p:nvPicPr>
          <p:cNvPr id="4" name="Image 0" descr="Tip artefact schematic">    </p:cNvPr>
          <p:cNvPicPr>
            <a:picLocks noChangeAspect="1"/>
          </p:cNvPicPr>
          <p:nvPr/>
        </p:nvPicPr>
        <p:blipFill>
          <a:blip r:embed="rId1"/>
          <a:stretch>
            <a:fillRect/>
          </a:stretch>
        </p:blipFill>
        <p:spPr>
          <a:xfrm>
            <a:off x="1598723" y="1188720"/>
            <a:ext cx="8964075" cy="4023360"/>
          </a:xfrm>
          <a:prstGeom prst="rect">
            <a:avLst/>
          </a:prstGeom>
        </p:spPr>
      </p:pic>
      <p:sp>
        <p:nvSpPr>
          <p:cNvPr id="5" name="Shape 1"/>
          <p:cNvSpPr/>
          <p:nvPr/>
        </p:nvSpPr>
        <p:spPr>
          <a:xfrm>
            <a:off x="640080" y="5486400"/>
            <a:ext cx="3474720" cy="384048"/>
          </a:xfrm>
          <a:prstGeom prst="roundRect">
            <a:avLst>
              <a:gd name="adj" fmla="val 47619"/>
            </a:avLst>
          </a:prstGeom>
          <a:solidFill>
            <a:srgbClr val="E76F51"/>
          </a:solidFill>
          <a:ln w="12700">
            <a:solidFill>
              <a:srgbClr val="E76F51"/>
            </a:solidFill>
            <a:prstDash val="solid"/>
          </a:ln>
        </p:spPr>
      </p:sp>
      <p:sp>
        <p:nvSpPr>
          <p:cNvPr id="6" name="Text 2"/>
          <p:cNvSpPr txBox="1"/>
          <p:nvPr/>
        </p:nvSpPr>
        <p:spPr>
          <a:xfrm>
            <a:off x="640080" y="5486400"/>
            <a:ext cx="3474720" cy="384048"/>
          </a:xfrm>
          <a:prstGeom prst="rect">
            <a:avLst/>
          </a:prstGeom>
          <a:noFill/>
          <a:ln/>
        </p:spPr>
        <p:txBody>
          <a:bodyPr wrap="square" lIns="0" tIns="0" rIns="0" bIns="0" rtlCol="0" anchor="ctr"/>
          <a:lstStyle/>
          <a:p>
            <a:pPr algn="ctr" indent="0" marL="0">
              <a:buNone/>
            </a:pPr>
            <a:r>
              <a:rPr lang="en-US" sz="1300" b="1" dirty="0">
                <a:solidFill>
                  <a:schemeClr val="bg1"/>
                </a:solidFill>
              </a:rPr>
              <a:t>Bends E1 toward concave</a:t>
            </a:r>
            <a:endParaRPr lang="en-US" sz="1300" dirty="0"/>
          </a:p>
        </p:txBody>
      </p:sp>
      <p:sp>
        <p:nvSpPr>
          <p:cNvPr id="7" name="Shape 3"/>
          <p:cNvSpPr/>
          <p:nvPr/>
        </p:nvSpPr>
        <p:spPr>
          <a:xfrm>
            <a:off x="4343400" y="5486400"/>
            <a:ext cx="3474720" cy="384048"/>
          </a:xfrm>
          <a:prstGeom prst="roundRect">
            <a:avLst>
              <a:gd name="adj" fmla="val 47619"/>
            </a:avLst>
          </a:prstGeom>
          <a:solidFill>
            <a:srgbClr val="E76F51"/>
          </a:solidFill>
          <a:ln w="12700">
            <a:solidFill>
              <a:srgbClr val="E76F51"/>
            </a:solidFill>
            <a:prstDash val="solid"/>
          </a:ln>
        </p:spPr>
      </p:sp>
      <p:sp>
        <p:nvSpPr>
          <p:cNvPr id="8" name="Text 4"/>
          <p:cNvSpPr txBox="1"/>
          <p:nvPr/>
        </p:nvSpPr>
        <p:spPr>
          <a:xfrm>
            <a:off x="4343400" y="5486400"/>
            <a:ext cx="3474720" cy="384048"/>
          </a:xfrm>
          <a:prstGeom prst="rect">
            <a:avLst/>
          </a:prstGeom>
          <a:noFill/>
          <a:ln/>
        </p:spPr>
        <p:txBody>
          <a:bodyPr wrap="square" lIns="0" tIns="0" rIns="0" bIns="0" rtlCol="0" anchor="ctr"/>
          <a:lstStyle/>
          <a:p>
            <a:pPr algn="ctr" indent="0" marL="0">
              <a:buNone/>
            </a:pPr>
            <a:r>
              <a:rPr lang="en-US" sz="1300" b="1" dirty="0">
                <a:solidFill>
                  <a:schemeClr val="bg1"/>
                </a:solidFill>
              </a:rPr>
              <a:t>Creates E4 age trend</a:t>
            </a:r>
            <a:endParaRPr lang="en-US" sz="1300" dirty="0"/>
          </a:p>
        </p:txBody>
      </p:sp>
      <p:sp>
        <p:nvSpPr>
          <p:cNvPr id="9" name="Shape 5"/>
          <p:cNvSpPr/>
          <p:nvPr/>
        </p:nvSpPr>
        <p:spPr>
          <a:xfrm>
            <a:off x="8046720" y="5486400"/>
            <a:ext cx="3474720" cy="384048"/>
          </a:xfrm>
          <a:prstGeom prst="roundRect">
            <a:avLst>
              <a:gd name="adj" fmla="val 47619"/>
            </a:avLst>
          </a:prstGeom>
          <a:solidFill>
            <a:srgbClr val="E76F51"/>
          </a:solidFill>
          <a:ln w="12700">
            <a:solidFill>
              <a:srgbClr val="E76F51"/>
            </a:solidFill>
            <a:prstDash val="solid"/>
          </a:ln>
        </p:spPr>
      </p:sp>
      <p:sp>
        <p:nvSpPr>
          <p:cNvPr id="10" name="Text 6"/>
          <p:cNvSpPr txBox="1"/>
          <p:nvPr/>
        </p:nvSpPr>
        <p:spPr>
          <a:xfrm>
            <a:off x="8046720" y="5486400"/>
            <a:ext cx="3474720" cy="384048"/>
          </a:xfrm>
          <a:prstGeom prst="rect">
            <a:avLst/>
          </a:prstGeom>
          <a:noFill/>
          <a:ln/>
        </p:spPr>
        <p:txBody>
          <a:bodyPr wrap="square" lIns="0" tIns="0" rIns="0" bIns="0" rtlCol="0" anchor="ctr"/>
          <a:lstStyle/>
          <a:p>
            <a:pPr algn="ctr" indent="0" marL="0">
              <a:buNone/>
            </a:pPr>
            <a:r>
              <a:rPr lang="en-US" sz="1300" b="1" dirty="0">
                <a:solidFill>
                  <a:schemeClr val="bg1"/>
                </a:solidFill>
              </a:rPr>
              <a:t>Fakes E5 lineage effects</a:t>
            </a:r>
            <a:endParaRPr lang="en-US" sz="13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What is new, and how it relates to the literature</a:t>
            </a:r>
            <a:endParaRPr lang="en-US" sz="3200" dirty="0"/>
          </a:p>
        </p:txBody>
      </p:sp>
      <p:sp>
        <p:nvSpPr>
          <p:cNvPr id="4" name="Shape 1"/>
          <p:cNvSpPr/>
          <p:nvPr/>
        </p:nvSpPr>
        <p:spPr>
          <a:xfrm>
            <a:off x="548640" y="1280160"/>
            <a:ext cx="3566160" cy="4023360"/>
          </a:xfrm>
          <a:prstGeom prst="roundRect">
            <a:avLst>
              <a:gd name="adj" fmla="val 3077"/>
            </a:avLst>
          </a:prstGeom>
          <a:solidFill>
            <a:srgbClr val="DDF1EE"/>
          </a:solidFill>
          <a:ln w="12700">
            <a:solidFill>
              <a:srgbClr val="DDF1EE"/>
            </a:solidFill>
            <a:prstDash val="solid"/>
          </a:ln>
        </p:spPr>
      </p:sp>
      <p:sp>
        <p:nvSpPr>
          <p:cNvPr id="5" name="Text 2"/>
          <p:cNvSpPr txBox="1"/>
          <p:nvPr/>
        </p:nvSpPr>
        <p:spPr>
          <a:xfrm>
            <a:off x="731520" y="1389888"/>
            <a:ext cx="3200400" cy="411480"/>
          </a:xfrm>
          <a:prstGeom prst="rect">
            <a:avLst/>
          </a:prstGeom>
          <a:noFill/>
          <a:ln/>
        </p:spPr>
        <p:txBody>
          <a:bodyPr wrap="square" lIns="0" tIns="0" rIns="0" bIns="0" rtlCol="0" anchor="t"/>
          <a:lstStyle/>
          <a:p>
            <a:pPr indent="0" marL="0">
              <a:buNone/>
            </a:pPr>
            <a:r>
              <a:rPr lang="en-US" sz="1800" b="1" dirty="0">
                <a:solidFill>
                  <a:schemeClr val="tx2"/>
                </a:solidFill>
              </a:rPr>
              <a:t>Confirmed</a:t>
            </a:r>
            <a:endParaRPr lang="en-US" sz="1800" dirty="0"/>
          </a:p>
        </p:txBody>
      </p:sp>
      <p:sp>
        <p:nvSpPr>
          <p:cNvPr id="6" name="Text 3"/>
          <p:cNvSpPr txBox="1"/>
          <p:nvPr/>
        </p:nvSpPr>
        <p:spPr>
          <a:xfrm>
            <a:off x="731520" y="1828800"/>
            <a:ext cx="3200400" cy="33832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Structure changes more slowly than sequence (Illergård 2009): 3–5×</a:t>
            </a:r>
            <a:endParaRPr lang="en-US" sz="1700" dirty="0"/>
          </a:p>
          <a:p>
            <a:pPr marL="342900" indent="-342900">
              <a:spcAft>
                <a:spcPts val="1000"/>
              </a:spcAft>
              <a:buSzPct val="100000"/>
              <a:buChar char="•"/>
            </a:pPr>
            <a:r>
              <a:rPr lang="en-US" sz="1700" dirty="0">
                <a:solidFill>
                  <a:schemeClr val="tx1"/>
                </a:solidFill>
              </a:rPr>
              <a:t>β-rich folds change structure faster than α (Illergård 2009)</a:t>
            </a:r>
            <a:endParaRPr lang="en-US" sz="1700" dirty="0"/>
          </a:p>
          <a:p>
            <a:pPr marL="342900" indent="-342900">
              <a:spcAft>
                <a:spcPts val="1000"/>
              </a:spcAft>
              <a:buSzPct val="100000"/>
              <a:buChar char="•"/>
            </a:pPr>
            <a:r>
              <a:rPr lang="en-US" sz="1700" dirty="0">
                <a:solidFill>
                  <a:schemeClr val="tx1"/>
                </a:solidFill>
              </a:rPr>
              <a:t>Direction of the LDO structural result (Warwick Vesztrocy 2025)</a:t>
            </a:r>
            <a:endParaRPr lang="en-US" sz="1700" dirty="0"/>
          </a:p>
        </p:txBody>
      </p:sp>
      <p:sp>
        <p:nvSpPr>
          <p:cNvPr id="7" name="Shape 4"/>
          <p:cNvSpPr/>
          <p:nvPr/>
        </p:nvSpPr>
        <p:spPr>
          <a:xfrm>
            <a:off x="4297680" y="1280160"/>
            <a:ext cx="3566160" cy="4023360"/>
          </a:xfrm>
          <a:prstGeom prst="roundRect">
            <a:avLst>
              <a:gd name="adj" fmla="val 3077"/>
            </a:avLst>
          </a:prstGeom>
          <a:solidFill>
            <a:srgbClr val="FDEBD9"/>
          </a:solidFill>
          <a:ln w="12700">
            <a:solidFill>
              <a:srgbClr val="FDEBD9"/>
            </a:solidFill>
            <a:prstDash val="solid"/>
          </a:ln>
        </p:spPr>
      </p:sp>
      <p:sp>
        <p:nvSpPr>
          <p:cNvPr id="8" name="Text 5"/>
          <p:cNvSpPr txBox="1"/>
          <p:nvPr/>
        </p:nvSpPr>
        <p:spPr>
          <a:xfrm>
            <a:off x="4480560" y="1389888"/>
            <a:ext cx="3200400" cy="411480"/>
          </a:xfrm>
          <a:prstGeom prst="rect">
            <a:avLst/>
          </a:prstGeom>
          <a:noFill/>
          <a:ln/>
        </p:spPr>
        <p:txBody>
          <a:bodyPr wrap="square" lIns="0" tIns="0" rIns="0" bIns="0" rtlCol="0" anchor="t"/>
          <a:lstStyle/>
          <a:p>
            <a:pPr indent="0" marL="0">
              <a:buNone/>
            </a:pPr>
            <a:r>
              <a:rPr lang="en-US" sz="1800" b="1" dirty="0">
                <a:solidFill>
                  <a:schemeClr val="tx2"/>
                </a:solidFill>
              </a:rPr>
              <a:t>Refined</a:t>
            </a:r>
            <a:endParaRPr lang="en-US" sz="1800" dirty="0"/>
          </a:p>
        </p:txBody>
      </p:sp>
      <p:sp>
        <p:nvSpPr>
          <p:cNvPr id="9" name="Text 6"/>
          <p:cNvSpPr txBox="1"/>
          <p:nvPr/>
        </p:nvSpPr>
        <p:spPr>
          <a:xfrm>
            <a:off x="4480560" y="1828800"/>
            <a:ext cx="3200400" cy="33832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'Linear' holds roughly, now on matched 20-state models and thousands of families</a:t>
            </a:r>
            <a:endParaRPr lang="en-US" sz="1700" dirty="0"/>
          </a:p>
          <a:p>
            <a:pPr marL="342900" indent="-342900">
              <a:spcAft>
                <a:spcPts val="1000"/>
              </a:spcAft>
              <a:buSzPct val="100000"/>
              <a:buChar char="•"/>
            </a:pPr>
            <a:r>
              <a:rPr lang="en-US" sz="1700" dirty="0">
                <a:solidFill>
                  <a:schemeClr val="tx1"/>
                </a:solidFill>
              </a:rPr>
              <a:t>Structure is proportional to sequence on a real time axis (30 My – &gt;1 Gy, internal branches)</a:t>
            </a:r>
            <a:endParaRPr lang="en-US" sz="1700" dirty="0"/>
          </a:p>
          <a:p>
            <a:pPr marL="342900" indent="-342900">
              <a:spcAft>
                <a:spcPts val="1000"/>
              </a:spcAft>
              <a:buSzPct val="100000"/>
              <a:buChar char="•"/>
            </a:pPr>
            <a:r>
              <a:rPr lang="en-US" sz="1700" dirty="0">
                <a:solidFill>
                  <a:schemeClr val="tx1"/>
                </a:solidFill>
              </a:rPr>
              <a:t>Structural clock violations not robust once artefacts handled</a:t>
            </a:r>
            <a:endParaRPr lang="en-US" sz="1700" dirty="0"/>
          </a:p>
        </p:txBody>
      </p:sp>
      <p:sp>
        <p:nvSpPr>
          <p:cNvPr id="10" name="Shape 7"/>
          <p:cNvSpPr/>
          <p:nvPr/>
        </p:nvSpPr>
        <p:spPr>
          <a:xfrm>
            <a:off x="8046720" y="1280160"/>
            <a:ext cx="3566160" cy="4023360"/>
          </a:xfrm>
          <a:prstGeom prst="roundRect">
            <a:avLst>
              <a:gd name="adj" fmla="val 3077"/>
            </a:avLst>
          </a:prstGeom>
          <a:solidFill>
            <a:srgbClr val="FBE3DC"/>
          </a:solidFill>
          <a:ln w="12700">
            <a:solidFill>
              <a:srgbClr val="FBE3DC"/>
            </a:solidFill>
            <a:prstDash val="solid"/>
          </a:ln>
        </p:spPr>
      </p:sp>
      <p:sp>
        <p:nvSpPr>
          <p:cNvPr id="11" name="Text 8"/>
          <p:cNvSpPr txBox="1"/>
          <p:nvPr/>
        </p:nvSpPr>
        <p:spPr>
          <a:xfrm>
            <a:off x="8229600" y="1389888"/>
            <a:ext cx="3200400" cy="411480"/>
          </a:xfrm>
          <a:prstGeom prst="rect">
            <a:avLst/>
          </a:prstGeom>
          <a:noFill/>
          <a:ln/>
        </p:spPr>
        <p:txBody>
          <a:bodyPr wrap="square" lIns="0" tIns="0" rIns="0" bIns="0" rtlCol="0" anchor="t"/>
          <a:lstStyle/>
          <a:p>
            <a:pPr indent="0" marL="0">
              <a:buNone/>
            </a:pPr>
            <a:r>
              <a:rPr lang="en-US" sz="1800" b="1" dirty="0">
                <a:solidFill>
                  <a:schemeClr val="tx2"/>
                </a:solidFill>
              </a:rPr>
              <a:t>New</a:t>
            </a:r>
            <a:endParaRPr lang="en-US" sz="1800" dirty="0"/>
          </a:p>
        </p:txBody>
      </p:sp>
      <p:sp>
        <p:nvSpPr>
          <p:cNvPr id="12" name="Text 9"/>
          <p:cNvSpPr txBox="1"/>
          <p:nvPr/>
        </p:nvSpPr>
        <p:spPr>
          <a:xfrm>
            <a:off x="8229600" y="1828800"/>
            <a:ext cx="3200400" cy="33832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AlphaFold homogenises orthologs (30–40% more similar than crystals)</a:t>
            </a:r>
            <a:endParaRPr lang="en-US" sz="1700" dirty="0"/>
          </a:p>
          <a:p>
            <a:pPr marL="342900" indent="-342900">
              <a:spcAft>
                <a:spcPts val="1000"/>
              </a:spcAft>
              <a:buSzPct val="100000"/>
              <a:buChar char="•"/>
            </a:pPr>
            <a:r>
              <a:rPr lang="en-US" sz="1700" dirty="0">
                <a:solidFill>
                  <a:schemeClr val="tx1"/>
                </a:solidFill>
              </a:rPr>
              <a:t>Per-model 3Di noise inflates terminal branches</a:t>
            </a:r>
            <a:endParaRPr lang="en-US" sz="1700" dirty="0"/>
          </a:p>
          <a:p>
            <a:pPr marL="342900" indent="-342900">
              <a:spcAft>
                <a:spcPts val="1000"/>
              </a:spcAft>
              <a:buSzPct val="100000"/>
              <a:buChar char="•"/>
            </a:pPr>
            <a:r>
              <a:rPr lang="en-US" sz="1700" dirty="0">
                <a:solidFill>
                  <a:schemeClr val="tx1"/>
                </a:solidFill>
              </a:rPr>
              <a:t>AFDB clusters split ortholog groups, mostly by length</a:t>
            </a:r>
            <a:endParaRPr lang="en-US" sz="17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Take-home messages</a:t>
            </a:r>
            <a:endParaRPr lang="en-US" sz="3200" dirty="0"/>
          </a:p>
        </p:txBody>
      </p:sp>
      <p:sp>
        <p:nvSpPr>
          <p:cNvPr id="4" name="Shape 1"/>
          <p:cNvSpPr/>
          <p:nvPr/>
        </p:nvSpPr>
        <p:spPr>
          <a:xfrm>
            <a:off x="548640" y="1280160"/>
            <a:ext cx="5394960" cy="2286000"/>
          </a:xfrm>
          <a:prstGeom prst="roundRect">
            <a:avLst>
              <a:gd name="adj" fmla="val 4800"/>
            </a:avLst>
          </a:prstGeom>
          <a:solidFill>
            <a:schemeClr val="bg2"/>
          </a:solidFill>
          <a:ln w="12700">
            <a:solidFill>
              <a:schemeClr val="bg2"/>
            </a:solidFill>
            <a:prstDash val="solid"/>
          </a:ln>
        </p:spPr>
      </p:sp>
      <p:sp>
        <p:nvSpPr>
          <p:cNvPr id="5" name="Text 2"/>
          <p:cNvSpPr txBox="1"/>
          <p:nvPr/>
        </p:nvSpPr>
        <p:spPr>
          <a:xfrm>
            <a:off x="731520" y="1389888"/>
            <a:ext cx="5029200" cy="411480"/>
          </a:xfrm>
          <a:prstGeom prst="rect">
            <a:avLst/>
          </a:prstGeom>
          <a:noFill/>
          <a:ln/>
        </p:spPr>
        <p:txBody>
          <a:bodyPr wrap="square" lIns="0" tIns="0" rIns="0" bIns="0" rtlCol="0" anchor="t"/>
          <a:lstStyle/>
          <a:p>
            <a:pPr indent="0" marL="0">
              <a:buNone/>
            </a:pPr>
            <a:endParaRPr lang="en-US" sz="1800" dirty="0"/>
          </a:p>
        </p:txBody>
      </p:sp>
      <p:sp>
        <p:nvSpPr>
          <p:cNvPr id="6" name="Text 3"/>
          <p:cNvSpPr txBox="1"/>
          <p:nvPr/>
        </p:nvSpPr>
        <p:spPr>
          <a:xfrm>
            <a:off x="822960" y="1463040"/>
            <a:ext cx="493776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≈4.6×</a:t>
            </a:r>
            <a:endParaRPr lang="en-US" sz="4400" dirty="0"/>
          </a:p>
        </p:txBody>
      </p:sp>
      <p:sp>
        <p:nvSpPr>
          <p:cNvPr id="7" name="Text 4"/>
          <p:cNvSpPr txBox="1"/>
          <p:nvPr/>
        </p:nvSpPr>
        <p:spPr>
          <a:xfrm>
            <a:off x="822960" y="2286000"/>
            <a:ext cx="4937760" cy="640080"/>
          </a:xfrm>
          <a:prstGeom prst="rect">
            <a:avLst/>
          </a:prstGeom>
          <a:noFill/>
          <a:ln/>
        </p:spPr>
        <p:txBody>
          <a:bodyPr wrap="square" lIns="0" tIns="0" rIns="0" bIns="0" rtlCol="0" anchor="t"/>
          <a:lstStyle/>
          <a:p>
            <a:pPr indent="0" marL="0">
              <a:buNone/>
            </a:pPr>
            <a:r>
              <a:rPr lang="en-US" sz="1400" dirty="0">
                <a:solidFill>
                  <a:schemeClr val="tx1"/>
                </a:solidFill>
              </a:rPr>
              <a:t>sequence changes faster than 3Di structure (internal branches)</a:t>
            </a:r>
            <a:endParaRPr lang="en-US" sz="1400" dirty="0"/>
          </a:p>
        </p:txBody>
      </p:sp>
      <p:sp>
        <p:nvSpPr>
          <p:cNvPr id="8" name="Shape 5"/>
          <p:cNvSpPr/>
          <p:nvPr/>
        </p:nvSpPr>
        <p:spPr>
          <a:xfrm>
            <a:off x="6217920" y="1280160"/>
            <a:ext cx="5394960" cy="2286000"/>
          </a:xfrm>
          <a:prstGeom prst="roundRect">
            <a:avLst>
              <a:gd name="adj" fmla="val 4800"/>
            </a:avLst>
          </a:prstGeom>
          <a:solidFill>
            <a:schemeClr val="bg2"/>
          </a:solidFill>
          <a:ln w="12700">
            <a:solidFill>
              <a:schemeClr val="bg2"/>
            </a:solidFill>
            <a:prstDash val="solid"/>
          </a:ln>
        </p:spPr>
      </p:sp>
      <p:sp>
        <p:nvSpPr>
          <p:cNvPr id="9" name="Text 6"/>
          <p:cNvSpPr txBox="1"/>
          <p:nvPr/>
        </p:nvSpPr>
        <p:spPr>
          <a:xfrm>
            <a:off x="6400800" y="1389888"/>
            <a:ext cx="5029200" cy="411480"/>
          </a:xfrm>
          <a:prstGeom prst="rect">
            <a:avLst/>
          </a:prstGeom>
          <a:noFill/>
          <a:ln/>
        </p:spPr>
        <p:txBody>
          <a:bodyPr wrap="square" lIns="0" tIns="0" rIns="0" bIns="0" rtlCol="0" anchor="t"/>
          <a:lstStyle/>
          <a:p>
            <a:pPr indent="0" marL="0">
              <a:buNone/>
            </a:pPr>
            <a:endParaRPr lang="en-US" sz="1800" dirty="0"/>
          </a:p>
        </p:txBody>
      </p:sp>
      <p:sp>
        <p:nvSpPr>
          <p:cNvPr id="10" name="Text 7"/>
          <p:cNvSpPr txBox="1"/>
          <p:nvPr/>
        </p:nvSpPr>
        <p:spPr>
          <a:xfrm>
            <a:off x="6492240" y="1463040"/>
            <a:ext cx="4937760" cy="822960"/>
          </a:xfrm>
          <a:prstGeom prst="rect">
            <a:avLst/>
          </a:prstGeom>
          <a:noFill/>
          <a:ln/>
        </p:spPr>
        <p:txBody>
          <a:bodyPr wrap="square" lIns="0" tIns="0" rIns="0" bIns="0" rtlCol="0" anchor="ctr"/>
          <a:lstStyle/>
          <a:p>
            <a:pPr indent="0" marL="0">
              <a:buNone/>
            </a:pPr>
            <a:r>
              <a:rPr lang="en-US" sz="4400" b="1" dirty="0">
                <a:solidFill>
                  <a:schemeClr val="tx2"/>
                </a:solidFill>
                <a:latin typeface="Cambria" pitchFamily="34" charset="0"/>
                <a:ea typeface="Cambria" pitchFamily="34" charset="-122"/>
                <a:cs typeface="Cambria" pitchFamily="34" charset="-120"/>
              </a:rPr>
              <a:t>0.75–1.0</a:t>
            </a:r>
            <a:endParaRPr lang="en-US" sz="4400" dirty="0"/>
          </a:p>
        </p:txBody>
      </p:sp>
      <p:sp>
        <p:nvSpPr>
          <p:cNvPr id="11" name="Text 8"/>
          <p:cNvSpPr txBox="1"/>
          <p:nvPr/>
        </p:nvSpPr>
        <p:spPr>
          <a:xfrm>
            <a:off x="6492240" y="2286000"/>
            <a:ext cx="4937760" cy="640080"/>
          </a:xfrm>
          <a:prstGeom prst="rect">
            <a:avLst/>
          </a:prstGeom>
          <a:noFill/>
          <a:ln/>
        </p:spPr>
        <p:txBody>
          <a:bodyPr wrap="square" lIns="0" tIns="0" rIns="0" bIns="0" rtlCol="0" anchor="t"/>
          <a:lstStyle/>
          <a:p>
            <a:pPr indent="0" marL="0">
              <a:buNone/>
            </a:pPr>
            <a:r>
              <a:rPr lang="en-US" sz="1400" dirty="0">
                <a:solidFill>
                  <a:schemeClr val="tx1"/>
                </a:solidFill>
              </a:rPr>
              <a:t>curvature: structure roughly proportional to sequence, mild saturation at most</a:t>
            </a:r>
            <a:endParaRPr lang="en-US" sz="1400" dirty="0"/>
          </a:p>
        </p:txBody>
      </p:sp>
      <p:sp>
        <p:nvSpPr>
          <p:cNvPr id="12" name="Shape 9"/>
          <p:cNvSpPr/>
          <p:nvPr/>
        </p:nvSpPr>
        <p:spPr>
          <a:xfrm>
            <a:off x="548640" y="3749040"/>
            <a:ext cx="5394960" cy="2286000"/>
          </a:xfrm>
          <a:prstGeom prst="roundRect">
            <a:avLst>
              <a:gd name="adj" fmla="val 4800"/>
            </a:avLst>
          </a:prstGeom>
          <a:solidFill>
            <a:schemeClr val="bg2"/>
          </a:solidFill>
          <a:ln w="12700">
            <a:solidFill>
              <a:schemeClr val="bg2"/>
            </a:solidFill>
            <a:prstDash val="solid"/>
          </a:ln>
        </p:spPr>
      </p:sp>
      <p:sp>
        <p:nvSpPr>
          <p:cNvPr id="13" name="Text 10"/>
          <p:cNvSpPr txBox="1"/>
          <p:nvPr/>
        </p:nvSpPr>
        <p:spPr>
          <a:xfrm>
            <a:off x="731520" y="3858768"/>
            <a:ext cx="5029200" cy="411480"/>
          </a:xfrm>
          <a:prstGeom prst="rect">
            <a:avLst/>
          </a:prstGeom>
          <a:noFill/>
          <a:ln/>
        </p:spPr>
        <p:txBody>
          <a:bodyPr wrap="square" lIns="0" tIns="0" rIns="0" bIns="0" rtlCol="0" anchor="t"/>
          <a:lstStyle/>
          <a:p>
            <a:pPr indent="0" marL="0">
              <a:buNone/>
            </a:pPr>
            <a:endParaRPr lang="en-US" sz="1800" dirty="0"/>
          </a:p>
        </p:txBody>
      </p:sp>
      <p:sp>
        <p:nvSpPr>
          <p:cNvPr id="14" name="Text 11"/>
          <p:cNvSpPr txBox="1"/>
          <p:nvPr/>
        </p:nvSpPr>
        <p:spPr>
          <a:xfrm>
            <a:off x="822960" y="3931920"/>
            <a:ext cx="4937760" cy="822960"/>
          </a:xfrm>
          <a:prstGeom prst="rect">
            <a:avLst/>
          </a:prstGeom>
          <a:noFill/>
          <a:ln/>
        </p:spPr>
        <p:txBody>
          <a:bodyPr wrap="square" lIns="0" tIns="0" rIns="0" bIns="0" rtlCol="0" anchor="ctr"/>
          <a:lstStyle/>
          <a:p>
            <a:pPr indent="0" marL="0">
              <a:buNone/>
            </a:pPr>
            <a:r>
              <a:rPr lang="en-US" sz="4400" b="1" dirty="0">
                <a:solidFill>
                  <a:schemeClr val="accent3"/>
                </a:solidFill>
                <a:latin typeface="Cambria" pitchFamily="34" charset="0"/>
                <a:ea typeface="Cambria" pitchFamily="34" charset="-122"/>
                <a:cs typeface="Cambria" pitchFamily="34" charset="-120"/>
              </a:rPr>
              <a:t>30–40%</a:t>
            </a:r>
            <a:endParaRPr lang="en-US" sz="4400" dirty="0"/>
          </a:p>
        </p:txBody>
      </p:sp>
      <p:sp>
        <p:nvSpPr>
          <p:cNvPr id="15" name="Text 12"/>
          <p:cNvSpPr txBox="1"/>
          <p:nvPr/>
        </p:nvSpPr>
        <p:spPr>
          <a:xfrm>
            <a:off x="822960" y="4754880"/>
            <a:ext cx="4937760" cy="640080"/>
          </a:xfrm>
          <a:prstGeom prst="rect">
            <a:avLst/>
          </a:prstGeom>
          <a:noFill/>
          <a:ln/>
        </p:spPr>
        <p:txBody>
          <a:bodyPr wrap="square" lIns="0" tIns="0" rIns="0" bIns="0" rtlCol="0" anchor="t"/>
          <a:lstStyle/>
          <a:p>
            <a:pPr indent="0" marL="0">
              <a:buNone/>
            </a:pPr>
            <a:r>
              <a:rPr lang="en-US" sz="1400" dirty="0">
                <a:solidFill>
                  <a:schemeClr val="tx1"/>
                </a:solidFill>
              </a:rPr>
              <a:t>AlphaFold makes orthologs look more alike than experiments</a:t>
            </a:r>
            <a:endParaRPr lang="en-US" sz="1400" dirty="0"/>
          </a:p>
        </p:txBody>
      </p:sp>
      <p:sp>
        <p:nvSpPr>
          <p:cNvPr id="16" name="Shape 13"/>
          <p:cNvSpPr/>
          <p:nvPr/>
        </p:nvSpPr>
        <p:spPr>
          <a:xfrm>
            <a:off x="6217920" y="3749040"/>
            <a:ext cx="5394960" cy="2286000"/>
          </a:xfrm>
          <a:prstGeom prst="roundRect">
            <a:avLst>
              <a:gd name="adj" fmla="val 4800"/>
            </a:avLst>
          </a:prstGeom>
          <a:solidFill>
            <a:schemeClr val="bg2"/>
          </a:solidFill>
          <a:ln w="12700">
            <a:solidFill>
              <a:schemeClr val="bg2"/>
            </a:solidFill>
            <a:prstDash val="solid"/>
          </a:ln>
        </p:spPr>
      </p:sp>
      <p:sp>
        <p:nvSpPr>
          <p:cNvPr id="17" name="Text 14"/>
          <p:cNvSpPr txBox="1"/>
          <p:nvPr/>
        </p:nvSpPr>
        <p:spPr>
          <a:xfrm>
            <a:off x="6400800" y="3858768"/>
            <a:ext cx="5029200" cy="411480"/>
          </a:xfrm>
          <a:prstGeom prst="rect">
            <a:avLst/>
          </a:prstGeom>
          <a:noFill/>
          <a:ln/>
        </p:spPr>
        <p:txBody>
          <a:bodyPr wrap="square" lIns="0" tIns="0" rIns="0" bIns="0" rtlCol="0" anchor="t"/>
          <a:lstStyle/>
          <a:p>
            <a:pPr indent="0" marL="0">
              <a:buNone/>
            </a:pPr>
            <a:endParaRPr lang="en-US" sz="1800" dirty="0"/>
          </a:p>
        </p:txBody>
      </p:sp>
      <p:sp>
        <p:nvSpPr>
          <p:cNvPr id="18" name="Text 15"/>
          <p:cNvSpPr txBox="1"/>
          <p:nvPr/>
        </p:nvSpPr>
        <p:spPr>
          <a:xfrm>
            <a:off x="6492240" y="3931920"/>
            <a:ext cx="4937760" cy="82296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70%</a:t>
            </a:r>
            <a:endParaRPr lang="en-US" sz="4400" dirty="0"/>
          </a:p>
        </p:txBody>
      </p:sp>
      <p:sp>
        <p:nvSpPr>
          <p:cNvPr id="19" name="Text 16"/>
          <p:cNvSpPr txBox="1"/>
          <p:nvPr/>
        </p:nvSpPr>
        <p:spPr>
          <a:xfrm>
            <a:off x="6492240" y="4754880"/>
            <a:ext cx="4937760" cy="640080"/>
          </a:xfrm>
          <a:prstGeom prst="rect">
            <a:avLst/>
          </a:prstGeom>
          <a:noFill/>
          <a:ln/>
        </p:spPr>
        <p:txBody>
          <a:bodyPr wrap="square" lIns="0" tIns="0" rIns="0" bIns="0" rtlCol="0" anchor="t"/>
          <a:lstStyle/>
          <a:p>
            <a:pPr indent="0" marL="0">
              <a:buNone/>
            </a:pPr>
            <a:r>
              <a:rPr lang="en-US" sz="1400" dirty="0">
                <a:solidFill>
                  <a:schemeClr val="tx1"/>
                </a:solidFill>
              </a:rPr>
              <a:t>of ortholog groups are split across AFDB structural clusters</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822960" y="2514600"/>
            <a:ext cx="1051560" cy="1051560"/>
          </a:xfrm>
          <a:prstGeom prst="ellipse">
            <a:avLst/>
          </a:prstGeom>
          <a:solidFill>
            <a:schemeClr val="accent2"/>
          </a:solidFill>
          <a:ln w="12700">
            <a:solidFill>
              <a:schemeClr val="accent2"/>
            </a:solidFill>
            <a:prstDash val="solid"/>
          </a:ln>
        </p:spPr>
      </p:sp>
      <p:sp>
        <p:nvSpPr>
          <p:cNvPr id="3" name="Text 1"/>
          <p:cNvSpPr txBox="1"/>
          <p:nvPr/>
        </p:nvSpPr>
        <p:spPr>
          <a:xfrm>
            <a:off x="822960" y="2514600"/>
            <a:ext cx="1051560" cy="1051560"/>
          </a:xfrm>
          <a:prstGeom prst="rect">
            <a:avLst/>
          </a:prstGeom>
          <a:noFill/>
          <a:ln/>
        </p:spPr>
        <p:txBody>
          <a:bodyPr wrap="square" rtlCol="0" anchor="ctr"/>
          <a:lstStyle/>
          <a:p>
            <a:pPr algn="ctr" indent="0" marL="0">
              <a:buNone/>
            </a:pPr>
            <a:r>
              <a:rPr lang="en-US" sz="3600" b="1" dirty="0">
                <a:solidFill>
                  <a:schemeClr val="tx2"/>
                </a:solidFill>
                <a:latin typeface="Cambria" pitchFamily="34" charset="0"/>
                <a:ea typeface="Cambria" pitchFamily="34" charset="-122"/>
                <a:cs typeface="Cambria" pitchFamily="34" charset="-120"/>
              </a:rPr>
              <a:t>7</a:t>
            </a:r>
            <a:endParaRPr lang="en-US" sz="3600" dirty="0"/>
          </a:p>
        </p:txBody>
      </p:sp>
      <p:sp>
        <p:nvSpPr>
          <p:cNvPr id="4" name="Text 0"/>
          <p:cNvSpPr/>
          <p:nvPr>
            <p:ph idx="100" type="title" hasCustomPrompt="1"/>
          </p:nvPr>
        </p:nvSpPr>
        <p:spPr>
          <a:xfrm>
            <a:off x="2103120" y="2468880"/>
            <a:ext cx="9326880" cy="1188720"/>
          </a:xfrm>
          <a:prstGeom prst="rect">
            <a:avLst/>
          </a:prstGeom>
          <a:noFill/>
          <a:ln/>
        </p:spPr>
        <p:txBody>
          <a:bodyPr wrap="square" rtlCol="0" anchor="ctr"/>
          <a:lstStyle/>
          <a:p>
            <a:pPr algn="l" indent="0" marL="0">
              <a:buNone/>
            </a:pPr>
            <a:r>
              <a:rPr lang="en-US" sz="4000" b="1" dirty="0">
                <a:solidFill>
                  <a:schemeClr val="bg1"/>
                </a:solidFill>
              </a:rPr>
              <a:t>Decision making and the future</a:t>
            </a:r>
            <a:endParaRPr lang="en-US" sz="4000" dirty="0"/>
          </a:p>
        </p:txBody>
      </p:sp>
      <p:sp>
        <p:nvSpPr>
          <p:cNvPr id="5" name="Text 0"/>
          <p:cNvSpPr/>
          <p:nvPr>
            <p:ph idx="101" type="body" hasCustomPrompt="1"/>
          </p:nvPr>
        </p:nvSpPr>
        <p:spPr>
          <a:xfrm>
            <a:off x="2103120" y="3657600"/>
            <a:ext cx="9326880" cy="1097280"/>
          </a:xfrm>
          <a:prstGeom prst="rect">
            <a:avLst/>
          </a:prstGeom>
          <a:noFill/>
          <a:ln/>
        </p:spPr>
        <p:txBody>
          <a:bodyPr wrap="square" rtlCol="0" anchor="t"/>
          <a:lstStyle/>
          <a:p>
            <a:pPr indent="0" marL="0">
              <a:buNone/>
            </a:pPr>
            <a:r>
              <a:rPr lang="en-US" sz="1800" dirty="0">
                <a:solidFill>
                  <a:schemeClr val="bg2"/>
                </a:solidFill>
              </a:rPr>
              <a:t>What transfers to the next AI-led project</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The decision loop, and where it changed course</a:t>
            </a:r>
            <a:endParaRPr lang="en-US" sz="3200" dirty="0"/>
          </a:p>
        </p:txBody>
      </p:sp>
      <p:pic>
        <p:nvPicPr>
          <p:cNvPr id="4" name="Image 0" descr="Decision workflow">    </p:cNvPr>
          <p:cNvPicPr>
            <a:picLocks noChangeAspect="1"/>
          </p:cNvPicPr>
          <p:nvPr/>
        </p:nvPicPr>
        <p:blipFill>
          <a:blip r:embed="rId1"/>
          <a:stretch>
            <a:fillRect/>
          </a:stretch>
        </p:blipFill>
        <p:spPr>
          <a:xfrm>
            <a:off x="1984248" y="1188720"/>
            <a:ext cx="8193024" cy="5120640"/>
          </a:xfrm>
          <a:prstGeom prst="rect">
            <a:avLst/>
          </a:prstGeom>
        </p:spPr>
      </p:pic>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What worked, and what did not</a:t>
            </a:r>
            <a:endParaRPr lang="en-US" sz="3200" dirty="0"/>
          </a:p>
        </p:txBody>
      </p:sp>
      <p:sp>
        <p:nvSpPr>
          <p:cNvPr id="4" name="Shape 1"/>
          <p:cNvSpPr/>
          <p:nvPr/>
        </p:nvSpPr>
        <p:spPr>
          <a:xfrm>
            <a:off x="548640" y="1280160"/>
            <a:ext cx="5394960" cy="4206240"/>
          </a:xfrm>
          <a:prstGeom prst="roundRect">
            <a:avLst>
              <a:gd name="adj" fmla="val 2609"/>
            </a:avLst>
          </a:prstGeom>
          <a:solidFill>
            <a:srgbClr val="DDF1EE"/>
          </a:solidFill>
          <a:ln w="12700">
            <a:solidFill>
              <a:srgbClr val="DDF1EE"/>
            </a:solidFill>
            <a:prstDash val="solid"/>
          </a:ln>
        </p:spPr>
      </p:sp>
      <p:sp>
        <p:nvSpPr>
          <p:cNvPr id="5" name="Text 2"/>
          <p:cNvSpPr txBox="1"/>
          <p:nvPr/>
        </p:nvSpPr>
        <p:spPr>
          <a:xfrm>
            <a:off x="731520" y="1389888"/>
            <a:ext cx="5029200" cy="411480"/>
          </a:xfrm>
          <a:prstGeom prst="rect">
            <a:avLst/>
          </a:prstGeom>
          <a:noFill/>
          <a:ln/>
        </p:spPr>
        <p:txBody>
          <a:bodyPr wrap="square" lIns="0" tIns="0" rIns="0" bIns="0" rtlCol="0" anchor="t"/>
          <a:lstStyle/>
          <a:p>
            <a:pPr indent="0" marL="0">
              <a:buNone/>
            </a:pPr>
            <a:r>
              <a:rPr lang="en-US" sz="1800" b="1" dirty="0">
                <a:solidFill>
                  <a:schemeClr val="tx2"/>
                </a:solidFill>
              </a:rPr>
              <a:t>Worked</a:t>
            </a:r>
            <a:endParaRPr lang="en-US" sz="1800" dirty="0"/>
          </a:p>
        </p:txBody>
      </p:sp>
      <p:sp>
        <p:nvSpPr>
          <p:cNvPr id="6" name="Text 3"/>
          <p:cNvSpPr txBox="1"/>
          <p:nvPr/>
        </p:nvSpPr>
        <p:spPr>
          <a:xfrm>
            <a:off x="777240" y="1828800"/>
            <a:ext cx="4937760" cy="35661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Parallel scouting before design</a:t>
            </a:r>
            <a:endParaRPr lang="en-US" sz="1800" dirty="0"/>
          </a:p>
          <a:p>
            <a:pPr marL="342900" indent="-342900">
              <a:spcAft>
                <a:spcPts val="1000"/>
              </a:spcAft>
              <a:buSzPct val="100000"/>
              <a:buChar char="•"/>
            </a:pPr>
            <a:r>
              <a:rPr lang="en-US" sz="1800" dirty="0">
                <a:solidFill>
                  <a:schemeClr val="tx1"/>
                </a:solidFill>
              </a:rPr>
              <a:t>Small real pilot before freezing</a:t>
            </a:r>
            <a:endParaRPr lang="en-US" sz="1800" dirty="0"/>
          </a:p>
          <a:p>
            <a:pPr marL="342900" indent="-342900">
              <a:spcAft>
                <a:spcPts val="1000"/>
              </a:spcAft>
              <a:buSzPct val="100000"/>
              <a:buChar char="•"/>
            </a:pPr>
            <a:r>
              <a:rPr lang="en-US" sz="1800" dirty="0">
                <a:solidFill>
                  <a:schemeClr val="tx1"/>
                </a:solidFill>
              </a:rPr>
              <a:t>Synthetic worlds with known answers</a:t>
            </a:r>
            <a:endParaRPr lang="en-US" sz="1800" dirty="0"/>
          </a:p>
          <a:p>
            <a:pPr marL="342900" indent="-342900">
              <a:spcAft>
                <a:spcPts val="1000"/>
              </a:spcAft>
              <a:buSzPct val="100000"/>
              <a:buChar char="•"/>
            </a:pPr>
            <a:r>
              <a:rPr lang="en-US" sz="1800" dirty="0">
                <a:solidFill>
                  <a:schemeClr val="tx1"/>
                </a:solidFill>
              </a:rPr>
              <a:t>Pre-registration + deviation log</a:t>
            </a:r>
            <a:endParaRPr lang="en-US" sz="1800" dirty="0"/>
          </a:p>
          <a:p>
            <a:pPr marL="342900" indent="-342900">
              <a:spcAft>
                <a:spcPts val="1000"/>
              </a:spcAft>
              <a:buSzPct val="100000"/>
              <a:buChar char="•"/>
            </a:pPr>
            <a:r>
              <a:rPr lang="en-US" sz="1800" dirty="0">
                <a:solidFill>
                  <a:schemeClr val="tx1"/>
                </a:solidFill>
              </a:rPr>
              <a:t>Independent re-derivation and refutation attempts</a:t>
            </a:r>
            <a:endParaRPr lang="en-US" sz="1800" dirty="0"/>
          </a:p>
          <a:p>
            <a:pPr marL="342900" indent="-342900">
              <a:spcAft>
                <a:spcPts val="1000"/>
              </a:spcAft>
              <a:buSzPct val="100000"/>
              <a:buChar char="•"/>
            </a:pPr>
            <a:r>
              <a:rPr lang="en-US" sz="1800" dirty="0">
                <a:solidFill>
                  <a:schemeClr val="tx1"/>
                </a:solidFill>
              </a:rPr>
              <a:t>Research tree as memory across a node move</a:t>
            </a:r>
            <a:endParaRPr lang="en-US" sz="1800" dirty="0"/>
          </a:p>
        </p:txBody>
      </p:sp>
      <p:sp>
        <p:nvSpPr>
          <p:cNvPr id="7" name="Shape 4"/>
          <p:cNvSpPr/>
          <p:nvPr/>
        </p:nvSpPr>
        <p:spPr>
          <a:xfrm>
            <a:off x="6217920" y="1280160"/>
            <a:ext cx="5394960" cy="4206240"/>
          </a:xfrm>
          <a:prstGeom prst="roundRect">
            <a:avLst>
              <a:gd name="adj" fmla="val 2609"/>
            </a:avLst>
          </a:prstGeom>
          <a:solidFill>
            <a:srgbClr val="FBE3DC"/>
          </a:solidFill>
          <a:ln w="12700">
            <a:solidFill>
              <a:srgbClr val="FBE3DC"/>
            </a:solidFill>
            <a:prstDash val="solid"/>
          </a:ln>
        </p:spPr>
      </p:sp>
      <p:sp>
        <p:nvSpPr>
          <p:cNvPr id="8" name="Text 5"/>
          <p:cNvSpPr txBox="1"/>
          <p:nvPr/>
        </p:nvSpPr>
        <p:spPr>
          <a:xfrm>
            <a:off x="6400800" y="1389888"/>
            <a:ext cx="5029200" cy="411480"/>
          </a:xfrm>
          <a:prstGeom prst="rect">
            <a:avLst/>
          </a:prstGeom>
          <a:noFill/>
          <a:ln/>
        </p:spPr>
        <p:txBody>
          <a:bodyPr wrap="square" lIns="0" tIns="0" rIns="0" bIns="0" rtlCol="0" anchor="t"/>
          <a:lstStyle/>
          <a:p>
            <a:pPr indent="0" marL="0">
              <a:buNone/>
            </a:pPr>
            <a:r>
              <a:rPr lang="en-US" sz="1800" b="1" dirty="0">
                <a:solidFill>
                  <a:schemeClr val="tx2"/>
                </a:solidFill>
              </a:rPr>
              <a:t>Did not</a:t>
            </a:r>
            <a:endParaRPr lang="en-US" sz="1800" dirty="0"/>
          </a:p>
        </p:txBody>
      </p:sp>
      <p:sp>
        <p:nvSpPr>
          <p:cNvPr id="9" name="Text 6"/>
          <p:cNvSpPr txBox="1"/>
          <p:nvPr/>
        </p:nvSpPr>
        <p:spPr>
          <a:xfrm>
            <a:off x="6446520" y="1828800"/>
            <a:ext cx="4937760" cy="35661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Noise floor from a single control type</a:t>
            </a:r>
            <a:endParaRPr lang="en-US" sz="1800" dirty="0"/>
          </a:p>
          <a:p>
            <a:pPr marL="342900" indent="-342900">
              <a:spcAft>
                <a:spcPts val="1000"/>
              </a:spcAft>
              <a:buSzPct val="100000"/>
              <a:buChar char="•"/>
            </a:pPr>
            <a:r>
              <a:rPr lang="en-US" sz="1800" dirty="0">
                <a:solidFill>
                  <a:schemeClr val="tx1"/>
                </a:solidFill>
              </a:rPr>
              <a:t>Plan-specified sensitivities unwired until the dry run</a:t>
            </a:r>
            <a:endParaRPr lang="en-US" sz="1800" dirty="0"/>
          </a:p>
          <a:p>
            <a:pPr marL="342900" indent="-342900">
              <a:spcAft>
                <a:spcPts val="1000"/>
              </a:spcAft>
              <a:buSzPct val="100000"/>
              <a:buChar char="•"/>
            </a:pPr>
            <a:r>
              <a:rPr lang="en-US" sz="1800" dirty="0">
                <a:solidFill>
                  <a:schemeClr val="tx1"/>
                </a:solidFill>
              </a:rPr>
              <a:t>Exploratory work competing with the critical path</a:t>
            </a:r>
            <a:endParaRPr lang="en-US" sz="1800" dirty="0"/>
          </a:p>
          <a:p>
            <a:pPr marL="342900" indent="-342900">
              <a:spcAft>
                <a:spcPts val="1000"/>
              </a:spcAft>
              <a:buSzPct val="100000"/>
              <a:buChar char="•"/>
            </a:pPr>
            <a:r>
              <a:rPr lang="en-US" sz="1800" dirty="0">
                <a:solidFill>
                  <a:schemeClr val="tx1"/>
                </a:solidFill>
              </a:rPr>
              <a:t>Reviewers shared blind spots (same model family)</a:t>
            </a:r>
            <a:endParaRPr lang="en-US" sz="1800" dirty="0"/>
          </a:p>
          <a:p>
            <a:pPr marL="342900" indent="-342900">
              <a:spcAft>
                <a:spcPts val="1000"/>
              </a:spcAft>
              <a:buSzPct val="100000"/>
              <a:buChar char="•"/>
            </a:pPr>
            <a:r>
              <a:rPr lang="en-US" sz="1800" dirty="0">
                <a:solidFill>
                  <a:schemeClr val="tx1"/>
                </a:solidFill>
              </a:rPr>
              <a:t>Harness quirks: blocked file writes, self-matching wait loops</a:t>
            </a:r>
            <a:endParaRPr lang="en-US" sz="18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Carrying the decision process to future projects</a:t>
            </a:r>
            <a:endParaRPr lang="en-US" sz="3200" dirty="0"/>
          </a:p>
        </p:txBody>
      </p:sp>
      <p:sp>
        <p:nvSpPr>
          <p:cNvPr id="4" name="Shape 1"/>
          <p:cNvSpPr/>
          <p:nvPr/>
        </p:nvSpPr>
        <p:spPr>
          <a:xfrm>
            <a:off x="640080" y="1463040"/>
            <a:ext cx="640080" cy="640080"/>
          </a:xfrm>
          <a:prstGeom prst="ellipse">
            <a:avLst/>
          </a:prstGeom>
          <a:solidFill>
            <a:schemeClr val="accent1"/>
          </a:solidFill>
          <a:ln w="12700">
            <a:solidFill>
              <a:schemeClr val="accent1"/>
            </a:solidFill>
            <a:prstDash val="solid"/>
          </a:ln>
        </p:spPr>
      </p:sp>
      <p:sp>
        <p:nvSpPr>
          <p:cNvPr id="5" name="Text 2"/>
          <p:cNvSpPr txBox="1"/>
          <p:nvPr/>
        </p:nvSpPr>
        <p:spPr>
          <a:xfrm>
            <a:off x="640080" y="146304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3"/>
          <p:cNvSpPr txBox="1"/>
          <p:nvPr/>
        </p:nvSpPr>
        <p:spPr>
          <a:xfrm>
            <a:off x="1463040" y="1417320"/>
            <a:ext cx="4572000" cy="731520"/>
          </a:xfrm>
          <a:prstGeom prst="rect">
            <a:avLst/>
          </a:prstGeom>
          <a:noFill/>
          <a:ln/>
        </p:spPr>
        <p:txBody>
          <a:bodyPr wrap="square" lIns="0" tIns="0" rIns="0" bIns="0" rtlCol="0" anchor="ctr"/>
          <a:lstStyle/>
          <a:p>
            <a:pPr indent="0" marL="0">
              <a:buNone/>
            </a:pPr>
            <a:r>
              <a:rPr lang="en-US" sz="1700" dirty="0">
                <a:solidFill>
                  <a:schemeClr val="tx1"/>
                </a:solidFill>
              </a:rPr>
              <a:t>Scout data, tools and literature in parallel before designing</a:t>
            </a:r>
            <a:endParaRPr lang="en-US" sz="1700" dirty="0"/>
          </a:p>
        </p:txBody>
      </p:sp>
      <p:sp>
        <p:nvSpPr>
          <p:cNvPr id="7" name="Shape 4"/>
          <p:cNvSpPr/>
          <p:nvPr/>
        </p:nvSpPr>
        <p:spPr>
          <a:xfrm>
            <a:off x="6309360" y="1463040"/>
            <a:ext cx="640080" cy="640080"/>
          </a:xfrm>
          <a:prstGeom prst="ellipse">
            <a:avLst/>
          </a:prstGeom>
          <a:solidFill>
            <a:schemeClr val="accent2"/>
          </a:solidFill>
          <a:ln w="12700">
            <a:solidFill>
              <a:schemeClr val="accent2"/>
            </a:solidFill>
            <a:prstDash val="solid"/>
          </a:ln>
        </p:spPr>
      </p:sp>
      <p:sp>
        <p:nvSpPr>
          <p:cNvPr id="8" name="Text 5"/>
          <p:cNvSpPr txBox="1"/>
          <p:nvPr/>
        </p:nvSpPr>
        <p:spPr>
          <a:xfrm>
            <a:off x="6309360" y="146304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6"/>
          <p:cNvSpPr txBox="1"/>
          <p:nvPr/>
        </p:nvSpPr>
        <p:spPr>
          <a:xfrm>
            <a:off x="7132320" y="1417320"/>
            <a:ext cx="4572000" cy="731520"/>
          </a:xfrm>
          <a:prstGeom prst="rect">
            <a:avLst/>
          </a:prstGeom>
          <a:noFill/>
          <a:ln/>
        </p:spPr>
        <p:txBody>
          <a:bodyPr wrap="square" lIns="0" tIns="0" rIns="0" bIns="0" rtlCol="0" anchor="ctr"/>
          <a:lstStyle/>
          <a:p>
            <a:pPr indent="0" marL="0">
              <a:buNone/>
            </a:pPr>
            <a:r>
              <a:rPr lang="en-US" sz="1700" dirty="0">
                <a:solidFill>
                  <a:schemeClr val="tx1"/>
                </a:solidFill>
              </a:rPr>
              <a:t>Pilot the whole pipeline on small real data before freezing</a:t>
            </a:r>
            <a:endParaRPr lang="en-US" sz="1700" dirty="0"/>
          </a:p>
        </p:txBody>
      </p:sp>
      <p:sp>
        <p:nvSpPr>
          <p:cNvPr id="10" name="Shape 7"/>
          <p:cNvSpPr/>
          <p:nvPr/>
        </p:nvSpPr>
        <p:spPr>
          <a:xfrm>
            <a:off x="640080" y="3017520"/>
            <a:ext cx="640080" cy="640080"/>
          </a:xfrm>
          <a:prstGeom prst="ellipse">
            <a:avLst/>
          </a:prstGeom>
          <a:solidFill>
            <a:schemeClr val="accent1"/>
          </a:solidFill>
          <a:ln w="12700">
            <a:solidFill>
              <a:schemeClr val="accent1"/>
            </a:solidFill>
            <a:prstDash val="solid"/>
          </a:ln>
        </p:spPr>
      </p:sp>
      <p:sp>
        <p:nvSpPr>
          <p:cNvPr id="11" name="Text 8"/>
          <p:cNvSpPr txBox="1"/>
          <p:nvPr/>
        </p:nvSpPr>
        <p:spPr>
          <a:xfrm>
            <a:off x="640080" y="301752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Text 9"/>
          <p:cNvSpPr txBox="1"/>
          <p:nvPr/>
        </p:nvSpPr>
        <p:spPr>
          <a:xfrm>
            <a:off x="1463040" y="2971800"/>
            <a:ext cx="4572000" cy="731520"/>
          </a:xfrm>
          <a:prstGeom prst="rect">
            <a:avLst/>
          </a:prstGeom>
          <a:noFill/>
          <a:ln/>
        </p:spPr>
        <p:txBody>
          <a:bodyPr wrap="square" lIns="0" tIns="0" rIns="0" bIns="0" rtlCol="0" anchor="ctr"/>
          <a:lstStyle/>
          <a:p>
            <a:pPr indent="0" marL="0">
              <a:buNone/>
            </a:pPr>
            <a:r>
              <a:rPr lang="en-US" sz="1700" dirty="0">
                <a:solidFill>
                  <a:schemeClr val="tx1"/>
                </a:solidFill>
              </a:rPr>
              <a:t>Test every estimator on synthetic truths, incl. nuisance noise</a:t>
            </a:r>
            <a:endParaRPr lang="en-US" sz="1700" dirty="0"/>
          </a:p>
        </p:txBody>
      </p:sp>
      <p:sp>
        <p:nvSpPr>
          <p:cNvPr id="13" name="Shape 10"/>
          <p:cNvSpPr/>
          <p:nvPr/>
        </p:nvSpPr>
        <p:spPr>
          <a:xfrm>
            <a:off x="6309360" y="3017520"/>
            <a:ext cx="640080" cy="640080"/>
          </a:xfrm>
          <a:prstGeom prst="ellipse">
            <a:avLst/>
          </a:prstGeom>
          <a:solidFill>
            <a:schemeClr val="accent2"/>
          </a:solidFill>
          <a:ln w="12700">
            <a:solidFill>
              <a:schemeClr val="accent2"/>
            </a:solidFill>
            <a:prstDash val="solid"/>
          </a:ln>
        </p:spPr>
      </p:sp>
      <p:sp>
        <p:nvSpPr>
          <p:cNvPr id="14" name="Text 11"/>
          <p:cNvSpPr txBox="1"/>
          <p:nvPr/>
        </p:nvSpPr>
        <p:spPr>
          <a:xfrm>
            <a:off x="6309360" y="301752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5" name="Text 12"/>
          <p:cNvSpPr txBox="1"/>
          <p:nvPr/>
        </p:nvSpPr>
        <p:spPr>
          <a:xfrm>
            <a:off x="7132320" y="2971800"/>
            <a:ext cx="4572000" cy="731520"/>
          </a:xfrm>
          <a:prstGeom prst="rect">
            <a:avLst/>
          </a:prstGeom>
          <a:noFill/>
          <a:ln/>
        </p:spPr>
        <p:txBody>
          <a:bodyPr wrap="square" lIns="0" tIns="0" rIns="0" bIns="0" rtlCol="0" anchor="ctr"/>
          <a:lstStyle/>
          <a:p>
            <a:pPr indent="0" marL="0">
              <a:buNone/>
            </a:pPr>
            <a:r>
              <a:rPr lang="en-US" sz="1700" dirty="0">
                <a:solidFill>
                  <a:schemeClr val="tx1"/>
                </a:solidFill>
              </a:rPr>
              <a:t>Validate noise floors with two independent controls</a:t>
            </a:r>
            <a:endParaRPr lang="en-US" sz="1700" dirty="0"/>
          </a:p>
        </p:txBody>
      </p:sp>
      <p:sp>
        <p:nvSpPr>
          <p:cNvPr id="16" name="Shape 13"/>
          <p:cNvSpPr/>
          <p:nvPr/>
        </p:nvSpPr>
        <p:spPr>
          <a:xfrm>
            <a:off x="640080" y="4572000"/>
            <a:ext cx="640080" cy="640080"/>
          </a:xfrm>
          <a:prstGeom prst="ellipse">
            <a:avLst/>
          </a:prstGeom>
          <a:solidFill>
            <a:schemeClr val="accent1"/>
          </a:solidFill>
          <a:ln w="12700">
            <a:solidFill>
              <a:schemeClr val="accent1"/>
            </a:solidFill>
            <a:prstDash val="solid"/>
          </a:ln>
        </p:spPr>
      </p:sp>
      <p:sp>
        <p:nvSpPr>
          <p:cNvPr id="17" name="Text 14"/>
          <p:cNvSpPr txBox="1"/>
          <p:nvPr/>
        </p:nvSpPr>
        <p:spPr>
          <a:xfrm>
            <a:off x="640080" y="45720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8" name="Text 15"/>
          <p:cNvSpPr txBox="1"/>
          <p:nvPr/>
        </p:nvSpPr>
        <p:spPr>
          <a:xfrm>
            <a:off x="1463040" y="4526280"/>
            <a:ext cx="4572000" cy="731520"/>
          </a:xfrm>
          <a:prstGeom prst="rect">
            <a:avLst/>
          </a:prstGeom>
          <a:noFill/>
          <a:ln/>
        </p:spPr>
        <p:txBody>
          <a:bodyPr wrap="square" lIns="0" tIns="0" rIns="0" bIns="0" rtlCol="0" anchor="ctr"/>
          <a:lstStyle/>
          <a:p>
            <a:pPr indent="0" marL="0">
              <a:buNone/>
            </a:pPr>
            <a:r>
              <a:rPr lang="en-US" sz="1700" dirty="0">
                <a:solidFill>
                  <a:schemeClr val="tx1"/>
                </a:solidFill>
              </a:rPr>
              <a:t>Freeze, confirm once, log every deviation</a:t>
            </a:r>
            <a:endParaRPr lang="en-US" sz="1700" dirty="0"/>
          </a:p>
        </p:txBody>
      </p:sp>
      <p:sp>
        <p:nvSpPr>
          <p:cNvPr id="19" name="Shape 16"/>
          <p:cNvSpPr/>
          <p:nvPr/>
        </p:nvSpPr>
        <p:spPr>
          <a:xfrm>
            <a:off x="6309360" y="4572000"/>
            <a:ext cx="640080" cy="640080"/>
          </a:xfrm>
          <a:prstGeom prst="ellipse">
            <a:avLst/>
          </a:prstGeom>
          <a:solidFill>
            <a:schemeClr val="accent2"/>
          </a:solidFill>
          <a:ln w="12700">
            <a:solidFill>
              <a:schemeClr val="accent2"/>
            </a:solidFill>
            <a:prstDash val="solid"/>
          </a:ln>
        </p:spPr>
      </p:sp>
      <p:sp>
        <p:nvSpPr>
          <p:cNvPr id="20" name="Text 17"/>
          <p:cNvSpPr txBox="1"/>
          <p:nvPr/>
        </p:nvSpPr>
        <p:spPr>
          <a:xfrm>
            <a:off x="6309360" y="45720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1" name="Text 18"/>
          <p:cNvSpPr txBox="1"/>
          <p:nvPr/>
        </p:nvSpPr>
        <p:spPr>
          <a:xfrm>
            <a:off x="7132320" y="4526280"/>
            <a:ext cx="4572000" cy="731520"/>
          </a:xfrm>
          <a:prstGeom prst="rect">
            <a:avLst/>
          </a:prstGeom>
          <a:noFill/>
          <a:ln/>
        </p:spPr>
        <p:txBody>
          <a:bodyPr wrap="square" lIns="0" tIns="0" rIns="0" bIns="0" rtlCol="0" anchor="ctr"/>
          <a:lstStyle/>
          <a:p>
            <a:pPr indent="0" marL="0">
              <a:buNone/>
            </a:pPr>
            <a:r>
              <a:rPr lang="en-US" sz="1700" dirty="0">
                <a:solidFill>
                  <a:schemeClr val="tx1"/>
                </a:solidFill>
              </a:rPr>
              <a:t>Ask a fresh agent to refute surprising conclusions</a:t>
            </a:r>
            <a:endParaRPr lang="en-US" sz="17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nchor="b"/>
          <a:lstStyle/>
          <a:p>
            <a:pPr algn="l" indent="0" marL="0">
              <a:buNone/>
            </a:pPr>
            <a:r>
              <a:rPr lang="en-US" sz="4400" b="1" dirty="0">
                <a:solidFill>
                  <a:schemeClr val="bg1"/>
                </a:solidFill>
              </a:rPr>
              <a:t>Conclusion: AI-led research</a:t>
            </a:r>
            <a:endParaRPr lang="en-US" sz="4400" dirty="0"/>
          </a:p>
        </p:txBody>
      </p:sp>
      <p:sp>
        <p:nvSpPr>
          <p:cNvPr id="3" name="Text 0"/>
          <p:cNvSpPr/>
          <p:nvPr>
            <p:ph idx="101" type="body" hasCustomPrompt="1"/>
          </p:nvPr>
        </p:nvSpPr>
        <p:spPr>
          <a:xfrm>
            <a:off x="731520" y="3749040"/>
            <a:ext cx="10698480" cy="1463040"/>
          </a:xfrm>
          <a:prstGeom prst="rect">
            <a:avLst/>
          </a:prstGeom>
          <a:noFill/>
          <a:ln/>
        </p:spPr>
        <p:txBody>
          <a:bodyPr wrap="square" rtlCol="0" anchor="t"/>
          <a:lstStyle/>
          <a:p>
            <a:pPr indent="0" marL="0">
              <a:buNone/>
            </a:pPr>
            <a:r>
              <a:rPr lang="en-US" sz="2000" dirty="0">
                <a:solidFill>
                  <a:schemeClr val="bg2"/>
                </a:solidFill>
              </a:rPr>
              <a:t>In ~23 compute hours an AI team designed, pre-registered, ran and verified a study of 1.4 M protein pairs, and corrected its own headline.</a:t>
            </a:r>
            <a:endParaRPr lang="en-US" sz="2000" dirty="0"/>
          </a:p>
          <a:p>
            <a:pPr indent="0" marL="0">
              <a:buNone/>
            </a:pPr>
            <a:r>
              <a:rPr lang="en-US" sz="2000" dirty="0">
                <a:solidFill>
                  <a:schemeClr val="accent2"/>
                </a:solidFill>
              </a:rPr>
              <a:t>Limits: shared blind spots across agents; no human verification yet; predicted structures only.</a:t>
            </a:r>
            <a:endParaRPr lang="en-US" sz="2000" dirty="0"/>
          </a:p>
          <a:p>
            <a:pPr indent="0" marL="0">
              <a:buNone/>
            </a:pPr>
            <a:r>
              <a:rPr lang="en-US" sz="2000" dirty="0">
                <a:solidFill>
                  <a:schemeClr val="bg2"/>
                </a:solidFill>
              </a:rPr>
              <a:t>Next: human audit · AlphaFold runs with varied MSA depth · PDB same-protein floors · time-calibrated structural phylogenetics · agentic labs at scale</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nchor="ctr"/>
          <a:lstStyle/>
          <a:p>
            <a:pPr indent="0" marL="0">
              <a:buNone/>
            </a:pPr>
            <a:r>
              <a:rPr lang="en-US" sz="3200" b="1" dirty="0">
                <a:solidFill>
                  <a:schemeClr val="tx2"/>
                </a:solidFill>
              </a:rPr>
              <a:t>Acknowledgements and open slots</a:t>
            </a:r>
            <a:endParaRPr lang="en-US" sz="3200" dirty="0"/>
          </a:p>
        </p:txBody>
      </p:sp>
      <p:sp>
        <p:nvSpPr>
          <p:cNvPr id="4" name="Shape 1"/>
          <p:cNvSpPr/>
          <p:nvPr/>
        </p:nvSpPr>
        <p:spPr>
          <a:xfrm>
            <a:off x="548640" y="1280160"/>
            <a:ext cx="5394960" cy="3657600"/>
          </a:xfrm>
          <a:prstGeom prst="roundRect">
            <a:avLst>
              <a:gd name="adj" fmla="val 3000"/>
            </a:avLst>
          </a:prstGeom>
          <a:solidFill>
            <a:schemeClr val="bg2"/>
          </a:solidFill>
          <a:ln w="12700">
            <a:solidFill>
              <a:schemeClr val="bg2"/>
            </a:solidFill>
            <a:prstDash val="solid"/>
          </a:ln>
        </p:spPr>
      </p:sp>
      <p:sp>
        <p:nvSpPr>
          <p:cNvPr id="5" name="Text 2"/>
          <p:cNvSpPr txBox="1"/>
          <p:nvPr/>
        </p:nvSpPr>
        <p:spPr>
          <a:xfrm>
            <a:off x="731520" y="1389888"/>
            <a:ext cx="5029200" cy="411480"/>
          </a:xfrm>
          <a:prstGeom prst="rect">
            <a:avLst/>
          </a:prstGeom>
          <a:noFill/>
          <a:ln/>
        </p:spPr>
        <p:txBody>
          <a:bodyPr wrap="square" lIns="0" tIns="0" rIns="0" bIns="0" rtlCol="0" anchor="t"/>
          <a:lstStyle/>
          <a:p>
            <a:pPr indent="0" marL="0">
              <a:buNone/>
            </a:pPr>
            <a:r>
              <a:rPr lang="en-US" sz="1800" b="1" dirty="0">
                <a:solidFill>
                  <a:schemeClr val="tx2"/>
                </a:solidFill>
              </a:rPr>
              <a:t>To fill in</a:t>
            </a:r>
            <a:endParaRPr lang="en-US" sz="1800" dirty="0"/>
          </a:p>
        </p:txBody>
      </p:sp>
      <p:sp>
        <p:nvSpPr>
          <p:cNvPr id="6" name="Text 3"/>
          <p:cNvSpPr txBox="1"/>
          <p:nvPr/>
        </p:nvSpPr>
        <p:spPr>
          <a:xfrm>
            <a:off x="777240" y="1828800"/>
            <a:ext cx="4937760" cy="301752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Hackathon dates and participants: [__]</a:t>
            </a:r>
            <a:endParaRPr lang="en-US" sz="1700" dirty="0"/>
          </a:p>
          <a:p>
            <a:pPr marL="342900" indent="-342900">
              <a:spcAft>
                <a:spcPts val="1000"/>
              </a:spcAft>
              <a:buSzPct val="100000"/>
              <a:buChar char="•"/>
            </a:pPr>
            <a:r>
              <a:rPr lang="en-US" sz="1700" dirty="0">
                <a:solidFill>
                  <a:schemeClr val="tx1"/>
                </a:solidFill>
              </a:rPr>
              <a:t>Human contributors / project lead: [__]</a:t>
            </a:r>
            <a:endParaRPr lang="en-US" sz="1700" dirty="0"/>
          </a:p>
          <a:p>
            <a:pPr marL="342900" indent="-342900">
              <a:spcAft>
                <a:spcPts val="1000"/>
              </a:spcAft>
              <a:buSzPct val="100000"/>
              <a:buChar char="•"/>
            </a:pPr>
            <a:r>
              <a:rPr lang="en-US" sz="1700" dirty="0">
                <a:solidFill>
                  <a:schemeClr val="tx1"/>
                </a:solidFill>
              </a:rPr>
              <a:t>Project repository link: [__]</a:t>
            </a:r>
            <a:endParaRPr lang="en-US" sz="1700" dirty="0"/>
          </a:p>
          <a:p>
            <a:pPr marL="342900" indent="-342900">
              <a:spcAft>
                <a:spcPts val="1000"/>
              </a:spcAft>
              <a:buSzPct val="100000"/>
              <a:buChar char="•"/>
            </a:pPr>
            <a:r>
              <a:rPr lang="en-US" sz="1700" dirty="0">
                <a:solidFill>
                  <a:schemeClr val="tx1"/>
                </a:solidFill>
              </a:rPr>
              <a:t>Verification status by humans: [pending]</a:t>
            </a:r>
            <a:endParaRPr lang="en-US" sz="1700" dirty="0"/>
          </a:p>
        </p:txBody>
      </p:sp>
      <p:sp>
        <p:nvSpPr>
          <p:cNvPr id="7" name="Shape 4"/>
          <p:cNvSpPr/>
          <p:nvPr/>
        </p:nvSpPr>
        <p:spPr>
          <a:xfrm>
            <a:off x="6217920" y="1280160"/>
            <a:ext cx="5394960" cy="3657600"/>
          </a:xfrm>
          <a:prstGeom prst="roundRect">
            <a:avLst>
              <a:gd name="adj" fmla="val 3000"/>
            </a:avLst>
          </a:prstGeom>
          <a:solidFill>
            <a:srgbClr val="FDEBD9"/>
          </a:solidFill>
          <a:ln w="12700">
            <a:solidFill>
              <a:srgbClr val="FDEBD9"/>
            </a:solidFill>
            <a:prstDash val="solid"/>
          </a:ln>
        </p:spPr>
      </p:sp>
      <p:sp>
        <p:nvSpPr>
          <p:cNvPr id="8" name="Text 5"/>
          <p:cNvSpPr txBox="1"/>
          <p:nvPr/>
        </p:nvSpPr>
        <p:spPr>
          <a:xfrm>
            <a:off x="6400800" y="1389888"/>
            <a:ext cx="5029200" cy="411480"/>
          </a:xfrm>
          <a:prstGeom prst="rect">
            <a:avLst/>
          </a:prstGeom>
          <a:noFill/>
          <a:ln/>
        </p:spPr>
        <p:txBody>
          <a:bodyPr wrap="square" lIns="0" tIns="0" rIns="0" bIns="0" rtlCol="0" anchor="t"/>
          <a:lstStyle/>
          <a:p>
            <a:pPr indent="0" marL="0">
              <a:buNone/>
            </a:pPr>
            <a:r>
              <a:rPr lang="en-US" sz="1800" b="1" dirty="0">
                <a:solidFill>
                  <a:schemeClr val="tx2"/>
                </a:solidFill>
              </a:rPr>
              <a:t>Resources used</a:t>
            </a:r>
            <a:endParaRPr lang="en-US" sz="1800" dirty="0"/>
          </a:p>
        </p:txBody>
      </p:sp>
      <p:sp>
        <p:nvSpPr>
          <p:cNvPr id="9" name="Text 6"/>
          <p:cNvSpPr txBox="1"/>
          <p:nvPr/>
        </p:nvSpPr>
        <p:spPr>
          <a:xfrm>
            <a:off x="6446520" y="1828800"/>
            <a:ext cx="4937760" cy="301752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AlphaFold DB &amp; AFDB clusters (Steinegger, Beltrao labs; CC-BY 4.0)</a:t>
            </a:r>
            <a:endParaRPr lang="en-US" sz="1700" dirty="0"/>
          </a:p>
          <a:p>
            <a:pPr marL="342900" indent="-342900">
              <a:spcAft>
                <a:spcPts val="1000"/>
              </a:spcAft>
              <a:buSzPct val="100000"/>
              <a:buChar char="•"/>
            </a:pPr>
            <a:r>
              <a:rPr lang="en-US" sz="1700" dirty="0">
                <a:solidFill>
                  <a:schemeClr val="tx1"/>
                </a:solidFill>
              </a:rPr>
              <a:t>Foldseek, FoldMason, Q.3Di.AF</a:t>
            </a:r>
            <a:endParaRPr lang="en-US" sz="1700" dirty="0"/>
          </a:p>
          <a:p>
            <a:pPr marL="342900" indent="-342900">
              <a:spcAft>
                <a:spcPts val="1000"/>
              </a:spcAft>
              <a:buSzPct val="100000"/>
              <a:buChar char="•"/>
            </a:pPr>
            <a:r>
              <a:rPr lang="en-US" sz="1700" dirty="0">
                <a:solidFill>
                  <a:schemeClr val="tx1"/>
                </a:solidFill>
              </a:rPr>
              <a:t>Ancestra (hackathon Phase 1)</a:t>
            </a:r>
            <a:endParaRPr lang="en-US" sz="1700" dirty="0"/>
          </a:p>
          <a:p>
            <a:pPr marL="342900" indent="-342900">
              <a:spcAft>
                <a:spcPts val="1000"/>
              </a:spcAft>
              <a:buSzPct val="100000"/>
              <a:buChar char="•"/>
            </a:pPr>
            <a:r>
              <a:rPr lang="en-US" sz="1700" dirty="0">
                <a:solidFill>
                  <a:schemeClr val="tx1"/>
                </a:solidFill>
              </a:rPr>
              <a:t>TimeTree (data not redistributed)</a:t>
            </a:r>
            <a:endParaRPr lang="en-US" sz="1700" dirty="0"/>
          </a:p>
          <a:p>
            <a:pPr marL="342900" indent="-342900">
              <a:spcAft>
                <a:spcPts val="1000"/>
              </a:spcAft>
              <a:buSzPct val="100000"/>
              <a:buChar char="•"/>
            </a:pPr>
            <a:r>
              <a:rPr lang="en-US" sz="1700" dirty="0">
                <a:solidFill>
                  <a:schemeClr val="tx1"/>
                </a:solidFill>
              </a:rPr>
              <a:t>UniProt, PDB/SIFTS, TED, Pfam</a:t>
            </a:r>
            <a:endParaRPr lang="en-US" sz="17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47</a:t>
            </a:fld>
            <a:endParaRPr lang="en-US"/>
          </a:p>
        </p:txBody>
      </p:sp>
    </p:spTree>
  </p:cSld>
  <p:clrMapOvr>
    <a:masterClrMapping/>
  </p:clrMapOvr>
</p:sld>
</file>

<file path=ppt/theme/theme1.xml><?xml version="1.0" encoding="utf-8"?>
<a:theme xmlns:a="http://schemas.openxmlformats.org/drawingml/2006/main" name="Structural clock">
  <a:themeElements>
    <a:clrScheme name="Structural clock">
      <a:dk1>
        <a:srgbClr val="1B262C"/>
      </a:dk1>
      <a:lt1>
        <a:srgbClr val="FFFFFF"/>
      </a:lt1>
      <a:dk2>
        <a:srgbClr val="0B3C49"/>
      </a:dk2>
      <a:lt2>
        <a:srgbClr val="E8F1F2"/>
      </a:lt2>
      <a:accent1>
        <a:srgbClr val="1B998B"/>
      </a:accent1>
      <a:accent2>
        <a:srgbClr val="F4A259"/>
      </a:accent2>
      <a:accent3>
        <a:srgbClr val="E76F51"/>
      </a:accent3>
      <a:accent4>
        <a:srgbClr val="8D99AE"/>
      </a:accent4>
      <a:accent5>
        <a:srgbClr val="3D6B78"/>
      </a:accent5>
      <a:accent6>
        <a:srgbClr val="C9E4E7"/>
      </a:accent6>
      <a:hlink>
        <a:srgbClr val="1B998B"/>
      </a:hlink>
      <a:folHlink>
        <a:srgbClr val="3D6B78"/>
      </a:folHlink>
    </a:clrScheme>
    <a:fontScheme name="Structural cloc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 protein structure a molecular clock?</dc:title>
  <dc:subject>PptxGenJS Presentation</dc:subject>
  <dc:creator>AI-generated (Claude Opus 5.5 PI agent)</dc:creator>
  <cp:lastModifiedBy>AI-generated (Claude Opus 5.5 PI agent)</cp:lastModifiedBy>
  <cp:revision>1</cp:revision>
  <dcterms:created xsi:type="dcterms:W3CDTF">2026-10-31T09:16:07Z</dcterms:created>
  <dcterms:modified xsi:type="dcterms:W3CDTF">2026-10-31T09:16:07Z</dcterms:modified>
</cp:coreProperties>
</file>